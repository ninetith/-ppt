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56" r:id="rId4"/>
    <p:sldId id="661" r:id="rId6"/>
    <p:sldId id="663" r:id="rId7"/>
    <p:sldId id="677" r:id="rId8"/>
    <p:sldId id="685" r:id="rId9"/>
    <p:sldId id="686" r:id="rId10"/>
    <p:sldId id="688" r:id="rId11"/>
    <p:sldId id="689" r:id="rId12"/>
    <p:sldId id="690" r:id="rId13"/>
    <p:sldId id="691" r:id="rId14"/>
    <p:sldId id="692" r:id="rId15"/>
    <p:sldId id="622" r:id="rId16"/>
    <p:sldId id="693" r:id="rId17"/>
    <p:sldId id="694" r:id="rId18"/>
    <p:sldId id="695" r:id="rId19"/>
  </p:sldIdLst>
  <p:sldSz cx="12192000" cy="6858000"/>
  <p:notesSz cx="6858000" cy="9144000"/>
  <p:custDataLst>
    <p:tags r:id="rId23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B1CD"/>
    <a:srgbClr val="5E80B0"/>
    <a:srgbClr val="4B64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2" autoAdjust="0"/>
    <p:restoredTop sz="70028" autoAdjust="0"/>
  </p:normalViewPr>
  <p:slideViewPr>
    <p:cSldViewPr snapToGrid="0">
      <p:cViewPr varScale="1">
        <p:scale>
          <a:sx n="69" d="100"/>
          <a:sy n="69" d="100"/>
        </p:scale>
        <p:origin x="700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gs" Target="tags/tag38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0F8ECEB-50C7-416D-85EF-F5F0A518624A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9DB41B2-D34F-4BDF-B05A-F471250DBA1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大家好，今天我分享的论文是</a:t>
            </a:r>
            <a:r>
              <a:rPr lang="en-US" altLang="zh-CN" dirty="0"/>
              <a:t> HuRef: Human-Readable Fingerprint for Large Language Models</a:t>
            </a:r>
            <a:r>
              <a:rPr lang="zh-CN" altLang="en-US" dirty="0"/>
              <a:t>，中文可以理解为</a:t>
            </a:r>
            <a:r>
              <a:rPr lang="en-US" altLang="zh-CN" dirty="0"/>
              <a:t>“</a:t>
            </a:r>
            <a:r>
              <a:rPr lang="zh-CN" altLang="en-US" dirty="0"/>
              <a:t>用于大型语言模型的人类可读指纹</a:t>
            </a:r>
            <a:r>
              <a:rPr lang="en-US" altLang="zh-CN" dirty="0"/>
              <a:t>”</a:t>
            </a:r>
            <a:r>
              <a:rPr lang="zh-CN" altLang="en-US" dirty="0"/>
              <a:t>。这篇论文发表在</a:t>
            </a:r>
            <a:r>
              <a:rPr lang="en-US" altLang="zh-CN" dirty="0"/>
              <a:t> NeurIPS 2024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这篇文章关注的问题是大语言模型的版权保护和来源追踪。简单来说，就是当一个模型经过微调、继续预训练之后，我们还能不能判断它最初是从哪个基础模型衍生出来的。</a:t>
            </a:r>
            <a:endParaRPr lang="en-US" altLang="zh-CN" dirty="0"/>
          </a:p>
          <a:p>
            <a:r>
              <a:rPr lang="en-US" altLang="zh-CN" dirty="0"/>
              <a:t>HuRef </a:t>
            </a:r>
            <a:r>
              <a:rPr lang="zh-CN" altLang="en-US" dirty="0"/>
              <a:t>的核心思想是：不直接公开模型参数，也不需要在训练阶段植入水印，而是从模型权重中提取稳定的不变项，再把这些不变项转换成一张人类可以直观看懂的图像指纹。这样既可以帮助识别模型来源，又可以避免泄露模型权重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i="0" dirty="0">
                <a:solidFill>
                  <a:srgbClr val="0B1F3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这一页主要介绍</a:t>
            </a:r>
            <a:r>
              <a:rPr lang="en-US" altLang="zh-CN" i="0" dirty="0">
                <a:solidFill>
                  <a:srgbClr val="0B1F3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HuRef </a:t>
            </a:r>
            <a:r>
              <a:rPr lang="zh-CN" altLang="en-US" i="0" dirty="0">
                <a:solidFill>
                  <a:srgbClr val="0B1F3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要解决的问题。</a:t>
            </a:r>
            <a:endParaRPr lang="en-US" altLang="zh-CN" i="0" dirty="0">
              <a:solidFill>
                <a:srgbClr val="0B1F3A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r>
              <a:rPr lang="zh-CN" altLang="en-US" i="0" dirty="0">
                <a:solidFill>
                  <a:srgbClr val="0B1F3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首先，基础模型通常不是直接拿来用的。很多大模型发布之后，还会经过</a:t>
            </a:r>
            <a:r>
              <a:rPr lang="en-US" altLang="zh-CN" i="0" dirty="0">
                <a:solidFill>
                  <a:srgbClr val="0B1F3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SFT</a:t>
            </a:r>
            <a:r>
              <a:rPr lang="zh-CN" altLang="en-US" i="0" dirty="0">
                <a:solidFill>
                  <a:srgbClr val="0B1F3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、</a:t>
            </a:r>
            <a:r>
              <a:rPr lang="en-US" altLang="zh-CN" i="0" dirty="0">
                <a:solidFill>
                  <a:srgbClr val="0B1F3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LoRA </a:t>
            </a:r>
            <a:r>
              <a:rPr lang="zh-CN" altLang="en-US" i="0" dirty="0">
                <a:solidFill>
                  <a:srgbClr val="0B1F3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微调、</a:t>
            </a:r>
            <a:r>
              <a:rPr lang="en-US" altLang="zh-CN" i="0" dirty="0">
                <a:solidFill>
                  <a:srgbClr val="0B1F3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RLHF</a:t>
            </a:r>
            <a:r>
              <a:rPr lang="zh-CN" altLang="en-US" i="0" dirty="0">
                <a:solidFill>
                  <a:srgbClr val="0B1F3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，甚至继续预训练，才能适配下游任务。这样一来，模型参数会发生变化，所以判断一个模型到底是不是来自某个</a:t>
            </a:r>
            <a:r>
              <a:rPr lang="en-US" altLang="zh-CN" i="0" dirty="0">
                <a:solidFill>
                  <a:srgbClr val="0B1F3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base model </a:t>
            </a:r>
            <a:r>
              <a:rPr lang="zh-CN" altLang="en-US" i="0" dirty="0">
                <a:solidFill>
                  <a:srgbClr val="0B1F3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就会变得有争议。</a:t>
            </a:r>
            <a:endParaRPr lang="en-US" altLang="zh-CN" i="0" dirty="0">
              <a:solidFill>
                <a:srgbClr val="0B1F3A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r>
              <a:rPr lang="zh-CN" altLang="en-US" i="0" dirty="0">
                <a:solidFill>
                  <a:srgbClr val="0B1F3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第二，很多流行的大模型并不公开参数。对于闭源模型来说，外界没有办法直接读取权重，因此来源识别会处在黑盒环境中。</a:t>
            </a:r>
            <a:endParaRPr lang="en-US" altLang="zh-CN" i="0" dirty="0">
              <a:solidFill>
                <a:srgbClr val="0B1F3A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r>
              <a:rPr lang="zh-CN" altLang="en-US" i="0" dirty="0">
                <a:solidFill>
                  <a:srgbClr val="0B1F3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第三，传统神经网络水印方法并不完全适合</a:t>
            </a:r>
            <a:r>
              <a:rPr lang="en-US" altLang="zh-CN" i="0" dirty="0">
                <a:solidFill>
                  <a:srgbClr val="0B1F3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LLM</a:t>
            </a:r>
            <a:r>
              <a:rPr lang="zh-CN" altLang="en-US" i="0" dirty="0">
                <a:solidFill>
                  <a:srgbClr val="0B1F3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。因为传统水印通常依赖特定任务、特定触发词，或者会修改模型预测分布。这些方法可能会影响模型性能，也可能被文本改写、编辑攻击或者后续微调规避。</a:t>
            </a:r>
            <a:endParaRPr lang="en-US" altLang="zh-CN" i="0" dirty="0">
              <a:solidFill>
                <a:srgbClr val="0B1F3A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r>
              <a:rPr lang="zh-CN" altLang="en-US" i="0" dirty="0">
                <a:solidFill>
                  <a:srgbClr val="0B1F3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所以</a:t>
            </a:r>
            <a:r>
              <a:rPr lang="en-US" altLang="zh-CN" i="0" dirty="0">
                <a:solidFill>
                  <a:srgbClr val="0B1F3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HuRef </a:t>
            </a:r>
            <a:r>
              <a:rPr lang="zh-CN" altLang="en-US" i="0" dirty="0">
                <a:solidFill>
                  <a:srgbClr val="0B1F3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的目标可以总结为一句话：在不干扰训练、不暴露模型参数的前提下，识别模型的基座来源。</a:t>
            </a:r>
            <a:endParaRPr lang="zh-CN" altLang="en-US" i="0" dirty="0">
              <a:solidFill>
                <a:srgbClr val="0B1F3A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ym typeface="+mn-ea"/>
              </a:rPr>
              <a:t>HuRef </a:t>
            </a:r>
            <a:r>
              <a:rPr lang="zh-CN" altLang="en-US" dirty="0">
                <a:sym typeface="+mn-ea"/>
              </a:rPr>
              <a:t>的流程可以分成三步。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第一步是计算不变项。模型拥有者在本地读取模型权重，根据</a:t>
            </a:r>
            <a:r>
              <a:rPr lang="en-US" altLang="zh-CN" dirty="0">
                <a:sym typeface="+mn-ea"/>
              </a:rPr>
              <a:t> Transformer </a:t>
            </a:r>
            <a:r>
              <a:rPr lang="zh-CN" altLang="en-US" dirty="0">
                <a:sym typeface="+mn-ea"/>
              </a:rPr>
              <a:t>结构构造一些稳定的</a:t>
            </a:r>
            <a:r>
              <a:rPr lang="en-US" altLang="zh-CN" dirty="0">
                <a:sym typeface="+mn-ea"/>
              </a:rPr>
              <a:t> invariant terms</a:t>
            </a:r>
            <a:r>
              <a:rPr lang="zh-CN" altLang="en-US" dirty="0">
                <a:sym typeface="+mn-ea"/>
              </a:rPr>
              <a:t>。这里注意，这一步只发生在模型拥有者侧，外界并不需要看到模型权重。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第二步是生成可读指纹。作者不是直接公开这些不变项，而是先通过</a:t>
            </a:r>
            <a:r>
              <a:rPr lang="en-US" altLang="zh-CN" dirty="0">
                <a:sym typeface="+mn-ea"/>
              </a:rPr>
              <a:t> Encoder </a:t>
            </a:r>
            <a:r>
              <a:rPr lang="zh-CN" altLang="en-US" dirty="0">
                <a:sym typeface="+mn-ea"/>
              </a:rPr>
              <a:t>把不变项映射成高斯向量，再输入</a:t>
            </a:r>
            <a:r>
              <a:rPr lang="en-US" altLang="zh-CN" dirty="0">
                <a:sym typeface="+mn-ea"/>
              </a:rPr>
              <a:t> StyleGAN2 </a:t>
            </a:r>
            <a:r>
              <a:rPr lang="zh-CN" altLang="en-US" dirty="0">
                <a:sym typeface="+mn-ea"/>
              </a:rPr>
              <a:t>生成一张自然图像。这张图像就是所谓的人类可读指纹。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第三步是指纹发布与验证。因为外界看不到权重，所以需要零知识证明，也就是</a:t>
            </a:r>
            <a:r>
              <a:rPr lang="en-US" altLang="zh-CN" dirty="0">
                <a:sym typeface="+mn-ea"/>
              </a:rPr>
              <a:t> ZKP</a:t>
            </a:r>
            <a:r>
              <a:rPr lang="zh-CN" altLang="en-US" dirty="0">
                <a:sym typeface="+mn-ea"/>
              </a:rPr>
              <a:t>，来证明这张图像确实是由某个被承诺过的模型生成的，而不是厂商随便拿别的模型生成的。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所以</a:t>
            </a:r>
            <a:r>
              <a:rPr lang="en-US" altLang="zh-CN" dirty="0">
                <a:sym typeface="+mn-ea"/>
              </a:rPr>
              <a:t> HuRef </a:t>
            </a:r>
            <a:r>
              <a:rPr lang="zh-CN" altLang="en-US" dirty="0">
                <a:sym typeface="+mn-ea"/>
              </a:rPr>
              <a:t>的核心优势是：不干扰训练、不暴露参数，同时可以比较直观地识别同源基座模型。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这一页解释</a:t>
            </a:r>
            <a:r>
              <a:rPr lang="en-US" altLang="zh-CN" dirty="0">
                <a:sym typeface="+mn-ea"/>
              </a:rPr>
              <a:t> HuRef </a:t>
            </a:r>
            <a:r>
              <a:rPr lang="zh-CN" altLang="en-US" dirty="0">
                <a:sym typeface="+mn-ea"/>
              </a:rPr>
              <a:t>的第一个核心观察：大模型参数向量的方向可以反映</a:t>
            </a:r>
            <a:r>
              <a:rPr lang="en-US" altLang="zh-CN" dirty="0">
                <a:sym typeface="+mn-ea"/>
              </a:rPr>
              <a:t> base model </a:t>
            </a:r>
            <a:r>
              <a:rPr lang="zh-CN" altLang="en-US" dirty="0">
                <a:sym typeface="+mn-ea"/>
              </a:rPr>
              <a:t>信息。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作者把模型中的权重和</a:t>
            </a:r>
            <a:r>
              <a:rPr lang="en-US" altLang="zh-CN" dirty="0">
                <a:sym typeface="+mn-ea"/>
              </a:rPr>
              <a:t> bias </a:t>
            </a:r>
            <a:r>
              <a:rPr lang="zh-CN" altLang="en-US" dirty="0">
                <a:sym typeface="+mn-ea"/>
              </a:rPr>
              <a:t>展平成一个巨大的参数向量，然后比较不同模型之间的余弦相似度。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从充分性角度看，如果不同模型来自同一个</a:t>
            </a:r>
            <a:r>
              <a:rPr lang="en-US" altLang="zh-CN" dirty="0">
                <a:sym typeface="+mn-ea"/>
              </a:rPr>
              <a:t> base model</a:t>
            </a:r>
            <a:r>
              <a:rPr lang="zh-CN" altLang="en-US" dirty="0">
                <a:sym typeface="+mn-ea"/>
              </a:rPr>
              <a:t>，比如</a:t>
            </a:r>
            <a:r>
              <a:rPr lang="en-US" altLang="zh-CN" dirty="0">
                <a:sym typeface="+mn-ea"/>
              </a:rPr>
              <a:t> LLaMA-7B </a:t>
            </a:r>
            <a:r>
              <a:rPr lang="zh-CN" altLang="en-US" dirty="0">
                <a:sym typeface="+mn-ea"/>
              </a:rPr>
              <a:t>的不同派生模型，即使它们经过</a:t>
            </a:r>
            <a:r>
              <a:rPr lang="en-US" altLang="zh-CN" dirty="0">
                <a:sym typeface="+mn-ea"/>
              </a:rPr>
              <a:t> SFT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LoRA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RLHF </a:t>
            </a:r>
            <a:r>
              <a:rPr lang="zh-CN" altLang="en-US" dirty="0">
                <a:sym typeface="+mn-ea"/>
              </a:rPr>
              <a:t>或继续预训练，参数向量方向仍然和</a:t>
            </a:r>
            <a:r>
              <a:rPr lang="en-US" altLang="zh-CN" dirty="0">
                <a:sym typeface="+mn-ea"/>
              </a:rPr>
              <a:t> base model </a:t>
            </a:r>
            <a:r>
              <a:rPr lang="zh-CN" altLang="en-US" dirty="0">
                <a:sym typeface="+mn-ea"/>
              </a:rPr>
              <a:t>高度相似。相反，如果模型是独立预训练出来的，那么它和</a:t>
            </a:r>
            <a:r>
              <a:rPr lang="en-US" altLang="zh-CN" dirty="0">
                <a:sym typeface="+mn-ea"/>
              </a:rPr>
              <a:t> LLaMA-7B </a:t>
            </a:r>
            <a:r>
              <a:rPr lang="zh-CN" altLang="en-US" dirty="0">
                <a:sym typeface="+mn-ea"/>
              </a:rPr>
              <a:t>的参数向量余弦相似度接近</a:t>
            </a:r>
            <a:r>
              <a:rPr lang="en-US" altLang="zh-CN" dirty="0">
                <a:sym typeface="+mn-ea"/>
              </a:rPr>
              <a:t> 0</a:t>
            </a:r>
            <a:r>
              <a:rPr lang="zh-CN" altLang="en-US" dirty="0">
                <a:sym typeface="+mn-ea"/>
              </a:rPr>
              <a:t>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从必要性角度看，作者还做了一个实验：在训练中强行加入一个损失项，让派生模型的参数方向远离</a:t>
            </a:r>
            <a:r>
              <a:rPr lang="en-US" altLang="zh-CN" dirty="0">
                <a:sym typeface="+mn-ea"/>
              </a:rPr>
              <a:t> base model</a:t>
            </a:r>
            <a:r>
              <a:rPr lang="zh-CN" altLang="en-US" dirty="0">
                <a:sym typeface="+mn-ea"/>
              </a:rPr>
              <a:t>。结果发现，一旦参数方向被强行拉开，模型能力会迅速下降，接近随机猜测。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所以这里的结论是：参数方向确实包含很强的</a:t>
            </a:r>
            <a:r>
              <a:rPr lang="en-US" altLang="zh-CN" dirty="0">
                <a:sym typeface="+mn-ea"/>
              </a:rPr>
              <a:t> base model </a:t>
            </a:r>
            <a:r>
              <a:rPr lang="zh-CN" altLang="en-US" dirty="0">
                <a:sym typeface="+mn-ea"/>
              </a:rPr>
              <a:t>身份信息。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虽然参数向量方向可以反映模型来源，但是</a:t>
            </a:r>
            <a:r>
              <a:rPr lang="en-US" altLang="zh-CN" dirty="0">
                <a:sym typeface="+mn-ea"/>
              </a:rPr>
              <a:t> Transformer </a:t>
            </a:r>
            <a:r>
              <a:rPr lang="zh-CN" altLang="en-US" dirty="0">
                <a:sym typeface="+mn-ea"/>
              </a:rPr>
              <a:t>里存在一些等价的权重重排方式。这些操作不会改变模型结构，也不会改变模型输出，但会显著改变权重矩阵的表面形式。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论文中主要讨论了三类攻击。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第一类是</a:t>
            </a:r>
            <a:r>
              <a:rPr lang="en-US" altLang="zh-CN" dirty="0">
                <a:sym typeface="+mn-ea"/>
              </a:rPr>
              <a:t> Attention </a:t>
            </a:r>
            <a:r>
              <a:rPr lang="zh-CN" altLang="en-US" dirty="0">
                <a:sym typeface="+mn-ea"/>
              </a:rPr>
              <a:t>线性映射攻击。攻击者可以对</a:t>
            </a:r>
            <a:r>
              <a:rPr lang="en-US" altLang="zh-CN" dirty="0">
                <a:sym typeface="+mn-ea"/>
              </a:rPr>
              <a:t> WQ/WK</a:t>
            </a:r>
            <a:r>
              <a:rPr lang="zh-CN" altLang="en-US" dirty="0">
                <a:sym typeface="+mn-ea"/>
              </a:rPr>
              <a:t>或</a:t>
            </a:r>
            <a:r>
              <a:rPr lang="en-US" altLang="zh-CN" dirty="0">
                <a:sym typeface="+mn-ea"/>
              </a:rPr>
              <a:t> WV/WO</a:t>
            </a:r>
            <a:r>
              <a:rPr lang="zh-CN" altLang="en-US" dirty="0">
                <a:sym typeface="+mn-ea"/>
              </a:rPr>
              <a:t>做成对的可逆变换，让它们单独看起来变了，但是乘积保持不变。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第二类是</a:t>
            </a:r>
            <a:r>
              <a:rPr lang="en-US" altLang="zh-CN" dirty="0">
                <a:sym typeface="+mn-ea"/>
              </a:rPr>
              <a:t> FFN </a:t>
            </a:r>
            <a:r>
              <a:rPr lang="zh-CN" altLang="en-US" dirty="0">
                <a:sym typeface="+mn-ea"/>
              </a:rPr>
              <a:t>置换攻击。攻击者可以随机置换前馈神经网络中间层的隐藏单元，同时同步调整</a:t>
            </a:r>
            <a:r>
              <a:rPr lang="en-US" altLang="zh-CN" dirty="0">
                <a:sym typeface="+mn-ea"/>
              </a:rPr>
              <a:t> W1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W2</a:t>
            </a:r>
            <a:r>
              <a:rPr lang="zh-CN" altLang="en-US"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 bias</a:t>
            </a:r>
            <a:r>
              <a:rPr lang="zh-CN" altLang="en-US" dirty="0">
                <a:sym typeface="+mn-ea"/>
              </a:rPr>
              <a:t>。这样中间神经元顺序变了，但最终输出不变。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第三类是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词嵌入维度置换攻击。攻击者可以对词嵌入维度，以及后续所有相关权重进行同步置换。这样整个模型相当于换了一套内部坐标系，但是输出仍然保持一致。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这三类攻击的共同点是：模型性能不变，但展平后的参数向量方向会看起来像一个新模型。</a:t>
            </a:r>
            <a:r>
              <a:rPr lang="en-US" altLang="zh-CN" dirty="0">
                <a:sym typeface="+mn-ea"/>
              </a:rPr>
              <a:t> 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这一页具体解释第一类攻击，也就是</a:t>
            </a:r>
            <a:r>
              <a:rPr lang="en-US" altLang="zh-CN" dirty="0">
                <a:sym typeface="+mn-ea"/>
              </a:rPr>
              <a:t> Attention </a:t>
            </a:r>
            <a:r>
              <a:rPr lang="zh-CN" altLang="en-US" dirty="0">
                <a:sym typeface="+mn-ea"/>
              </a:rPr>
              <a:t>中的线性映射攻击。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在</a:t>
            </a:r>
            <a:r>
              <a:rPr lang="en-US" altLang="zh-CN" dirty="0">
                <a:sym typeface="+mn-ea"/>
              </a:rPr>
              <a:t> self-attention </a:t>
            </a:r>
            <a:r>
              <a:rPr lang="zh-CN" altLang="en-US" dirty="0">
                <a:sym typeface="+mn-ea"/>
              </a:rPr>
              <a:t>里面，模型真正使用的不是单独的</a:t>
            </a:r>
            <a:r>
              <a:rPr lang="en-US" altLang="zh-CN" dirty="0">
                <a:sym typeface="+mn-ea"/>
              </a:rPr>
              <a:t> WQ</a:t>
            </a:r>
            <a:r>
              <a:rPr lang="zh-CN" altLang="en-US" dirty="0">
                <a:sym typeface="+mn-ea"/>
              </a:rPr>
              <a:t>或</a:t>
            </a:r>
            <a:r>
              <a:rPr lang="en-US" altLang="zh-CN" dirty="0">
                <a:sym typeface="+mn-ea"/>
              </a:rPr>
              <a:t> WK</a:t>
            </a:r>
            <a:r>
              <a:rPr lang="zh-CN" altLang="en-US" dirty="0">
                <a:sym typeface="+mn-ea"/>
              </a:rPr>
              <a:t>，而是它们组合之后的</a:t>
            </a:r>
            <a:r>
              <a:rPr lang="en-US" altLang="zh-CN" dirty="0">
                <a:sym typeface="+mn-ea"/>
              </a:rPr>
              <a:t> WQWKT</a:t>
            </a:r>
            <a:r>
              <a:rPr lang="zh-CN" altLang="en-US" dirty="0">
                <a:sym typeface="+mn-ea"/>
              </a:rPr>
              <a:t>。所以攻击者可以对</a:t>
            </a:r>
            <a:r>
              <a:rPr lang="en-US" altLang="zh-CN" dirty="0">
                <a:sym typeface="+mn-ea"/>
              </a:rPr>
              <a:t> WQ</a:t>
            </a:r>
            <a:r>
              <a:rPr lang="zh-CN" altLang="en-US" dirty="0">
                <a:sym typeface="+mn-ea"/>
              </a:rPr>
              <a:t>乘上一个可逆矩阵</a:t>
            </a:r>
            <a:r>
              <a:rPr lang="en-US" altLang="zh-CN" dirty="0">
                <a:sym typeface="+mn-ea"/>
              </a:rPr>
              <a:t> C</a:t>
            </a:r>
            <a:r>
              <a:rPr lang="zh-CN" altLang="en-US" dirty="0">
                <a:sym typeface="+mn-ea"/>
              </a:rPr>
              <a:t>，同时对</a:t>
            </a:r>
            <a:r>
              <a:rPr lang="en-US" altLang="zh-CN" dirty="0">
                <a:sym typeface="+mn-ea"/>
              </a:rPr>
              <a:t> WK </a:t>
            </a:r>
            <a:r>
              <a:rPr lang="zh-CN" altLang="en-US" dirty="0">
                <a:sym typeface="+mn-ea"/>
              </a:rPr>
              <a:t>乘上反方向的</a:t>
            </a:r>
            <a:r>
              <a:rPr lang="en-US" altLang="zh-CN" dirty="0">
                <a:sym typeface="+mn-ea"/>
              </a:rPr>
              <a:t> C−T</a:t>
            </a:r>
            <a:r>
              <a:rPr lang="zh-CN" altLang="en-US" dirty="0">
                <a:sym typeface="+mn-ea"/>
              </a:rPr>
              <a:t>。</a:t>
            </a: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这样单独看</a:t>
            </a:r>
            <a:r>
              <a:rPr lang="en-US" altLang="zh-CN" dirty="0">
                <a:sym typeface="+mn-ea"/>
              </a:rPr>
              <a:t> WQ</a:t>
            </a:r>
            <a:r>
              <a:rPr lang="zh-CN" altLang="en-US"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 WK</a:t>
            </a:r>
            <a:r>
              <a:rPr lang="zh-CN" altLang="en-US" dirty="0">
                <a:sym typeface="+mn-ea"/>
              </a:rPr>
              <a:t>，它们的数值已经变化了。但是当它们相乘时，中间的变换会互相抵消，所以</a:t>
            </a:r>
            <a:r>
              <a:rPr lang="en-US" altLang="zh-CN" dirty="0">
                <a:sym typeface="+mn-ea"/>
              </a:rPr>
              <a:t> WQWKT</a:t>
            </a:r>
            <a:r>
              <a:rPr lang="zh-CN" altLang="en-US" dirty="0">
                <a:sym typeface="+mn-ea"/>
              </a:rPr>
              <a:t>不变。</a:t>
            </a:r>
            <a:r>
              <a:rPr lang="en-US" altLang="zh-CN" dirty="0">
                <a:sym typeface="+mn-ea"/>
              </a:rPr>
              <a:t>Attention score </a:t>
            </a:r>
            <a:r>
              <a:rPr lang="zh-CN" altLang="en-US" dirty="0">
                <a:sym typeface="+mn-ea"/>
              </a:rPr>
              <a:t>不变，模型输出也就不变。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可以用一个类比理解：这就像两个人一起搬桌子，一个人多用一点力，另一个人少用一点力，最后桌子的移动效果还是一样。但如果只观察每个人的动作，就会觉得他们和原来不一样。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因此，这类攻击会破坏普通的参数余弦相似度，但不会破坏模型功能。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这一页解释第二类攻击，也就是</a:t>
            </a:r>
            <a:r>
              <a:rPr lang="en-US" altLang="zh-CN" dirty="0">
                <a:sym typeface="+mn-ea"/>
              </a:rPr>
              <a:t> FFN </a:t>
            </a:r>
            <a:r>
              <a:rPr lang="zh-CN" altLang="en-US" dirty="0">
                <a:sym typeface="+mn-ea"/>
              </a:rPr>
              <a:t>中间神经元置换攻击。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ym typeface="+mn-ea"/>
              </a:rPr>
              <a:t>Transformer </a:t>
            </a:r>
            <a:r>
              <a:rPr lang="zh-CN" altLang="en-US" dirty="0">
                <a:sym typeface="+mn-ea"/>
              </a:rPr>
              <a:t>的</a:t>
            </a:r>
            <a:r>
              <a:rPr lang="en-US" altLang="zh-CN" dirty="0">
                <a:sym typeface="+mn-ea"/>
              </a:rPr>
              <a:t> FFN </a:t>
            </a:r>
            <a:r>
              <a:rPr lang="zh-CN" altLang="en-US" dirty="0">
                <a:sym typeface="+mn-ea"/>
              </a:rPr>
              <a:t>可以简化理解为两层线性变换，中间经过一个非线性激活。中间隐藏神经元的顺序本身没有固定意义。比如原来中间层顺序是：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ym typeface="+mn-ea"/>
              </a:rPr>
              <a:t>[h1,h2,h3]</a:t>
            </a: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攻击者可以把它改成：</a:t>
            </a:r>
            <a:r>
              <a:rPr lang="en-US" altLang="zh-CN" dirty="0">
                <a:sym typeface="+mn-ea"/>
              </a:rPr>
              <a:t>[h3,h1,h2]</a:t>
            </a: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如果只改中间层顺序，模型当然会坏。但是攻击者会同步调整下一层权重，让下一层知道这些神经元换了位置。这样最终输出还是不变。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可以用一个很直观的例子：一个小组里三个人换了座位，只要后面收材料的人知道他们换了位置，最后收到的材料内容还是一样。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所以</a:t>
            </a:r>
            <a:r>
              <a:rPr lang="en-US" altLang="zh-CN" dirty="0">
                <a:sym typeface="+mn-ea"/>
              </a:rPr>
              <a:t> FFN </a:t>
            </a:r>
            <a:r>
              <a:rPr lang="zh-CN" altLang="en-US" dirty="0">
                <a:sym typeface="+mn-ea"/>
              </a:rPr>
              <a:t>置换攻击改变的是参数排列，而不是模型功能。这也是为什么直接把权重展平成向量比较会失效。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这一页解释第三类攻击，也就是</a:t>
            </a:r>
            <a:r>
              <a:rPr lang="en-US" altLang="zh-CN" dirty="0">
                <a:sym typeface="+mn-ea"/>
              </a:rPr>
              <a:t> embedding hidden dimension </a:t>
            </a:r>
            <a:r>
              <a:rPr lang="zh-CN" altLang="en-US" dirty="0">
                <a:sym typeface="+mn-ea"/>
              </a:rPr>
              <a:t>的全局置换。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这类攻击更全局。它不是只改某一层，而是把整个模型内部</a:t>
            </a:r>
            <a:r>
              <a:rPr lang="en-US" altLang="zh-CN" dirty="0">
                <a:sym typeface="+mn-ea"/>
              </a:rPr>
              <a:t> hidden dimension </a:t>
            </a:r>
            <a:r>
              <a:rPr lang="zh-CN" altLang="en-US" dirty="0">
                <a:sym typeface="+mn-ea"/>
              </a:rPr>
              <a:t>的坐标顺序换掉。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比如一个</a:t>
            </a:r>
            <a:r>
              <a:rPr lang="en-US" altLang="zh-CN" dirty="0">
                <a:sym typeface="+mn-ea"/>
              </a:rPr>
              <a:t> token </a:t>
            </a:r>
            <a:r>
              <a:rPr lang="zh-CN" altLang="en-US" dirty="0">
                <a:sym typeface="+mn-ea"/>
              </a:rPr>
              <a:t>的</a:t>
            </a:r>
            <a:r>
              <a:rPr lang="en-US" altLang="zh-CN" dirty="0">
                <a:sym typeface="+mn-ea"/>
              </a:rPr>
              <a:t> embedding </a:t>
            </a:r>
            <a:r>
              <a:rPr lang="zh-CN" altLang="en-US" dirty="0">
                <a:sym typeface="+mn-ea"/>
              </a:rPr>
              <a:t>原来是：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ym typeface="+mn-ea"/>
              </a:rPr>
              <a:t>[x1,x2,x3,x4]</a:t>
            </a: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攻击后可能变成：</a:t>
            </a:r>
            <a:r>
              <a:rPr lang="en-US" altLang="zh-CN" dirty="0">
                <a:sym typeface="+mn-ea"/>
              </a:rPr>
              <a:t>[x3,x1,x4,x2]</a:t>
            </a: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如果只改</a:t>
            </a:r>
            <a:r>
              <a:rPr lang="en-US" altLang="zh-CN" dirty="0">
                <a:sym typeface="+mn-ea"/>
              </a:rPr>
              <a:t> embedding</a:t>
            </a:r>
            <a:r>
              <a:rPr lang="zh-CN" altLang="en-US" dirty="0">
                <a:sym typeface="+mn-ea"/>
              </a:rPr>
              <a:t>，后续层肯定无法正确处理。但是攻击者可以让</a:t>
            </a:r>
            <a:r>
              <a:rPr lang="en-US" altLang="zh-CN" dirty="0">
                <a:sym typeface="+mn-ea"/>
              </a:rPr>
              <a:t> attention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FFN</a:t>
            </a:r>
            <a:r>
              <a:rPr lang="zh-CN" altLang="en-US" dirty="0">
                <a:sym typeface="+mn-ea"/>
              </a:rPr>
              <a:t>、输出层等所有相关权重都同步使用这套新的维度顺序。这样整个模型就像换了一套内部坐标系。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可以类比成地图坐标轴重新编号。原来某个方向叫维度</a:t>
            </a:r>
            <a:r>
              <a:rPr lang="en-US" altLang="zh-CN" dirty="0">
                <a:sym typeface="+mn-ea"/>
              </a:rPr>
              <a:t> 1</a:t>
            </a:r>
            <a:r>
              <a:rPr lang="zh-CN" altLang="en-US" dirty="0">
                <a:sym typeface="+mn-ea"/>
              </a:rPr>
              <a:t>，现在改叫维度</a:t>
            </a:r>
            <a:r>
              <a:rPr lang="en-US" altLang="zh-CN" dirty="0">
                <a:sym typeface="+mn-ea"/>
              </a:rPr>
              <a:t> 3</a:t>
            </a:r>
            <a:r>
              <a:rPr lang="zh-CN" altLang="en-US" dirty="0">
                <a:sym typeface="+mn-ea"/>
              </a:rPr>
              <a:t>。只要所有地图、导航和定位系统都同步改成新编号，最终导航结果仍然正确。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所以这类攻击会让全局参数坐标发生变化，但模型输入输出关系不变。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既然单独的权重矩阵容易被线性变换或置换攻击改变，</a:t>
            </a:r>
            <a:r>
              <a:rPr lang="en-US" altLang="zh-CN" dirty="0">
                <a:sym typeface="+mn-ea"/>
              </a:rPr>
              <a:t>HuRef </a:t>
            </a:r>
            <a:r>
              <a:rPr lang="zh-CN" altLang="en-US" dirty="0">
                <a:sym typeface="+mn-ea"/>
              </a:rPr>
              <a:t>就不直接比较单个矩阵，而是比较它们组合起来之后的结构关系。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作者根据</a:t>
            </a:r>
            <a:r>
              <a:rPr lang="en-US" altLang="zh-CN" dirty="0">
                <a:sym typeface="+mn-ea"/>
              </a:rPr>
              <a:t> Transformer </a:t>
            </a:r>
            <a:r>
              <a:rPr lang="zh-CN" altLang="en-US" dirty="0">
                <a:sym typeface="+mn-ea"/>
              </a:rPr>
              <a:t>结构构造了三个不变量：其中</a:t>
            </a:r>
            <a:r>
              <a:rPr lang="en-US" altLang="zh-CN" dirty="0">
                <a:sym typeface="+mn-ea"/>
              </a:rPr>
              <a:t> Ma</a:t>
            </a:r>
            <a:r>
              <a:rPr lang="zh-CN" altLang="en-US" dirty="0">
                <a:sym typeface="+mn-ea"/>
              </a:rPr>
              <a:t>对应</a:t>
            </a:r>
            <a:r>
              <a:rPr lang="en-US" altLang="zh-CN" dirty="0">
                <a:sym typeface="+mn-ea"/>
              </a:rPr>
              <a:t> attention score </a:t>
            </a:r>
            <a:r>
              <a:rPr lang="zh-CN" altLang="en-US" dirty="0">
                <a:sym typeface="+mn-ea"/>
              </a:rPr>
              <a:t>相关关系，</a:t>
            </a:r>
            <a:r>
              <a:rPr lang="en-US" altLang="zh-CN" dirty="0">
                <a:sym typeface="+mn-ea"/>
              </a:rPr>
              <a:t>Mb</a:t>
            </a:r>
            <a:r>
              <a:rPr lang="zh-CN" altLang="en-US" dirty="0">
                <a:sym typeface="+mn-ea"/>
              </a:rPr>
              <a:t>对应</a:t>
            </a:r>
            <a:r>
              <a:rPr lang="en-US" altLang="zh-CN" dirty="0">
                <a:sym typeface="+mn-ea"/>
              </a:rPr>
              <a:t> value </a:t>
            </a:r>
            <a:r>
              <a:rPr lang="zh-CN" altLang="en-US"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 output projection </a:t>
            </a:r>
            <a:r>
              <a:rPr lang="zh-CN" altLang="en-US" dirty="0">
                <a:sym typeface="+mn-ea"/>
              </a:rPr>
              <a:t>的组合，</a:t>
            </a:r>
            <a:r>
              <a:rPr lang="en-US" altLang="zh-CN" dirty="0">
                <a:sym typeface="+mn-ea"/>
              </a:rPr>
              <a:t>Mf </a:t>
            </a:r>
            <a:r>
              <a:rPr lang="zh-CN" altLang="en-US" dirty="0">
                <a:sym typeface="+mn-ea"/>
              </a:rPr>
              <a:t>对应</a:t>
            </a:r>
            <a:r>
              <a:rPr lang="en-US" altLang="zh-CN" dirty="0">
                <a:sym typeface="+mn-ea"/>
              </a:rPr>
              <a:t> FFN </a:t>
            </a:r>
            <a:r>
              <a:rPr lang="zh-CN" altLang="en-US" dirty="0">
                <a:sym typeface="+mn-ea"/>
              </a:rPr>
              <a:t>里的两层线性变换。这些组合的好处是：如果攻击者对权重做成对变换或置换，中间的变换矩阵会在乘法链中相互抵消。因此，这些不变量能保留同源模型的高相似，同时抵抗那些不改变模型输出的参数重排攻击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简单来说，</a:t>
            </a:r>
            <a:r>
              <a:rPr lang="en-US" altLang="zh-CN" dirty="0">
                <a:sym typeface="+mn-ea"/>
              </a:rPr>
              <a:t>HuRef </a:t>
            </a:r>
            <a:r>
              <a:rPr lang="zh-CN" altLang="en-US" dirty="0">
                <a:sym typeface="+mn-ea"/>
              </a:rPr>
              <a:t>不看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单个权重长什么样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，而是看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这些权重组合起来之后的功能结构关系是否一致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。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这一页介绍从不变量到图像指纹的生成流程。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虽然</a:t>
            </a:r>
            <a:r>
              <a:rPr lang="en-US" altLang="zh-CN" dirty="0">
                <a:sym typeface="+mn-ea"/>
              </a:rPr>
              <a:t> Ma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Mb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Mf</a:t>
            </a:r>
            <a:r>
              <a:rPr lang="zh-CN" altLang="en-US" dirty="0">
                <a:sym typeface="+mn-ea"/>
              </a:rPr>
              <a:t>已经比原始权重更稳定，但它们仍然是由模型参数计算出来的，可能包含模型规模、参数分布等敏感信息。因此</a:t>
            </a:r>
            <a:r>
              <a:rPr lang="en-US" altLang="zh-CN" dirty="0">
                <a:sym typeface="+mn-ea"/>
              </a:rPr>
              <a:t> HuRef </a:t>
            </a:r>
            <a:r>
              <a:rPr lang="zh-CN" altLang="en-US" dirty="0">
                <a:sym typeface="+mn-ea"/>
              </a:rPr>
              <a:t>不直接公开这些不变项。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作者先用</a:t>
            </a:r>
            <a:r>
              <a:rPr lang="en-US" altLang="zh-CN" dirty="0">
                <a:sym typeface="+mn-ea"/>
              </a:rPr>
              <a:t> Encoder </a:t>
            </a:r>
            <a:r>
              <a:rPr lang="zh-CN" altLang="en-US" dirty="0">
                <a:sym typeface="+mn-ea"/>
              </a:rPr>
              <a:t>把不变项映射成一个近似高斯分布的</a:t>
            </a:r>
            <a:r>
              <a:rPr lang="en-US" altLang="zh-CN" dirty="0">
                <a:sym typeface="+mn-ea"/>
              </a:rPr>
              <a:t> latent vector</a:t>
            </a:r>
            <a:r>
              <a:rPr lang="zh-CN" altLang="en-US" dirty="0">
                <a:sym typeface="+mn-ea"/>
              </a:rPr>
              <a:t>。这样做是因为</a:t>
            </a:r>
            <a:r>
              <a:rPr lang="en-US" altLang="zh-CN" dirty="0">
                <a:sym typeface="+mn-ea"/>
              </a:rPr>
              <a:t> StyleGAN2 </a:t>
            </a:r>
            <a:r>
              <a:rPr lang="zh-CN" altLang="en-US" dirty="0">
                <a:sym typeface="+mn-ea"/>
              </a:rPr>
              <a:t>本来就是接收高斯</a:t>
            </a:r>
            <a:r>
              <a:rPr lang="en-US" altLang="zh-CN" dirty="0">
                <a:sym typeface="+mn-ea"/>
              </a:rPr>
              <a:t> latent vector </a:t>
            </a:r>
            <a:r>
              <a:rPr lang="zh-CN" altLang="en-US" dirty="0">
                <a:sym typeface="+mn-ea"/>
              </a:rPr>
              <a:t>来生成图像的。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然后这个向量被输入</a:t>
            </a:r>
            <a:r>
              <a:rPr lang="en-US" altLang="zh-CN" dirty="0">
                <a:sym typeface="+mn-ea"/>
              </a:rPr>
              <a:t> StyleGAN2</a:t>
            </a:r>
            <a:r>
              <a:rPr lang="zh-CN" altLang="en-US" dirty="0">
                <a:sym typeface="+mn-ea"/>
              </a:rPr>
              <a:t>，生成一张自然图像。论文中用的是狗的图像，所以同源模型会生成外观相似的狗图，不同基座模型会生成差异明显的图像。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这一页重点解释</a:t>
            </a:r>
            <a:r>
              <a:rPr lang="en-US" altLang="zh-CN" dirty="0">
                <a:sym typeface="+mn-ea"/>
              </a:rPr>
              <a:t> ZKP</a:t>
            </a:r>
            <a:r>
              <a:rPr lang="zh-CN" altLang="en-US" dirty="0">
                <a:sym typeface="+mn-ea"/>
              </a:rPr>
              <a:t>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在</a:t>
            </a:r>
            <a:r>
              <a:rPr lang="en-US" altLang="zh-CN" dirty="0">
                <a:sym typeface="+mn-ea"/>
              </a:rPr>
              <a:t> HuRef </a:t>
            </a:r>
            <a:r>
              <a:rPr lang="zh-CN" altLang="en-US" dirty="0">
                <a:sym typeface="+mn-ea"/>
              </a:rPr>
              <a:t>里，厂商首先公开一个</a:t>
            </a:r>
            <a:r>
              <a:rPr lang="en-US" altLang="zh-CN" dirty="0">
                <a:sym typeface="+mn-ea"/>
              </a:rPr>
              <a:t> commitment</a:t>
            </a:r>
            <a:r>
              <a:rPr lang="zh-CN" altLang="en-US" dirty="0">
                <a:sym typeface="+mn-ea"/>
              </a:rPr>
              <a:t>，记作</a:t>
            </a:r>
            <a:r>
              <a:rPr lang="en-US" altLang="zh-CN" dirty="0">
                <a:sym typeface="+mn-ea"/>
              </a:rPr>
              <a:t> cm</a:t>
            </a:r>
            <a:r>
              <a:rPr lang="zh-CN" altLang="en-US" dirty="0">
                <a:sym typeface="+mn-ea"/>
              </a:rPr>
              <a:t>。它可以理解为把模型参数放进一个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不能被替换的密封箱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里。外界看不到模型参数，但这个</a:t>
            </a:r>
            <a:r>
              <a:rPr lang="en-US" altLang="zh-CN" dirty="0">
                <a:sym typeface="+mn-ea"/>
              </a:rPr>
              <a:t> commitment </a:t>
            </a:r>
            <a:r>
              <a:rPr lang="zh-CN" altLang="en-US" dirty="0">
                <a:sym typeface="+mn-ea"/>
              </a:rPr>
              <a:t>可以防止厂商之后偷偷换模型。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然后厂商生成</a:t>
            </a:r>
            <a:r>
              <a:rPr lang="en-US" altLang="zh-CN" dirty="0">
                <a:sym typeface="+mn-ea"/>
              </a:rPr>
              <a:t> proof</a:t>
            </a:r>
            <a:r>
              <a:rPr lang="zh-CN" altLang="en-US" dirty="0">
                <a:sym typeface="+mn-ea"/>
              </a:rPr>
              <a:t>，也就是</a:t>
            </a:r>
            <a:r>
              <a:rPr lang="en-US" altLang="zh-CN" dirty="0">
                <a:sym typeface="+mn-ea"/>
              </a:rPr>
              <a:t> π1</a:t>
            </a:r>
            <a:r>
              <a:rPr lang="zh-CN" altLang="en-US" dirty="0">
                <a:sym typeface="+mn-ea"/>
              </a:rPr>
              <a:t>。这个</a:t>
            </a:r>
            <a:r>
              <a:rPr lang="en-US" altLang="zh-CN" dirty="0">
                <a:sym typeface="+mn-ea"/>
              </a:rPr>
              <a:t> proof </a:t>
            </a:r>
            <a:r>
              <a:rPr lang="zh-CN" altLang="en-US" dirty="0">
                <a:sym typeface="+mn-ea"/>
              </a:rPr>
              <a:t>要证明三件事：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第一，厂商确实知道</a:t>
            </a:r>
            <a:r>
              <a:rPr lang="en-US" altLang="zh-CN" dirty="0">
                <a:sym typeface="+mn-ea"/>
              </a:rPr>
              <a:t> commitment </a:t>
            </a:r>
            <a:r>
              <a:rPr lang="zh-CN" altLang="en-US" dirty="0">
                <a:sym typeface="+mn-ea"/>
              </a:rPr>
              <a:t>里封存的模型参数。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第二，不变量</a:t>
            </a:r>
            <a:r>
              <a:rPr lang="en-US" altLang="zh-CN" dirty="0">
                <a:sym typeface="+mn-ea"/>
              </a:rPr>
              <a:t> Ma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Mb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Mf</a:t>
            </a:r>
            <a:r>
              <a:rPr lang="zh-CN" altLang="en-US" dirty="0">
                <a:sym typeface="+mn-ea"/>
              </a:rPr>
              <a:t>确实是由这些参数按</a:t>
            </a:r>
            <a:r>
              <a:rPr lang="en-US" altLang="zh-CN" dirty="0">
                <a:sym typeface="+mn-ea"/>
              </a:rPr>
              <a:t> HuRef </a:t>
            </a:r>
            <a:r>
              <a:rPr lang="zh-CN" altLang="en-US" dirty="0">
                <a:sym typeface="+mn-ea"/>
              </a:rPr>
              <a:t>公式计算出来的。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第三，公开的指纹图像确实是由这些不变量经过</a:t>
            </a:r>
            <a:r>
              <a:rPr lang="en-US" altLang="zh-CN" dirty="0">
                <a:sym typeface="+mn-ea"/>
              </a:rPr>
              <a:t> Encoder </a:t>
            </a:r>
            <a:r>
              <a:rPr lang="zh-CN" altLang="en-US"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 StyleGAN2 </a:t>
            </a:r>
            <a:r>
              <a:rPr lang="zh-CN" altLang="en-US" dirty="0">
                <a:sym typeface="+mn-ea"/>
              </a:rPr>
              <a:t>生成的。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验证者可以用公开的</a:t>
            </a:r>
            <a:r>
              <a:rPr lang="en-US" altLang="zh-CN" dirty="0">
                <a:sym typeface="+mn-ea"/>
              </a:rPr>
              <a:t> cm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π1</a:t>
            </a:r>
            <a:r>
              <a:rPr lang="zh-CN" altLang="en-US" dirty="0">
                <a:sym typeface="+mn-ea"/>
              </a:rPr>
              <a:t>和指纹图像进行验证。如果验证通过，就说明指纹可信。但验证者仍然看不到模型权重、不变量具体数值和中间</a:t>
            </a:r>
            <a:r>
              <a:rPr lang="en-US" altLang="zh-CN" dirty="0">
                <a:sym typeface="+mn-ea"/>
              </a:rPr>
              <a:t> latent vector</a:t>
            </a:r>
            <a:r>
              <a:rPr lang="zh-CN" altLang="en-US" dirty="0">
                <a:sym typeface="+mn-ea"/>
              </a:rPr>
              <a:t>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所以</a:t>
            </a:r>
            <a:r>
              <a:rPr lang="en-US" altLang="zh-CN" dirty="0">
                <a:sym typeface="+mn-ea"/>
              </a:rPr>
              <a:t> ZKP </a:t>
            </a:r>
            <a:r>
              <a:rPr lang="zh-CN" altLang="en-US" dirty="0">
                <a:sym typeface="+mn-ea"/>
              </a:rPr>
              <a:t>的核心作用就是：证明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这张指纹确实来自这个模型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，但不暴露模型本身。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对</a:t>
            </a:r>
            <a:r>
              <a:rPr lang="en-US" altLang="zh-CN" dirty="0">
                <a:sym typeface="+mn-ea"/>
              </a:rPr>
              <a:t>7</a:t>
            </a:r>
            <a:r>
              <a:rPr lang="zh-CN" altLang="en-US" dirty="0">
                <a:sym typeface="+mn-ea"/>
              </a:rPr>
              <a:t>个常用的开源</a:t>
            </a:r>
            <a:r>
              <a:rPr lang="en-US" altLang="zh-CN" dirty="0">
                <a:sym typeface="+mn-ea"/>
              </a:rPr>
              <a:t>LLM</a:t>
            </a:r>
            <a:r>
              <a:rPr lang="zh-CN" altLang="en-US" dirty="0">
                <a:sym typeface="+mn-ea"/>
              </a:rPr>
              <a:t>进行实验，这些模型的大小从</a:t>
            </a:r>
            <a:r>
              <a:rPr lang="en-US" altLang="zh-CN" dirty="0">
                <a:sym typeface="+mn-ea"/>
              </a:rPr>
              <a:t>70</a:t>
            </a:r>
            <a:r>
              <a:rPr lang="zh-CN" altLang="en-US" dirty="0">
                <a:sym typeface="+mn-ea"/>
              </a:rPr>
              <a:t>亿到</a:t>
            </a:r>
            <a:r>
              <a:rPr lang="en-US" altLang="zh-CN" dirty="0">
                <a:sym typeface="+mn-ea"/>
              </a:rPr>
              <a:t>400</a:t>
            </a:r>
            <a:r>
              <a:rPr lang="zh-CN" altLang="en-US" dirty="0">
                <a:sym typeface="+mn-ea"/>
              </a:rPr>
              <a:t>亿参数不等。考虑的</a:t>
            </a:r>
            <a:r>
              <a:rPr lang="en-US" altLang="zh-CN" dirty="0">
                <a:sym typeface="+mn-ea"/>
              </a:rPr>
              <a:t>7</a:t>
            </a:r>
            <a:r>
              <a:rPr lang="zh-CN" altLang="en-US" dirty="0">
                <a:sym typeface="+mn-ea"/>
              </a:rPr>
              <a:t>个基础模型包括</a:t>
            </a:r>
            <a:r>
              <a:rPr lang="en-US" altLang="zh-CN" dirty="0">
                <a:sym typeface="+mn-ea"/>
              </a:rPr>
              <a:t>Falcon-40B</a:t>
            </a:r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Almazrouei</a:t>
            </a:r>
            <a:r>
              <a:rPr lang="zh-CN" altLang="en-US" dirty="0">
                <a:sym typeface="+mn-ea"/>
              </a:rPr>
              <a:t>等人，</a:t>
            </a:r>
            <a:r>
              <a:rPr lang="en-US" altLang="zh-CN" dirty="0">
                <a:sym typeface="+mn-ea"/>
              </a:rPr>
              <a:t>2023</a:t>
            </a:r>
            <a:r>
              <a:rPr lang="zh-CN" altLang="en-US" dirty="0">
                <a:sym typeface="+mn-ea"/>
              </a:rPr>
              <a:t>年）、</a:t>
            </a:r>
            <a:r>
              <a:rPr lang="en-US" altLang="zh-CN" dirty="0">
                <a:sym typeface="+mn-ea"/>
              </a:rPr>
              <a:t>MPT-30B</a:t>
            </a:r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Lin</a:t>
            </a:r>
            <a:r>
              <a:rPr lang="zh-CN" altLang="en-US" dirty="0">
                <a:sym typeface="+mn-ea"/>
              </a:rPr>
              <a:t>等人，</a:t>
            </a:r>
            <a:r>
              <a:rPr lang="en-US" altLang="zh-CN" dirty="0">
                <a:sym typeface="+mn-ea"/>
              </a:rPr>
              <a:t>2022</a:t>
            </a:r>
            <a:r>
              <a:rPr lang="zh-CN" altLang="en-US" dirty="0">
                <a:sym typeface="+mn-ea"/>
              </a:rPr>
              <a:t>年）、</a:t>
            </a:r>
            <a:r>
              <a:rPr lang="en-US" altLang="zh-CN" dirty="0">
                <a:sym typeface="+mn-ea"/>
              </a:rPr>
              <a:t>LLaMA2-7B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13B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Qwen-7B</a:t>
            </a:r>
            <a:r>
              <a:rPr lang="zh-CN" altLang="en-US" dirty="0">
                <a:sym typeface="+mn-ea"/>
              </a:rPr>
              <a:t>（白等人，</a:t>
            </a:r>
            <a:r>
              <a:rPr lang="en-US" altLang="zh-CN" dirty="0">
                <a:sym typeface="+mn-ea"/>
              </a:rPr>
              <a:t>2023</a:t>
            </a:r>
            <a:r>
              <a:rPr lang="zh-CN" altLang="en-US" dirty="0">
                <a:sym typeface="+mn-ea"/>
              </a:rPr>
              <a:t>年）、</a:t>
            </a:r>
            <a:r>
              <a:rPr lang="en-US" altLang="zh-CN" dirty="0">
                <a:sym typeface="+mn-ea"/>
              </a:rPr>
              <a:t>Internlm-7B</a:t>
            </a:r>
            <a:r>
              <a:rPr lang="zh-CN" altLang="en-US"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Baichuan-13B</a:t>
            </a:r>
            <a:r>
              <a:rPr lang="zh-CN" altLang="en-US" dirty="0">
                <a:sym typeface="+mn-ea"/>
              </a:rPr>
              <a:t>。对于每个基础模型，我们收集了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个受欢迎的后代模型。我们提取了所有这些模型的不变项，并计算了每个后代模型相对于其基础模型的</a:t>
            </a:r>
            <a:r>
              <a:rPr lang="en-US" altLang="zh-CN" dirty="0">
                <a:sym typeface="+mn-ea"/>
              </a:rPr>
              <a:t>ICS</a:t>
            </a:r>
            <a:r>
              <a:rPr lang="zh-CN" altLang="en-US" dirty="0">
                <a:sym typeface="+mn-ea"/>
              </a:rPr>
              <a:t>（表</a:t>
            </a: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）。值得注意的是，所有后代模型都表现出非常高的</a:t>
            </a:r>
            <a:r>
              <a:rPr lang="en-US" altLang="zh-CN" dirty="0">
                <a:sym typeface="+mn-ea"/>
              </a:rPr>
              <a:t>ICS</a:t>
            </a:r>
            <a:r>
              <a:rPr lang="zh-CN" altLang="en-US" dirty="0">
                <a:sym typeface="+mn-ea"/>
              </a:rPr>
              <a:t>，平均</a:t>
            </a:r>
            <a:r>
              <a:rPr lang="en-US" altLang="zh-CN" dirty="0">
                <a:sym typeface="+mn-ea"/>
              </a:rPr>
              <a:t>ICS</a:t>
            </a:r>
            <a:r>
              <a:rPr lang="zh-CN" altLang="en-US" dirty="0">
                <a:sym typeface="+mn-ea"/>
              </a:rPr>
              <a:t>为</a:t>
            </a:r>
            <a:r>
              <a:rPr lang="en-US" altLang="zh-CN" dirty="0">
                <a:sym typeface="+mn-ea"/>
              </a:rPr>
              <a:t>99.56</a:t>
            </a:r>
            <a:r>
              <a:rPr lang="zh-CN" altLang="en-US" dirty="0">
                <a:sym typeface="+mn-ea"/>
              </a:rPr>
              <a:t>。</a:t>
            </a:r>
            <a:endParaRPr lang="zh-CN" altLang="en-US" dirty="0"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其次，我们利用</a:t>
            </a:r>
            <a:r>
              <a:rPr lang="en-US" altLang="zh-CN" dirty="0">
                <a:sym typeface="+mn-ea"/>
              </a:rPr>
              <a:t>LLaMA-7B</a:t>
            </a:r>
            <a:r>
              <a:rPr lang="zh-CN" altLang="en-US" dirty="0">
                <a:sym typeface="+mn-ea"/>
              </a:rPr>
              <a:t>基础模型作为测试平台，评估在不同后续训练过程中不变项的鲁棒性。我们包括了第</a:t>
            </a:r>
            <a:r>
              <a:rPr lang="en-US" altLang="zh-CN" dirty="0">
                <a:sym typeface="+mn-ea"/>
              </a:rPr>
              <a:t>3.1.1</a:t>
            </a:r>
            <a:r>
              <a:rPr lang="zh-CN" altLang="en-US" dirty="0">
                <a:sym typeface="+mn-ea"/>
              </a:rPr>
              <a:t>节中详述的</a:t>
            </a:r>
            <a:r>
              <a:rPr lang="en-US" altLang="zh-CN" dirty="0">
                <a:sym typeface="+mn-ea"/>
              </a:rPr>
              <a:t>10</a:t>
            </a:r>
            <a:r>
              <a:rPr lang="zh-CN" altLang="en-US" dirty="0">
                <a:sym typeface="+mn-ea"/>
              </a:rPr>
              <a:t>个后代模型，并添加了</a:t>
            </a:r>
            <a:r>
              <a:rPr lang="en-US" altLang="zh-CN" dirty="0">
                <a:sym typeface="+mn-ea"/>
              </a:rPr>
              <a:t>Beaver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Guanaco</a:t>
            </a:r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Dettmers</a:t>
            </a:r>
            <a:r>
              <a:rPr lang="zh-CN" altLang="en-US" dirty="0">
                <a:sym typeface="+mn-ea"/>
              </a:rPr>
              <a:t>等人）（</a:t>
            </a:r>
            <a:r>
              <a:rPr lang="en-US" altLang="zh-CN" dirty="0">
                <a:sym typeface="+mn-ea"/>
              </a:rPr>
              <a:t>2023</a:t>
            </a:r>
            <a:r>
              <a:rPr lang="zh-CN" altLang="en-US" dirty="0">
                <a:sym typeface="+mn-ea"/>
              </a:rPr>
              <a:t>年）和</a:t>
            </a:r>
            <a:r>
              <a:rPr lang="en-US" altLang="zh-CN" dirty="0">
                <a:sym typeface="+mn-ea"/>
              </a:rPr>
              <a:t>BiLLa</a:t>
            </a:r>
            <a:r>
              <a:rPr lang="zh-CN" altLang="en-US" dirty="0">
                <a:sym typeface="+mn-ea"/>
              </a:rPr>
              <a:t>（李，</a:t>
            </a:r>
            <a:r>
              <a:rPr lang="en-US" altLang="zh-CN" dirty="0">
                <a:sym typeface="+mn-ea"/>
              </a:rPr>
              <a:t>2023</a:t>
            </a:r>
            <a:r>
              <a:rPr lang="zh-CN" altLang="en-US" dirty="0">
                <a:sym typeface="+mn-ea"/>
              </a:rPr>
              <a:t>年）已添加至该集合。详细描述请参见附录表</a:t>
            </a:r>
            <a:r>
              <a:rPr lang="en-US" altLang="zh-CN" dirty="0">
                <a:sym typeface="+mn-ea"/>
              </a:rPr>
              <a:t>10</a:t>
            </a:r>
            <a:r>
              <a:rPr lang="zh-CN" altLang="en-US" dirty="0">
                <a:sym typeface="+mn-ea"/>
              </a:rPr>
              <a:t>。我们按照先前的设置提取不变项，并计算每对模型间的不变项余弦相似度（</a:t>
            </a:r>
            <a:r>
              <a:rPr lang="en-US" altLang="zh-CN" dirty="0">
                <a:sym typeface="+mn-ea"/>
              </a:rPr>
              <a:t>ICS</a:t>
            </a:r>
            <a:r>
              <a:rPr lang="zh-CN" altLang="en-US" dirty="0">
                <a:sym typeface="+mn-ea"/>
              </a:rPr>
              <a:t>）。尽管经历了各种训练范式，如强化学习人类反馈（</a:t>
            </a:r>
            <a:r>
              <a:rPr lang="en-US" altLang="zh-CN" dirty="0">
                <a:sym typeface="+mn-ea"/>
              </a:rPr>
              <a:t>RLHF</a:t>
            </a:r>
            <a:r>
              <a:rPr lang="zh-CN" altLang="en-US" dirty="0">
                <a:sym typeface="+mn-ea"/>
              </a:rPr>
              <a:t>）、自监督微调（</a:t>
            </a:r>
            <a:r>
              <a:rPr lang="en-US" altLang="zh-CN" dirty="0">
                <a:sym typeface="+mn-ea"/>
              </a:rPr>
              <a:t>SFT</a:t>
            </a:r>
            <a:r>
              <a:rPr lang="zh-CN" altLang="en-US" dirty="0">
                <a:sym typeface="+mn-ea"/>
              </a:rPr>
              <a:t>）、模态扩展以及在新语言中持续预训练，我们观察到高度的相似性（表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），平均</a:t>
            </a:r>
            <a:r>
              <a:rPr lang="en-US" altLang="zh-CN" dirty="0">
                <a:sym typeface="+mn-ea"/>
              </a:rPr>
              <a:t>ICS</a:t>
            </a:r>
            <a:r>
              <a:rPr lang="zh-CN" altLang="en-US" dirty="0">
                <a:sym typeface="+mn-ea"/>
              </a:rPr>
              <a:t>为</a:t>
            </a:r>
            <a:r>
              <a:rPr lang="en-US" altLang="zh-CN" dirty="0">
                <a:sym typeface="+mn-ea"/>
              </a:rPr>
              <a:t>94.14</a:t>
            </a:r>
            <a:r>
              <a:rPr lang="zh-CN" altLang="en-US" dirty="0">
                <a:sym typeface="+mn-ea"/>
              </a:rPr>
              <a:t>。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首行是 7 个不同基座模型；下两行是对应派生模型。</a:t>
            </a:r>
            <a:endParaRPr lang="en-US" dirty="0"/>
          </a:p>
          <a:p>
            <a:r>
              <a:rPr lang="en-US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同一基座家族生成的犬类图像外观高度相似；不同基座之间外观差异明显。</a:t>
            </a:r>
            <a:endParaRPr lang="en-US" dirty="0"/>
          </a:p>
          <a:p>
            <a:r>
              <a:rPr lang="en-US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人类被试研究达到 94.74% 判别准确率。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27CC20-302E-4861-82F9-923D2123E780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560F83-D2B2-4FE8-AA33-14BCBD25B867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27CC20-302E-4861-82F9-923D2123E780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560F83-D2B2-4FE8-AA33-14BCBD25B867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27CC20-302E-4861-82F9-923D2123E780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560F83-D2B2-4FE8-AA33-14BCBD25B867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27CC20-302E-4861-82F9-923D2123E780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560F83-D2B2-4FE8-AA33-14BCBD25B867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27CC20-302E-4861-82F9-923D2123E780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560F83-D2B2-4FE8-AA33-14BCBD25B867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27CC20-302E-4861-82F9-923D2123E780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560F83-D2B2-4FE8-AA33-14BCBD25B867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27CC20-302E-4861-82F9-923D2123E780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560F83-D2B2-4FE8-AA33-14BCBD25B867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27CC20-302E-4861-82F9-923D2123E780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560F83-D2B2-4FE8-AA33-14BCBD25B867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27CC20-302E-4861-82F9-923D2123E780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560F83-D2B2-4FE8-AA33-14BCBD25B867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27CC20-302E-4861-82F9-923D2123E780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560F83-D2B2-4FE8-AA33-14BCBD25B867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27CC20-302E-4861-82F9-923D2123E780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560F83-D2B2-4FE8-AA33-14BCBD25B867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0" y="926446"/>
            <a:ext cx="121920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0" y="238125"/>
            <a:ext cx="542925" cy="6883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590550" y="349251"/>
            <a:ext cx="4772025" cy="523220"/>
          </a:xfrm>
        </p:spPr>
        <p:txBody>
          <a:bodyPr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请输入你的标题或观点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27CC20-302E-4861-82F9-923D2123E780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560F83-D2B2-4FE8-AA33-14BCBD25B867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27CC20-302E-4861-82F9-923D2123E780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560F83-D2B2-4FE8-AA33-14BCBD25B867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27CC20-302E-4861-82F9-923D2123E780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560F83-D2B2-4FE8-AA33-14BCBD25B867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27CC20-302E-4861-82F9-923D2123E780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560F83-D2B2-4FE8-AA33-14BCBD25B867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27CC20-302E-4861-82F9-923D2123E780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560F83-D2B2-4FE8-AA33-14BCBD25B867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27CC20-302E-4861-82F9-923D2123E780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560F83-D2B2-4FE8-AA33-14BCBD25B867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27CC20-302E-4861-82F9-923D2123E780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560F83-D2B2-4FE8-AA33-14BCBD25B867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27CC20-302E-4861-82F9-923D2123E780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560F83-D2B2-4FE8-AA33-14BCBD25B867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27CC20-302E-4861-82F9-923D2123E780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560F83-D2B2-4FE8-AA33-14BCBD25B867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27CC20-302E-4861-82F9-923D2123E780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560F83-D2B2-4FE8-AA33-14BCBD25B867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27CC20-302E-4861-82F9-923D2123E780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560F83-D2B2-4FE8-AA33-14BCBD25B867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27CC20-302E-4861-82F9-923D2123E780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noProof="1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560F83-D2B2-4FE8-AA33-14BCBD25B867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27CC20-302E-4861-82F9-923D2123E780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noProof="1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560F83-D2B2-4FE8-AA33-14BCBD25B867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3.png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image" Target="../media/image6.jpeg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24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8" Type="http://schemas.openxmlformats.org/officeDocument/2006/relationships/notesSlide" Target="../notesSlides/notesSlide11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7.png"/><Relationship Id="rId15" Type="http://schemas.openxmlformats.org/officeDocument/2006/relationships/image" Target="../media/image16.png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6188" y="5200650"/>
            <a:ext cx="5865812" cy="1657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5" name="文本框 62"/>
          <p:cNvSpPr txBox="1"/>
          <p:nvPr/>
        </p:nvSpPr>
        <p:spPr>
          <a:xfrm>
            <a:off x="1092200" y="2324735"/>
            <a:ext cx="1056449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rgbClr val="4B649F"/>
                </a:solidFill>
              </a:rPr>
              <a:t>HuRef: HUman-REadable Fingerprint</a:t>
            </a:r>
            <a:endParaRPr lang="en-US" altLang="zh-CN" sz="3600" b="1" dirty="0">
              <a:solidFill>
                <a:srgbClr val="4B649F"/>
              </a:solidFill>
            </a:endParaRPr>
          </a:p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rgbClr val="4B649F"/>
                </a:solidFill>
              </a:rPr>
              <a:t>for Large Language Models</a:t>
            </a:r>
            <a:endParaRPr lang="en-US" altLang="zh-CN" sz="3600" b="1" dirty="0">
              <a:solidFill>
                <a:srgbClr val="4B649F"/>
              </a:solidFill>
            </a:endParaRPr>
          </a:p>
        </p:txBody>
      </p:sp>
      <p:grpSp>
        <p:nvGrpSpPr>
          <p:cNvPr id="3076" name="组合 1026"/>
          <p:cNvGrpSpPr/>
          <p:nvPr/>
        </p:nvGrpSpPr>
        <p:grpSpPr>
          <a:xfrm>
            <a:off x="9100820" y="3804603"/>
            <a:ext cx="315913" cy="317500"/>
            <a:chOff x="2724480" y="3856218"/>
            <a:chExt cx="317004" cy="317004"/>
          </a:xfrm>
        </p:grpSpPr>
        <p:sp>
          <p:nvSpPr>
            <p:cNvPr id="1024" name="椭圆 1023"/>
            <p:cNvSpPr/>
            <p:nvPr/>
          </p:nvSpPr>
          <p:spPr>
            <a:xfrm>
              <a:off x="2724480" y="3856218"/>
              <a:ext cx="317004" cy="317004"/>
            </a:xfrm>
            <a:prstGeom prst="ellipse">
              <a:avLst/>
            </a:prstGeom>
            <a:solidFill>
              <a:srgbClr val="4B64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3" name="KSO_Shape"/>
            <p:cNvSpPr/>
            <p:nvPr/>
          </p:nvSpPr>
          <p:spPr bwMode="auto">
            <a:xfrm>
              <a:off x="2799351" y="3908523"/>
              <a:ext cx="167263" cy="212393"/>
            </a:xfrm>
            <a:custGeom>
              <a:avLst/>
              <a:gdLst>
                <a:gd name="T0" fmla="*/ 646796 w 5367"/>
                <a:gd name="T1" fmla="*/ 843536 h 6897"/>
                <a:gd name="T2" fmla="*/ 520861 w 5367"/>
                <a:gd name="T3" fmla="*/ 880824 h 6897"/>
                <a:gd name="T4" fmla="*/ 403764 w 5367"/>
                <a:gd name="T5" fmla="*/ 946285 h 6897"/>
                <a:gd name="T6" fmla="*/ 297714 w 5367"/>
                <a:gd name="T7" fmla="*/ 1036605 h 6897"/>
                <a:gd name="T8" fmla="*/ 204644 w 5367"/>
                <a:gd name="T9" fmla="*/ 1149850 h 6897"/>
                <a:gd name="T10" fmla="*/ 126487 w 5367"/>
                <a:gd name="T11" fmla="*/ 1282429 h 6897"/>
                <a:gd name="T12" fmla="*/ 65729 w 5367"/>
                <a:gd name="T13" fmla="*/ 1432134 h 6897"/>
                <a:gd name="T14" fmla="*/ 23475 w 5367"/>
                <a:gd name="T15" fmla="*/ 1595648 h 6897"/>
                <a:gd name="T16" fmla="*/ 2209 w 5367"/>
                <a:gd name="T17" fmla="*/ 1771316 h 6897"/>
                <a:gd name="T18" fmla="*/ 1481389 w 5367"/>
                <a:gd name="T19" fmla="*/ 1905000 h 6897"/>
                <a:gd name="T20" fmla="*/ 1480009 w 5367"/>
                <a:gd name="T21" fmla="*/ 1771316 h 6897"/>
                <a:gd name="T22" fmla="*/ 1459020 w 5367"/>
                <a:gd name="T23" fmla="*/ 1595648 h 6897"/>
                <a:gd name="T24" fmla="*/ 1417041 w 5367"/>
                <a:gd name="T25" fmla="*/ 1432134 h 6897"/>
                <a:gd name="T26" fmla="*/ 1355731 w 5367"/>
                <a:gd name="T27" fmla="*/ 1282429 h 6897"/>
                <a:gd name="T28" fmla="*/ 1277850 w 5367"/>
                <a:gd name="T29" fmla="*/ 1149850 h 6897"/>
                <a:gd name="T30" fmla="*/ 1184780 w 5367"/>
                <a:gd name="T31" fmla="*/ 1036605 h 6897"/>
                <a:gd name="T32" fmla="*/ 1078730 w 5367"/>
                <a:gd name="T33" fmla="*/ 946285 h 6897"/>
                <a:gd name="T34" fmla="*/ 961633 w 5367"/>
                <a:gd name="T35" fmla="*/ 880824 h 6897"/>
                <a:gd name="T36" fmla="*/ 835422 w 5367"/>
                <a:gd name="T37" fmla="*/ 843536 h 6897"/>
                <a:gd name="T38" fmla="*/ 747875 w 5367"/>
                <a:gd name="T39" fmla="*/ 731120 h 6897"/>
                <a:gd name="T40" fmla="*/ 805043 w 5367"/>
                <a:gd name="T41" fmla="*/ 726701 h 6897"/>
                <a:gd name="T42" fmla="*/ 868286 w 5367"/>
                <a:gd name="T43" fmla="*/ 711786 h 6897"/>
                <a:gd name="T44" fmla="*/ 926559 w 5367"/>
                <a:gd name="T45" fmla="*/ 686927 h 6897"/>
                <a:gd name="T46" fmla="*/ 979032 w 5367"/>
                <a:gd name="T47" fmla="*/ 653230 h 6897"/>
                <a:gd name="T48" fmla="*/ 1024876 w 5367"/>
                <a:gd name="T49" fmla="*/ 611246 h 6897"/>
                <a:gd name="T50" fmla="*/ 1063264 w 5367"/>
                <a:gd name="T51" fmla="*/ 562358 h 6897"/>
                <a:gd name="T52" fmla="*/ 1092815 w 5367"/>
                <a:gd name="T53" fmla="*/ 507945 h 6897"/>
                <a:gd name="T54" fmla="*/ 1112699 w 5367"/>
                <a:gd name="T55" fmla="*/ 448008 h 6897"/>
                <a:gd name="T56" fmla="*/ 1121813 w 5367"/>
                <a:gd name="T57" fmla="*/ 384204 h 6897"/>
                <a:gd name="T58" fmla="*/ 1120432 w 5367"/>
                <a:gd name="T59" fmla="*/ 328134 h 6897"/>
                <a:gd name="T60" fmla="*/ 1108004 w 5367"/>
                <a:gd name="T61" fmla="*/ 265711 h 6897"/>
                <a:gd name="T62" fmla="*/ 1085358 w 5367"/>
                <a:gd name="T63" fmla="*/ 207155 h 6897"/>
                <a:gd name="T64" fmla="*/ 1053322 w 5367"/>
                <a:gd name="T65" fmla="*/ 153847 h 6897"/>
                <a:gd name="T66" fmla="*/ 1012725 w 5367"/>
                <a:gd name="T67" fmla="*/ 107168 h 6897"/>
                <a:gd name="T68" fmla="*/ 964671 w 5367"/>
                <a:gd name="T69" fmla="*/ 67395 h 6897"/>
                <a:gd name="T70" fmla="*/ 910541 w 5367"/>
                <a:gd name="T71" fmla="*/ 36183 h 6897"/>
                <a:gd name="T72" fmla="*/ 850335 w 5367"/>
                <a:gd name="T73" fmla="*/ 14087 h 6897"/>
                <a:gd name="T74" fmla="*/ 786263 w 5367"/>
                <a:gd name="T75" fmla="*/ 1933 h 6897"/>
                <a:gd name="T76" fmla="*/ 728819 w 5367"/>
                <a:gd name="T77" fmla="*/ 276 h 6897"/>
                <a:gd name="T78" fmla="*/ 663366 w 5367"/>
                <a:gd name="T79" fmla="*/ 9391 h 6897"/>
                <a:gd name="T80" fmla="*/ 602332 w 5367"/>
                <a:gd name="T81" fmla="*/ 28726 h 6897"/>
                <a:gd name="T82" fmla="*/ 546545 w 5367"/>
                <a:gd name="T83" fmla="*/ 57451 h 6897"/>
                <a:gd name="T84" fmla="*/ 496282 w 5367"/>
                <a:gd name="T85" fmla="*/ 95015 h 6897"/>
                <a:gd name="T86" fmla="*/ 453751 w 5367"/>
                <a:gd name="T87" fmla="*/ 139761 h 6897"/>
                <a:gd name="T88" fmla="*/ 418954 w 5367"/>
                <a:gd name="T89" fmla="*/ 191411 h 6897"/>
                <a:gd name="T90" fmla="*/ 393546 w 5367"/>
                <a:gd name="T91" fmla="*/ 248310 h 6897"/>
                <a:gd name="T92" fmla="*/ 378356 w 5367"/>
                <a:gd name="T93" fmla="*/ 309628 h 6897"/>
                <a:gd name="T94" fmla="*/ 373938 w 5367"/>
                <a:gd name="T95" fmla="*/ 365698 h 6897"/>
                <a:gd name="T96" fmla="*/ 380013 w 5367"/>
                <a:gd name="T97" fmla="*/ 430054 h 6897"/>
                <a:gd name="T98" fmla="*/ 396584 w 5367"/>
                <a:gd name="T99" fmla="*/ 491096 h 6897"/>
                <a:gd name="T100" fmla="*/ 423372 w 5367"/>
                <a:gd name="T101" fmla="*/ 547719 h 6897"/>
                <a:gd name="T102" fmla="*/ 459551 w 5367"/>
                <a:gd name="T103" fmla="*/ 597988 h 6897"/>
                <a:gd name="T104" fmla="*/ 503186 w 5367"/>
                <a:gd name="T105" fmla="*/ 641905 h 6897"/>
                <a:gd name="T106" fmla="*/ 554278 w 5367"/>
                <a:gd name="T107" fmla="*/ 678088 h 6897"/>
                <a:gd name="T108" fmla="*/ 610894 w 5367"/>
                <a:gd name="T109" fmla="*/ 705709 h 6897"/>
                <a:gd name="T110" fmla="*/ 672756 w 5367"/>
                <a:gd name="T111" fmla="*/ 723662 h 6897"/>
                <a:gd name="T112" fmla="*/ 738209 w 5367"/>
                <a:gd name="T113" fmla="*/ 730844 h 689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5367" h="6897">
                  <a:moveTo>
                    <a:pt x="2684" y="3025"/>
                  </a:moveTo>
                  <a:lnTo>
                    <a:pt x="2684" y="3025"/>
                  </a:lnTo>
                  <a:lnTo>
                    <a:pt x="2615" y="3026"/>
                  </a:lnTo>
                  <a:lnTo>
                    <a:pt x="2545" y="3029"/>
                  </a:lnTo>
                  <a:lnTo>
                    <a:pt x="2478" y="3035"/>
                  </a:lnTo>
                  <a:lnTo>
                    <a:pt x="2409" y="3043"/>
                  </a:lnTo>
                  <a:lnTo>
                    <a:pt x="2342" y="3054"/>
                  </a:lnTo>
                  <a:lnTo>
                    <a:pt x="2275" y="3066"/>
                  </a:lnTo>
                  <a:lnTo>
                    <a:pt x="2209" y="3081"/>
                  </a:lnTo>
                  <a:lnTo>
                    <a:pt x="2143" y="3099"/>
                  </a:lnTo>
                  <a:lnTo>
                    <a:pt x="2077" y="3118"/>
                  </a:lnTo>
                  <a:lnTo>
                    <a:pt x="2013" y="3140"/>
                  </a:lnTo>
                  <a:lnTo>
                    <a:pt x="1949" y="3163"/>
                  </a:lnTo>
                  <a:lnTo>
                    <a:pt x="1886" y="3189"/>
                  </a:lnTo>
                  <a:lnTo>
                    <a:pt x="1823" y="3217"/>
                  </a:lnTo>
                  <a:lnTo>
                    <a:pt x="1761" y="3247"/>
                  </a:lnTo>
                  <a:lnTo>
                    <a:pt x="1700" y="3279"/>
                  </a:lnTo>
                  <a:lnTo>
                    <a:pt x="1639" y="3313"/>
                  </a:lnTo>
                  <a:lnTo>
                    <a:pt x="1579" y="3349"/>
                  </a:lnTo>
                  <a:lnTo>
                    <a:pt x="1521" y="3386"/>
                  </a:lnTo>
                  <a:lnTo>
                    <a:pt x="1462" y="3426"/>
                  </a:lnTo>
                  <a:lnTo>
                    <a:pt x="1405" y="3468"/>
                  </a:lnTo>
                  <a:lnTo>
                    <a:pt x="1348" y="3511"/>
                  </a:lnTo>
                  <a:lnTo>
                    <a:pt x="1293" y="3556"/>
                  </a:lnTo>
                  <a:lnTo>
                    <a:pt x="1237" y="3603"/>
                  </a:lnTo>
                  <a:lnTo>
                    <a:pt x="1183" y="3651"/>
                  </a:lnTo>
                  <a:lnTo>
                    <a:pt x="1131" y="3702"/>
                  </a:lnTo>
                  <a:lnTo>
                    <a:pt x="1078" y="3753"/>
                  </a:lnTo>
                  <a:lnTo>
                    <a:pt x="1027" y="3807"/>
                  </a:lnTo>
                  <a:lnTo>
                    <a:pt x="976" y="3863"/>
                  </a:lnTo>
                  <a:lnTo>
                    <a:pt x="927" y="3920"/>
                  </a:lnTo>
                  <a:lnTo>
                    <a:pt x="880" y="3978"/>
                  </a:lnTo>
                  <a:lnTo>
                    <a:pt x="833" y="4038"/>
                  </a:lnTo>
                  <a:lnTo>
                    <a:pt x="786" y="4100"/>
                  </a:lnTo>
                  <a:lnTo>
                    <a:pt x="741" y="4163"/>
                  </a:lnTo>
                  <a:lnTo>
                    <a:pt x="698" y="4227"/>
                  </a:lnTo>
                  <a:lnTo>
                    <a:pt x="655" y="4293"/>
                  </a:lnTo>
                  <a:lnTo>
                    <a:pt x="613" y="4361"/>
                  </a:lnTo>
                  <a:lnTo>
                    <a:pt x="573" y="4429"/>
                  </a:lnTo>
                  <a:lnTo>
                    <a:pt x="533" y="4499"/>
                  </a:lnTo>
                  <a:lnTo>
                    <a:pt x="495" y="4570"/>
                  </a:lnTo>
                  <a:lnTo>
                    <a:pt x="458" y="4643"/>
                  </a:lnTo>
                  <a:lnTo>
                    <a:pt x="423" y="4717"/>
                  </a:lnTo>
                  <a:lnTo>
                    <a:pt x="388" y="4791"/>
                  </a:lnTo>
                  <a:lnTo>
                    <a:pt x="356" y="4868"/>
                  </a:lnTo>
                  <a:lnTo>
                    <a:pt x="324" y="4945"/>
                  </a:lnTo>
                  <a:lnTo>
                    <a:pt x="294" y="5024"/>
                  </a:lnTo>
                  <a:lnTo>
                    <a:pt x="265" y="5104"/>
                  </a:lnTo>
                  <a:lnTo>
                    <a:pt x="238" y="5185"/>
                  </a:lnTo>
                  <a:lnTo>
                    <a:pt x="211" y="5266"/>
                  </a:lnTo>
                  <a:lnTo>
                    <a:pt x="186" y="5349"/>
                  </a:lnTo>
                  <a:lnTo>
                    <a:pt x="163" y="5433"/>
                  </a:lnTo>
                  <a:lnTo>
                    <a:pt x="141" y="5518"/>
                  </a:lnTo>
                  <a:lnTo>
                    <a:pt x="121" y="5603"/>
                  </a:lnTo>
                  <a:lnTo>
                    <a:pt x="102" y="5690"/>
                  </a:lnTo>
                  <a:lnTo>
                    <a:pt x="85" y="5777"/>
                  </a:lnTo>
                  <a:lnTo>
                    <a:pt x="69" y="5866"/>
                  </a:lnTo>
                  <a:lnTo>
                    <a:pt x="54" y="5955"/>
                  </a:lnTo>
                  <a:lnTo>
                    <a:pt x="42" y="6045"/>
                  </a:lnTo>
                  <a:lnTo>
                    <a:pt x="31" y="6136"/>
                  </a:lnTo>
                  <a:lnTo>
                    <a:pt x="22" y="6227"/>
                  </a:lnTo>
                  <a:lnTo>
                    <a:pt x="14" y="6319"/>
                  </a:lnTo>
                  <a:lnTo>
                    <a:pt x="8" y="6413"/>
                  </a:lnTo>
                  <a:lnTo>
                    <a:pt x="4" y="6506"/>
                  </a:lnTo>
                  <a:lnTo>
                    <a:pt x="1" y="6600"/>
                  </a:lnTo>
                  <a:lnTo>
                    <a:pt x="0" y="6695"/>
                  </a:lnTo>
                  <a:lnTo>
                    <a:pt x="1" y="6796"/>
                  </a:lnTo>
                  <a:lnTo>
                    <a:pt x="5" y="6897"/>
                  </a:lnTo>
                  <a:lnTo>
                    <a:pt x="5364" y="6897"/>
                  </a:lnTo>
                  <a:lnTo>
                    <a:pt x="5366" y="6796"/>
                  </a:lnTo>
                  <a:lnTo>
                    <a:pt x="5367" y="6695"/>
                  </a:lnTo>
                  <a:lnTo>
                    <a:pt x="5367" y="6600"/>
                  </a:lnTo>
                  <a:lnTo>
                    <a:pt x="5364" y="6506"/>
                  </a:lnTo>
                  <a:lnTo>
                    <a:pt x="5359" y="6413"/>
                  </a:lnTo>
                  <a:lnTo>
                    <a:pt x="5353" y="6319"/>
                  </a:lnTo>
                  <a:lnTo>
                    <a:pt x="5346" y="6227"/>
                  </a:lnTo>
                  <a:lnTo>
                    <a:pt x="5337" y="6136"/>
                  </a:lnTo>
                  <a:lnTo>
                    <a:pt x="5325" y="6045"/>
                  </a:lnTo>
                  <a:lnTo>
                    <a:pt x="5313" y="5955"/>
                  </a:lnTo>
                  <a:lnTo>
                    <a:pt x="5298" y="5866"/>
                  </a:lnTo>
                  <a:lnTo>
                    <a:pt x="5283" y="5777"/>
                  </a:lnTo>
                  <a:lnTo>
                    <a:pt x="5266" y="5690"/>
                  </a:lnTo>
                  <a:lnTo>
                    <a:pt x="5247" y="5603"/>
                  </a:lnTo>
                  <a:lnTo>
                    <a:pt x="5226" y="5518"/>
                  </a:lnTo>
                  <a:lnTo>
                    <a:pt x="5205" y="5433"/>
                  </a:lnTo>
                  <a:lnTo>
                    <a:pt x="5181" y="5349"/>
                  </a:lnTo>
                  <a:lnTo>
                    <a:pt x="5157" y="5266"/>
                  </a:lnTo>
                  <a:lnTo>
                    <a:pt x="5131" y="5185"/>
                  </a:lnTo>
                  <a:lnTo>
                    <a:pt x="5103" y="5104"/>
                  </a:lnTo>
                  <a:lnTo>
                    <a:pt x="5073" y="5024"/>
                  </a:lnTo>
                  <a:lnTo>
                    <a:pt x="5043" y="4945"/>
                  </a:lnTo>
                  <a:lnTo>
                    <a:pt x="5012" y="4868"/>
                  </a:lnTo>
                  <a:lnTo>
                    <a:pt x="4979" y="4791"/>
                  </a:lnTo>
                  <a:lnTo>
                    <a:pt x="4945" y="4717"/>
                  </a:lnTo>
                  <a:lnTo>
                    <a:pt x="4909" y="4643"/>
                  </a:lnTo>
                  <a:lnTo>
                    <a:pt x="4872" y="4570"/>
                  </a:lnTo>
                  <a:lnTo>
                    <a:pt x="4834" y="4499"/>
                  </a:lnTo>
                  <a:lnTo>
                    <a:pt x="4796" y="4429"/>
                  </a:lnTo>
                  <a:lnTo>
                    <a:pt x="4755" y="4361"/>
                  </a:lnTo>
                  <a:lnTo>
                    <a:pt x="4713" y="4293"/>
                  </a:lnTo>
                  <a:lnTo>
                    <a:pt x="4671" y="4227"/>
                  </a:lnTo>
                  <a:lnTo>
                    <a:pt x="4627" y="4163"/>
                  </a:lnTo>
                  <a:lnTo>
                    <a:pt x="4582" y="4100"/>
                  </a:lnTo>
                  <a:lnTo>
                    <a:pt x="4536" y="4038"/>
                  </a:lnTo>
                  <a:lnTo>
                    <a:pt x="4489" y="3978"/>
                  </a:lnTo>
                  <a:lnTo>
                    <a:pt x="4440" y="3920"/>
                  </a:lnTo>
                  <a:lnTo>
                    <a:pt x="4391" y="3863"/>
                  </a:lnTo>
                  <a:lnTo>
                    <a:pt x="4340" y="3807"/>
                  </a:lnTo>
                  <a:lnTo>
                    <a:pt x="4290" y="3753"/>
                  </a:lnTo>
                  <a:lnTo>
                    <a:pt x="4238" y="3702"/>
                  </a:lnTo>
                  <a:lnTo>
                    <a:pt x="4184" y="3651"/>
                  </a:lnTo>
                  <a:lnTo>
                    <a:pt x="4130" y="3603"/>
                  </a:lnTo>
                  <a:lnTo>
                    <a:pt x="4076" y="3556"/>
                  </a:lnTo>
                  <a:lnTo>
                    <a:pt x="4020" y="3511"/>
                  </a:lnTo>
                  <a:lnTo>
                    <a:pt x="3963" y="3468"/>
                  </a:lnTo>
                  <a:lnTo>
                    <a:pt x="3906" y="3426"/>
                  </a:lnTo>
                  <a:lnTo>
                    <a:pt x="3848" y="3386"/>
                  </a:lnTo>
                  <a:lnTo>
                    <a:pt x="3788" y="3349"/>
                  </a:lnTo>
                  <a:lnTo>
                    <a:pt x="3728" y="3313"/>
                  </a:lnTo>
                  <a:lnTo>
                    <a:pt x="3668" y="3279"/>
                  </a:lnTo>
                  <a:lnTo>
                    <a:pt x="3607" y="3247"/>
                  </a:lnTo>
                  <a:lnTo>
                    <a:pt x="3545" y="3217"/>
                  </a:lnTo>
                  <a:lnTo>
                    <a:pt x="3482" y="3189"/>
                  </a:lnTo>
                  <a:lnTo>
                    <a:pt x="3419" y="3163"/>
                  </a:lnTo>
                  <a:lnTo>
                    <a:pt x="3355" y="3140"/>
                  </a:lnTo>
                  <a:lnTo>
                    <a:pt x="3290" y="3118"/>
                  </a:lnTo>
                  <a:lnTo>
                    <a:pt x="3225" y="3099"/>
                  </a:lnTo>
                  <a:lnTo>
                    <a:pt x="3159" y="3081"/>
                  </a:lnTo>
                  <a:lnTo>
                    <a:pt x="3093" y="3066"/>
                  </a:lnTo>
                  <a:lnTo>
                    <a:pt x="3025" y="3054"/>
                  </a:lnTo>
                  <a:lnTo>
                    <a:pt x="2958" y="3043"/>
                  </a:lnTo>
                  <a:lnTo>
                    <a:pt x="2891" y="3035"/>
                  </a:lnTo>
                  <a:lnTo>
                    <a:pt x="2822" y="3029"/>
                  </a:lnTo>
                  <a:lnTo>
                    <a:pt x="2753" y="3026"/>
                  </a:lnTo>
                  <a:lnTo>
                    <a:pt x="2684" y="3025"/>
                  </a:lnTo>
                  <a:close/>
                  <a:moveTo>
                    <a:pt x="2708" y="2647"/>
                  </a:moveTo>
                  <a:lnTo>
                    <a:pt x="2708" y="2647"/>
                  </a:lnTo>
                  <a:lnTo>
                    <a:pt x="2743" y="2646"/>
                  </a:lnTo>
                  <a:lnTo>
                    <a:pt x="2778" y="2645"/>
                  </a:lnTo>
                  <a:lnTo>
                    <a:pt x="2813" y="2643"/>
                  </a:lnTo>
                  <a:lnTo>
                    <a:pt x="2847" y="2640"/>
                  </a:lnTo>
                  <a:lnTo>
                    <a:pt x="2882" y="2636"/>
                  </a:lnTo>
                  <a:lnTo>
                    <a:pt x="2915" y="2631"/>
                  </a:lnTo>
                  <a:lnTo>
                    <a:pt x="2949" y="2626"/>
                  </a:lnTo>
                  <a:lnTo>
                    <a:pt x="2982" y="2620"/>
                  </a:lnTo>
                  <a:lnTo>
                    <a:pt x="3014" y="2613"/>
                  </a:lnTo>
                  <a:lnTo>
                    <a:pt x="3047" y="2605"/>
                  </a:lnTo>
                  <a:lnTo>
                    <a:pt x="3079" y="2596"/>
                  </a:lnTo>
                  <a:lnTo>
                    <a:pt x="3112" y="2587"/>
                  </a:lnTo>
                  <a:lnTo>
                    <a:pt x="3144" y="2577"/>
                  </a:lnTo>
                  <a:lnTo>
                    <a:pt x="3175" y="2566"/>
                  </a:lnTo>
                  <a:lnTo>
                    <a:pt x="3205" y="2555"/>
                  </a:lnTo>
                  <a:lnTo>
                    <a:pt x="3236" y="2542"/>
                  </a:lnTo>
                  <a:lnTo>
                    <a:pt x="3266" y="2530"/>
                  </a:lnTo>
                  <a:lnTo>
                    <a:pt x="3297" y="2517"/>
                  </a:lnTo>
                  <a:lnTo>
                    <a:pt x="3326" y="2502"/>
                  </a:lnTo>
                  <a:lnTo>
                    <a:pt x="3355" y="2487"/>
                  </a:lnTo>
                  <a:lnTo>
                    <a:pt x="3383" y="2472"/>
                  </a:lnTo>
                  <a:lnTo>
                    <a:pt x="3411" y="2455"/>
                  </a:lnTo>
                  <a:lnTo>
                    <a:pt x="3439" y="2438"/>
                  </a:lnTo>
                  <a:lnTo>
                    <a:pt x="3466" y="2421"/>
                  </a:lnTo>
                  <a:lnTo>
                    <a:pt x="3493" y="2403"/>
                  </a:lnTo>
                  <a:lnTo>
                    <a:pt x="3519" y="2384"/>
                  </a:lnTo>
                  <a:lnTo>
                    <a:pt x="3545" y="2365"/>
                  </a:lnTo>
                  <a:lnTo>
                    <a:pt x="3571" y="2345"/>
                  </a:lnTo>
                  <a:lnTo>
                    <a:pt x="3596" y="2324"/>
                  </a:lnTo>
                  <a:lnTo>
                    <a:pt x="3619" y="2303"/>
                  </a:lnTo>
                  <a:lnTo>
                    <a:pt x="3643" y="2282"/>
                  </a:lnTo>
                  <a:lnTo>
                    <a:pt x="3667" y="2259"/>
                  </a:lnTo>
                  <a:lnTo>
                    <a:pt x="3689" y="2237"/>
                  </a:lnTo>
                  <a:lnTo>
                    <a:pt x="3711" y="2213"/>
                  </a:lnTo>
                  <a:lnTo>
                    <a:pt x="3733" y="2189"/>
                  </a:lnTo>
                  <a:lnTo>
                    <a:pt x="3754" y="2165"/>
                  </a:lnTo>
                  <a:lnTo>
                    <a:pt x="3774" y="2140"/>
                  </a:lnTo>
                  <a:lnTo>
                    <a:pt x="3795" y="2115"/>
                  </a:lnTo>
                  <a:lnTo>
                    <a:pt x="3814" y="2089"/>
                  </a:lnTo>
                  <a:lnTo>
                    <a:pt x="3832" y="2063"/>
                  </a:lnTo>
                  <a:lnTo>
                    <a:pt x="3850" y="2036"/>
                  </a:lnTo>
                  <a:lnTo>
                    <a:pt x="3868" y="2010"/>
                  </a:lnTo>
                  <a:lnTo>
                    <a:pt x="3884" y="1983"/>
                  </a:lnTo>
                  <a:lnTo>
                    <a:pt x="3900" y="1954"/>
                  </a:lnTo>
                  <a:lnTo>
                    <a:pt x="3915" y="1925"/>
                  </a:lnTo>
                  <a:lnTo>
                    <a:pt x="3930" y="1897"/>
                  </a:lnTo>
                  <a:lnTo>
                    <a:pt x="3944" y="1868"/>
                  </a:lnTo>
                  <a:lnTo>
                    <a:pt x="3957" y="1839"/>
                  </a:lnTo>
                  <a:lnTo>
                    <a:pt x="3970" y="1808"/>
                  </a:lnTo>
                  <a:lnTo>
                    <a:pt x="3981" y="1778"/>
                  </a:lnTo>
                  <a:lnTo>
                    <a:pt x="3993" y="1748"/>
                  </a:lnTo>
                  <a:lnTo>
                    <a:pt x="4003" y="1717"/>
                  </a:lnTo>
                  <a:lnTo>
                    <a:pt x="4012" y="1686"/>
                  </a:lnTo>
                  <a:lnTo>
                    <a:pt x="4021" y="1654"/>
                  </a:lnTo>
                  <a:lnTo>
                    <a:pt x="4029" y="1622"/>
                  </a:lnTo>
                  <a:lnTo>
                    <a:pt x="4036" y="1590"/>
                  </a:lnTo>
                  <a:lnTo>
                    <a:pt x="4042" y="1557"/>
                  </a:lnTo>
                  <a:lnTo>
                    <a:pt x="4048" y="1525"/>
                  </a:lnTo>
                  <a:lnTo>
                    <a:pt x="4052" y="1492"/>
                  </a:lnTo>
                  <a:lnTo>
                    <a:pt x="4057" y="1459"/>
                  </a:lnTo>
                  <a:lnTo>
                    <a:pt x="4060" y="1425"/>
                  </a:lnTo>
                  <a:lnTo>
                    <a:pt x="4062" y="1391"/>
                  </a:lnTo>
                  <a:lnTo>
                    <a:pt x="4063" y="1357"/>
                  </a:lnTo>
                  <a:lnTo>
                    <a:pt x="4063" y="1324"/>
                  </a:lnTo>
                  <a:lnTo>
                    <a:pt x="4063" y="1289"/>
                  </a:lnTo>
                  <a:lnTo>
                    <a:pt x="4062" y="1255"/>
                  </a:lnTo>
                  <a:lnTo>
                    <a:pt x="4060" y="1221"/>
                  </a:lnTo>
                  <a:lnTo>
                    <a:pt x="4057" y="1188"/>
                  </a:lnTo>
                  <a:lnTo>
                    <a:pt x="4052" y="1155"/>
                  </a:lnTo>
                  <a:lnTo>
                    <a:pt x="4048" y="1121"/>
                  </a:lnTo>
                  <a:lnTo>
                    <a:pt x="4042" y="1089"/>
                  </a:lnTo>
                  <a:lnTo>
                    <a:pt x="4036" y="1057"/>
                  </a:lnTo>
                  <a:lnTo>
                    <a:pt x="4029" y="1025"/>
                  </a:lnTo>
                  <a:lnTo>
                    <a:pt x="4021" y="993"/>
                  </a:lnTo>
                  <a:lnTo>
                    <a:pt x="4012" y="962"/>
                  </a:lnTo>
                  <a:lnTo>
                    <a:pt x="4003" y="930"/>
                  </a:lnTo>
                  <a:lnTo>
                    <a:pt x="3993" y="899"/>
                  </a:lnTo>
                  <a:lnTo>
                    <a:pt x="3981" y="868"/>
                  </a:lnTo>
                  <a:lnTo>
                    <a:pt x="3970" y="838"/>
                  </a:lnTo>
                  <a:lnTo>
                    <a:pt x="3957" y="809"/>
                  </a:lnTo>
                  <a:lnTo>
                    <a:pt x="3944" y="778"/>
                  </a:lnTo>
                  <a:lnTo>
                    <a:pt x="3930" y="750"/>
                  </a:lnTo>
                  <a:lnTo>
                    <a:pt x="3915" y="721"/>
                  </a:lnTo>
                  <a:lnTo>
                    <a:pt x="3900" y="693"/>
                  </a:lnTo>
                  <a:lnTo>
                    <a:pt x="3884" y="665"/>
                  </a:lnTo>
                  <a:lnTo>
                    <a:pt x="3868" y="638"/>
                  </a:lnTo>
                  <a:lnTo>
                    <a:pt x="3850" y="610"/>
                  </a:lnTo>
                  <a:lnTo>
                    <a:pt x="3832" y="584"/>
                  </a:lnTo>
                  <a:lnTo>
                    <a:pt x="3814" y="557"/>
                  </a:lnTo>
                  <a:lnTo>
                    <a:pt x="3795" y="532"/>
                  </a:lnTo>
                  <a:lnTo>
                    <a:pt x="3774" y="506"/>
                  </a:lnTo>
                  <a:lnTo>
                    <a:pt x="3754" y="481"/>
                  </a:lnTo>
                  <a:lnTo>
                    <a:pt x="3733" y="458"/>
                  </a:lnTo>
                  <a:lnTo>
                    <a:pt x="3711" y="433"/>
                  </a:lnTo>
                  <a:lnTo>
                    <a:pt x="3689" y="411"/>
                  </a:lnTo>
                  <a:lnTo>
                    <a:pt x="3667" y="388"/>
                  </a:lnTo>
                  <a:lnTo>
                    <a:pt x="3643" y="366"/>
                  </a:lnTo>
                  <a:lnTo>
                    <a:pt x="3619" y="344"/>
                  </a:lnTo>
                  <a:lnTo>
                    <a:pt x="3596" y="323"/>
                  </a:lnTo>
                  <a:lnTo>
                    <a:pt x="3571" y="303"/>
                  </a:lnTo>
                  <a:lnTo>
                    <a:pt x="3545" y="282"/>
                  </a:lnTo>
                  <a:lnTo>
                    <a:pt x="3519" y="263"/>
                  </a:lnTo>
                  <a:lnTo>
                    <a:pt x="3493" y="244"/>
                  </a:lnTo>
                  <a:lnTo>
                    <a:pt x="3466" y="226"/>
                  </a:lnTo>
                  <a:lnTo>
                    <a:pt x="3439" y="208"/>
                  </a:lnTo>
                  <a:lnTo>
                    <a:pt x="3411" y="191"/>
                  </a:lnTo>
                  <a:lnTo>
                    <a:pt x="3383" y="176"/>
                  </a:lnTo>
                  <a:lnTo>
                    <a:pt x="3355" y="160"/>
                  </a:lnTo>
                  <a:lnTo>
                    <a:pt x="3326" y="145"/>
                  </a:lnTo>
                  <a:lnTo>
                    <a:pt x="3297" y="131"/>
                  </a:lnTo>
                  <a:lnTo>
                    <a:pt x="3266" y="117"/>
                  </a:lnTo>
                  <a:lnTo>
                    <a:pt x="3236" y="104"/>
                  </a:lnTo>
                  <a:lnTo>
                    <a:pt x="3205" y="92"/>
                  </a:lnTo>
                  <a:lnTo>
                    <a:pt x="3175" y="80"/>
                  </a:lnTo>
                  <a:lnTo>
                    <a:pt x="3144" y="70"/>
                  </a:lnTo>
                  <a:lnTo>
                    <a:pt x="3112" y="60"/>
                  </a:lnTo>
                  <a:lnTo>
                    <a:pt x="3079" y="51"/>
                  </a:lnTo>
                  <a:lnTo>
                    <a:pt x="3047" y="42"/>
                  </a:lnTo>
                  <a:lnTo>
                    <a:pt x="3014" y="34"/>
                  </a:lnTo>
                  <a:lnTo>
                    <a:pt x="2982" y="27"/>
                  </a:lnTo>
                  <a:lnTo>
                    <a:pt x="2949" y="20"/>
                  </a:lnTo>
                  <a:lnTo>
                    <a:pt x="2915" y="15"/>
                  </a:lnTo>
                  <a:lnTo>
                    <a:pt x="2882" y="10"/>
                  </a:lnTo>
                  <a:lnTo>
                    <a:pt x="2847" y="7"/>
                  </a:lnTo>
                  <a:lnTo>
                    <a:pt x="2813" y="4"/>
                  </a:lnTo>
                  <a:lnTo>
                    <a:pt x="2778" y="1"/>
                  </a:lnTo>
                  <a:lnTo>
                    <a:pt x="2743" y="0"/>
                  </a:lnTo>
                  <a:lnTo>
                    <a:pt x="2708" y="0"/>
                  </a:lnTo>
                  <a:lnTo>
                    <a:pt x="2673" y="0"/>
                  </a:lnTo>
                  <a:lnTo>
                    <a:pt x="2639" y="1"/>
                  </a:lnTo>
                  <a:lnTo>
                    <a:pt x="2605" y="4"/>
                  </a:lnTo>
                  <a:lnTo>
                    <a:pt x="2570" y="7"/>
                  </a:lnTo>
                  <a:lnTo>
                    <a:pt x="2536" y="10"/>
                  </a:lnTo>
                  <a:lnTo>
                    <a:pt x="2503" y="15"/>
                  </a:lnTo>
                  <a:lnTo>
                    <a:pt x="2469" y="20"/>
                  </a:lnTo>
                  <a:lnTo>
                    <a:pt x="2436" y="27"/>
                  </a:lnTo>
                  <a:lnTo>
                    <a:pt x="2402" y="34"/>
                  </a:lnTo>
                  <a:lnTo>
                    <a:pt x="2370" y="42"/>
                  </a:lnTo>
                  <a:lnTo>
                    <a:pt x="2338" y="51"/>
                  </a:lnTo>
                  <a:lnTo>
                    <a:pt x="2306" y="60"/>
                  </a:lnTo>
                  <a:lnTo>
                    <a:pt x="2274" y="70"/>
                  </a:lnTo>
                  <a:lnTo>
                    <a:pt x="2243" y="80"/>
                  </a:lnTo>
                  <a:lnTo>
                    <a:pt x="2212" y="92"/>
                  </a:lnTo>
                  <a:lnTo>
                    <a:pt x="2181" y="104"/>
                  </a:lnTo>
                  <a:lnTo>
                    <a:pt x="2152" y="117"/>
                  </a:lnTo>
                  <a:lnTo>
                    <a:pt x="2121" y="131"/>
                  </a:lnTo>
                  <a:lnTo>
                    <a:pt x="2092" y="145"/>
                  </a:lnTo>
                  <a:lnTo>
                    <a:pt x="2063" y="160"/>
                  </a:lnTo>
                  <a:lnTo>
                    <a:pt x="2035" y="176"/>
                  </a:lnTo>
                  <a:lnTo>
                    <a:pt x="2007" y="191"/>
                  </a:lnTo>
                  <a:lnTo>
                    <a:pt x="1979" y="208"/>
                  </a:lnTo>
                  <a:lnTo>
                    <a:pt x="1952" y="226"/>
                  </a:lnTo>
                  <a:lnTo>
                    <a:pt x="1925" y="244"/>
                  </a:lnTo>
                  <a:lnTo>
                    <a:pt x="1899" y="263"/>
                  </a:lnTo>
                  <a:lnTo>
                    <a:pt x="1873" y="282"/>
                  </a:lnTo>
                  <a:lnTo>
                    <a:pt x="1847" y="303"/>
                  </a:lnTo>
                  <a:lnTo>
                    <a:pt x="1822" y="323"/>
                  </a:lnTo>
                  <a:lnTo>
                    <a:pt x="1797" y="344"/>
                  </a:lnTo>
                  <a:lnTo>
                    <a:pt x="1774" y="366"/>
                  </a:lnTo>
                  <a:lnTo>
                    <a:pt x="1751" y="388"/>
                  </a:lnTo>
                  <a:lnTo>
                    <a:pt x="1728" y="411"/>
                  </a:lnTo>
                  <a:lnTo>
                    <a:pt x="1706" y="433"/>
                  </a:lnTo>
                  <a:lnTo>
                    <a:pt x="1685" y="458"/>
                  </a:lnTo>
                  <a:lnTo>
                    <a:pt x="1664" y="481"/>
                  </a:lnTo>
                  <a:lnTo>
                    <a:pt x="1643" y="506"/>
                  </a:lnTo>
                  <a:lnTo>
                    <a:pt x="1623" y="532"/>
                  </a:lnTo>
                  <a:lnTo>
                    <a:pt x="1604" y="557"/>
                  </a:lnTo>
                  <a:lnTo>
                    <a:pt x="1586" y="584"/>
                  </a:lnTo>
                  <a:lnTo>
                    <a:pt x="1568" y="610"/>
                  </a:lnTo>
                  <a:lnTo>
                    <a:pt x="1550" y="638"/>
                  </a:lnTo>
                  <a:lnTo>
                    <a:pt x="1533" y="665"/>
                  </a:lnTo>
                  <a:lnTo>
                    <a:pt x="1517" y="693"/>
                  </a:lnTo>
                  <a:lnTo>
                    <a:pt x="1503" y="721"/>
                  </a:lnTo>
                  <a:lnTo>
                    <a:pt x="1488" y="750"/>
                  </a:lnTo>
                  <a:lnTo>
                    <a:pt x="1474" y="778"/>
                  </a:lnTo>
                  <a:lnTo>
                    <a:pt x="1461" y="809"/>
                  </a:lnTo>
                  <a:lnTo>
                    <a:pt x="1448" y="838"/>
                  </a:lnTo>
                  <a:lnTo>
                    <a:pt x="1436" y="868"/>
                  </a:lnTo>
                  <a:lnTo>
                    <a:pt x="1425" y="899"/>
                  </a:lnTo>
                  <a:lnTo>
                    <a:pt x="1415" y="930"/>
                  </a:lnTo>
                  <a:lnTo>
                    <a:pt x="1406" y="962"/>
                  </a:lnTo>
                  <a:lnTo>
                    <a:pt x="1397" y="993"/>
                  </a:lnTo>
                  <a:lnTo>
                    <a:pt x="1389" y="1025"/>
                  </a:lnTo>
                  <a:lnTo>
                    <a:pt x="1381" y="1057"/>
                  </a:lnTo>
                  <a:lnTo>
                    <a:pt x="1376" y="1089"/>
                  </a:lnTo>
                  <a:lnTo>
                    <a:pt x="1370" y="1121"/>
                  </a:lnTo>
                  <a:lnTo>
                    <a:pt x="1366" y="1155"/>
                  </a:lnTo>
                  <a:lnTo>
                    <a:pt x="1361" y="1188"/>
                  </a:lnTo>
                  <a:lnTo>
                    <a:pt x="1358" y="1221"/>
                  </a:lnTo>
                  <a:lnTo>
                    <a:pt x="1355" y="1255"/>
                  </a:lnTo>
                  <a:lnTo>
                    <a:pt x="1354" y="1289"/>
                  </a:lnTo>
                  <a:lnTo>
                    <a:pt x="1354" y="1324"/>
                  </a:lnTo>
                  <a:lnTo>
                    <a:pt x="1354" y="1357"/>
                  </a:lnTo>
                  <a:lnTo>
                    <a:pt x="1355" y="1391"/>
                  </a:lnTo>
                  <a:lnTo>
                    <a:pt x="1358" y="1425"/>
                  </a:lnTo>
                  <a:lnTo>
                    <a:pt x="1361" y="1459"/>
                  </a:lnTo>
                  <a:lnTo>
                    <a:pt x="1366" y="1492"/>
                  </a:lnTo>
                  <a:lnTo>
                    <a:pt x="1370" y="1525"/>
                  </a:lnTo>
                  <a:lnTo>
                    <a:pt x="1376" y="1557"/>
                  </a:lnTo>
                  <a:lnTo>
                    <a:pt x="1381" y="1590"/>
                  </a:lnTo>
                  <a:lnTo>
                    <a:pt x="1389" y="1622"/>
                  </a:lnTo>
                  <a:lnTo>
                    <a:pt x="1397" y="1654"/>
                  </a:lnTo>
                  <a:lnTo>
                    <a:pt x="1406" y="1686"/>
                  </a:lnTo>
                  <a:lnTo>
                    <a:pt x="1415" y="1717"/>
                  </a:lnTo>
                  <a:lnTo>
                    <a:pt x="1425" y="1748"/>
                  </a:lnTo>
                  <a:lnTo>
                    <a:pt x="1436" y="1778"/>
                  </a:lnTo>
                  <a:lnTo>
                    <a:pt x="1448" y="1808"/>
                  </a:lnTo>
                  <a:lnTo>
                    <a:pt x="1461" y="1839"/>
                  </a:lnTo>
                  <a:lnTo>
                    <a:pt x="1474" y="1868"/>
                  </a:lnTo>
                  <a:lnTo>
                    <a:pt x="1488" y="1897"/>
                  </a:lnTo>
                  <a:lnTo>
                    <a:pt x="1503" y="1925"/>
                  </a:lnTo>
                  <a:lnTo>
                    <a:pt x="1517" y="1954"/>
                  </a:lnTo>
                  <a:lnTo>
                    <a:pt x="1533" y="1983"/>
                  </a:lnTo>
                  <a:lnTo>
                    <a:pt x="1550" y="2010"/>
                  </a:lnTo>
                  <a:lnTo>
                    <a:pt x="1568" y="2036"/>
                  </a:lnTo>
                  <a:lnTo>
                    <a:pt x="1586" y="2063"/>
                  </a:lnTo>
                  <a:lnTo>
                    <a:pt x="1604" y="2089"/>
                  </a:lnTo>
                  <a:lnTo>
                    <a:pt x="1623" y="2115"/>
                  </a:lnTo>
                  <a:lnTo>
                    <a:pt x="1643" y="2140"/>
                  </a:lnTo>
                  <a:lnTo>
                    <a:pt x="1664" y="2165"/>
                  </a:lnTo>
                  <a:lnTo>
                    <a:pt x="1685" y="2189"/>
                  </a:lnTo>
                  <a:lnTo>
                    <a:pt x="1706" y="2213"/>
                  </a:lnTo>
                  <a:lnTo>
                    <a:pt x="1728" y="2237"/>
                  </a:lnTo>
                  <a:lnTo>
                    <a:pt x="1751" y="2259"/>
                  </a:lnTo>
                  <a:lnTo>
                    <a:pt x="1774" y="2282"/>
                  </a:lnTo>
                  <a:lnTo>
                    <a:pt x="1797" y="2303"/>
                  </a:lnTo>
                  <a:lnTo>
                    <a:pt x="1822" y="2324"/>
                  </a:lnTo>
                  <a:lnTo>
                    <a:pt x="1847" y="2345"/>
                  </a:lnTo>
                  <a:lnTo>
                    <a:pt x="1873" y="2365"/>
                  </a:lnTo>
                  <a:lnTo>
                    <a:pt x="1899" y="2384"/>
                  </a:lnTo>
                  <a:lnTo>
                    <a:pt x="1925" y="2403"/>
                  </a:lnTo>
                  <a:lnTo>
                    <a:pt x="1952" y="2421"/>
                  </a:lnTo>
                  <a:lnTo>
                    <a:pt x="1979" y="2438"/>
                  </a:lnTo>
                  <a:lnTo>
                    <a:pt x="2007" y="2455"/>
                  </a:lnTo>
                  <a:lnTo>
                    <a:pt x="2035" y="2472"/>
                  </a:lnTo>
                  <a:lnTo>
                    <a:pt x="2063" y="2487"/>
                  </a:lnTo>
                  <a:lnTo>
                    <a:pt x="2092" y="2502"/>
                  </a:lnTo>
                  <a:lnTo>
                    <a:pt x="2121" y="2517"/>
                  </a:lnTo>
                  <a:lnTo>
                    <a:pt x="2152" y="2530"/>
                  </a:lnTo>
                  <a:lnTo>
                    <a:pt x="2181" y="2542"/>
                  </a:lnTo>
                  <a:lnTo>
                    <a:pt x="2212" y="2555"/>
                  </a:lnTo>
                  <a:lnTo>
                    <a:pt x="2243" y="2566"/>
                  </a:lnTo>
                  <a:lnTo>
                    <a:pt x="2274" y="2577"/>
                  </a:lnTo>
                  <a:lnTo>
                    <a:pt x="2306" y="2587"/>
                  </a:lnTo>
                  <a:lnTo>
                    <a:pt x="2338" y="2596"/>
                  </a:lnTo>
                  <a:lnTo>
                    <a:pt x="2370" y="2605"/>
                  </a:lnTo>
                  <a:lnTo>
                    <a:pt x="2402" y="2613"/>
                  </a:lnTo>
                  <a:lnTo>
                    <a:pt x="2436" y="2620"/>
                  </a:lnTo>
                  <a:lnTo>
                    <a:pt x="2469" y="2626"/>
                  </a:lnTo>
                  <a:lnTo>
                    <a:pt x="2503" y="2631"/>
                  </a:lnTo>
                  <a:lnTo>
                    <a:pt x="2536" y="2636"/>
                  </a:lnTo>
                  <a:lnTo>
                    <a:pt x="2570" y="2640"/>
                  </a:lnTo>
                  <a:lnTo>
                    <a:pt x="2605" y="2643"/>
                  </a:lnTo>
                  <a:lnTo>
                    <a:pt x="2639" y="2645"/>
                  </a:lnTo>
                  <a:lnTo>
                    <a:pt x="2673" y="2646"/>
                  </a:lnTo>
                  <a:lnTo>
                    <a:pt x="2708" y="264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77" name="文本框 1027"/>
          <p:cNvSpPr txBox="1"/>
          <p:nvPr/>
        </p:nvSpPr>
        <p:spPr>
          <a:xfrm>
            <a:off x="9417050" y="3780155"/>
            <a:ext cx="1783080" cy="3695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no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/>
              <a:t>报告人：潘显聪</a:t>
            </a:r>
            <a:endParaRPr lang="zh-CN" altLang="en-US" sz="1800" dirty="0"/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/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/>
          </a:p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1800" dirty="0"/>
          </a:p>
        </p:txBody>
      </p:sp>
      <p:sp>
        <p:nvSpPr>
          <p:cNvPr id="1068" name="矩形 1067"/>
          <p:cNvSpPr/>
          <p:nvPr/>
        </p:nvSpPr>
        <p:spPr>
          <a:xfrm>
            <a:off x="1091565" y="1799590"/>
            <a:ext cx="10565130" cy="2852420"/>
          </a:xfrm>
          <a:prstGeom prst="rect">
            <a:avLst/>
          </a:prstGeom>
          <a:noFill/>
          <a:ln w="2540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69" name="矩形 1068"/>
          <p:cNvSpPr/>
          <p:nvPr/>
        </p:nvSpPr>
        <p:spPr>
          <a:xfrm>
            <a:off x="11306175" y="4276408"/>
            <a:ext cx="476250" cy="4762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11545253" y="4549458"/>
            <a:ext cx="474663" cy="474663"/>
          </a:xfrm>
          <a:prstGeom prst="rect">
            <a:avLst/>
          </a:prstGeom>
          <a:solidFill>
            <a:srgbClr val="4B649F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765810" y="1557973"/>
            <a:ext cx="474663" cy="474663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985520" y="1683068"/>
            <a:ext cx="474663" cy="474663"/>
          </a:xfrm>
          <a:prstGeom prst="rect">
            <a:avLst/>
          </a:prstGeom>
          <a:solidFill>
            <a:srgbClr val="4B64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083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44988" cy="1033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221865" y="4115435"/>
            <a:ext cx="9070975" cy="4635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altLang="zh-CN" dirty="0">
                <a:latin typeface="+mn-ea"/>
                <a:ea typeface="+mn-ea"/>
              </a:rPr>
              <a:t>NeurIPS 2024</a:t>
            </a:r>
            <a:endParaRPr lang="en-US" altLang="zh-CN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44988" cy="1033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矩形 14"/>
          <p:cNvSpPr/>
          <p:nvPr/>
        </p:nvSpPr>
        <p:spPr>
          <a:xfrm>
            <a:off x="959204" y="1168401"/>
            <a:ext cx="2322476" cy="5058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+mj-ea"/>
                <a:ea typeface="+mj-ea"/>
              </a:rPr>
              <a:t>背景</a:t>
            </a:r>
            <a:endParaRPr lang="zh-CN" altLang="en-US" sz="2000" dirty="0">
              <a:latin typeface="+mj-ea"/>
              <a:ea typeface="+mj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-635" y="2037080"/>
            <a:ext cx="1219200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l">
              <a:lnSpc>
                <a:spcPct val="150000"/>
              </a:lnSpc>
            </a:pPr>
            <a:r>
              <a:rPr lang="zh-CN" altLang="en-US" sz="2000" dirty="0">
                <a:effectLst/>
              </a:rPr>
              <a:t>首先，基础模型通常需要经过微调甚至持续预训练才能应用于下游任务，这导致参数更新，使得所得模型与原始基础模型不同，从而使识别基础模型变得具有争议性。</a:t>
            </a:r>
            <a:endParaRPr lang="zh-CN" altLang="en-US" sz="2000" dirty="0">
              <a:effectLst/>
            </a:endParaRPr>
          </a:p>
          <a:p>
            <a:pPr indent="457200" algn="l">
              <a:lnSpc>
                <a:spcPct val="150000"/>
              </a:lnSpc>
            </a:pPr>
            <a:r>
              <a:rPr lang="zh-CN" altLang="en-US" sz="2000" dirty="0">
                <a:effectLst/>
              </a:rPr>
              <a:t>其次，许多流行的</a:t>
            </a:r>
            <a:r>
              <a:rPr lang="en-US" altLang="zh-CN" sz="2000" dirty="0">
                <a:effectLst/>
              </a:rPr>
              <a:t>LLM</a:t>
            </a:r>
            <a:r>
              <a:rPr lang="zh-CN" altLang="en-US" sz="2000" dirty="0">
                <a:effectLst/>
              </a:rPr>
              <a:t>并不公开其参数，这使得识别工作处于黑盒环境中</a:t>
            </a:r>
            <a:r>
              <a:rPr lang="zh-CN" altLang="en-US" sz="2000" dirty="0">
                <a:effectLst/>
              </a:rPr>
              <a:t>。</a:t>
            </a:r>
            <a:endParaRPr lang="zh-CN" altLang="en-US" sz="2000" dirty="0">
              <a:effectLst/>
            </a:endParaRPr>
          </a:p>
          <a:p>
            <a:pPr indent="457200" algn="l">
              <a:lnSpc>
                <a:spcPct val="150000"/>
              </a:lnSpc>
            </a:pPr>
            <a:r>
              <a:rPr lang="zh-CN" altLang="en-US" sz="2000" dirty="0">
                <a:solidFill>
                  <a:srgbClr val="0B1F3A"/>
                </a:solidFill>
                <a:effectLst/>
                <a:latin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第三，传统神经网络水印方法并不完全适合</a:t>
            </a:r>
            <a:r>
              <a:rPr lang="en-US" altLang="zh-CN" sz="2000" dirty="0">
                <a:solidFill>
                  <a:srgbClr val="0B1F3A"/>
                </a:solidFill>
                <a:effectLst/>
                <a:latin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LLM</a:t>
            </a:r>
            <a:r>
              <a:rPr lang="zh-CN" altLang="en-US" sz="2000" dirty="0">
                <a:solidFill>
                  <a:srgbClr val="0B1F3A"/>
                </a:solidFill>
                <a:effectLst/>
                <a:latin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。因为传统水印通常依赖特定任务、特定触发词，或者会修改模型预测分布。这些方法可能会影响模型性能，也可能被文本改写、编辑攻击或者后续微调规避。</a:t>
            </a:r>
            <a:endParaRPr lang="zh-CN" altLang="en-US" sz="2000" dirty="0">
              <a:effectLst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22245" y="4909185"/>
            <a:ext cx="67468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buNone/>
            </a:pPr>
            <a:r>
              <a:rPr lang="en-US" sz="1800" b="1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目标：不干扰训练、不暴露参数，同时能识别模型的基座来源</a:t>
            </a:r>
            <a:endParaRPr lang="en-US" altLang="en-US" sz="1800" b="1" dirty="0">
              <a:solidFill>
                <a:srgbClr val="FF0000"/>
              </a:solidFill>
              <a:latin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44988" cy="1033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959204" y="1168401"/>
            <a:ext cx="2322476" cy="5058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+mj-ea"/>
                <a:ea typeface="+mj-ea"/>
              </a:rPr>
              <a:t>方法</a:t>
            </a:r>
            <a:endParaRPr lang="zh-CN" altLang="en-US" sz="2000" dirty="0">
              <a:latin typeface="+mj-ea"/>
              <a:ea typeface="+mj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60" y="1945005"/>
            <a:ext cx="11180445" cy="2327275"/>
          </a:xfrm>
          <a:prstGeom prst="rect">
            <a:avLst/>
          </a:prstGeom>
        </p:spPr>
      </p:pic>
      <p:sp>
        <p:nvSpPr>
          <p:cNvPr id="5" name="Shape 5"/>
          <p:cNvSpPr/>
          <p:nvPr>
            <p:custDataLst>
              <p:tags r:id="rId3"/>
            </p:custDataLst>
          </p:nvPr>
        </p:nvSpPr>
        <p:spPr>
          <a:xfrm>
            <a:off x="822960" y="4685030"/>
            <a:ext cx="30175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DFEC">
                <a:alpha val="90000"/>
              </a:srgbClr>
            </a:solidFill>
            <a:prstDash val="solid"/>
          </a:ln>
        </p:spPr>
      </p:sp>
      <p:sp>
        <p:nvSpPr>
          <p:cNvPr id="6" name="Shape 6"/>
          <p:cNvSpPr/>
          <p:nvPr>
            <p:custDataLst>
              <p:tags r:id="rId4"/>
            </p:custDataLst>
          </p:nvPr>
        </p:nvSpPr>
        <p:spPr>
          <a:xfrm>
            <a:off x="822960" y="4685030"/>
            <a:ext cx="73152" cy="1051560"/>
          </a:xfrm>
          <a:prstGeom prst="rect">
            <a:avLst/>
          </a:prstGeom>
          <a:solidFill>
            <a:srgbClr val="2454A6"/>
          </a:solidFill>
          <a:ln w="12700">
            <a:solidFill>
              <a:srgbClr val="2454A6"/>
            </a:solidFill>
            <a:prstDash val="solid"/>
          </a:ln>
        </p:spPr>
      </p:sp>
      <p:sp>
        <p:nvSpPr>
          <p:cNvPr id="19" name="Text 7"/>
          <p:cNvSpPr/>
          <p:nvPr>
            <p:custDataLst>
              <p:tags r:id="rId5"/>
            </p:custDataLst>
          </p:nvPr>
        </p:nvSpPr>
        <p:spPr>
          <a:xfrm>
            <a:off x="1024128" y="484962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计算</a:t>
            </a:r>
            <a:r>
              <a:rPr lang="zh-CN" altLang="en-US" sz="1600" b="1" dirty="0">
                <a:solidFill>
                  <a:srgbClr val="0B1F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不变项</a:t>
            </a:r>
            <a:endParaRPr lang="zh-CN" altLang="en-US" sz="1600" b="1" dirty="0">
              <a:solidFill>
                <a:srgbClr val="0B1F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Text 8"/>
          <p:cNvSpPr/>
          <p:nvPr>
            <p:custDataLst>
              <p:tags r:id="rId6"/>
            </p:custDataLst>
          </p:nvPr>
        </p:nvSpPr>
        <p:spPr>
          <a:xfrm>
            <a:off x="1024128" y="5215382"/>
            <a:ext cx="2651760" cy="393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3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只在模型拥有者侧读取权重并构造</a:t>
            </a:r>
            <a:r>
              <a:rPr lang="zh-CN" altLang="en-US" sz="1400" dirty="0">
                <a:solidFill>
                  <a:srgbClr val="53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模型不变项</a:t>
            </a:r>
            <a:r>
              <a:rPr lang="en-US" sz="1400" dirty="0">
                <a:solidFill>
                  <a:srgbClr val="53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400" dirty="0">
              <a:solidFill>
                <a:srgbClr val="5362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Shape 9"/>
          <p:cNvSpPr/>
          <p:nvPr>
            <p:custDataLst>
              <p:tags r:id="rId7"/>
            </p:custDataLst>
          </p:nvPr>
        </p:nvSpPr>
        <p:spPr>
          <a:xfrm>
            <a:off x="4526280" y="4685030"/>
            <a:ext cx="30175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DFEC">
                <a:alpha val="90000"/>
              </a:srgbClr>
            </a:solidFill>
            <a:prstDash val="solid"/>
          </a:ln>
        </p:spPr>
      </p:sp>
      <p:sp>
        <p:nvSpPr>
          <p:cNvPr id="22" name="Shape 10"/>
          <p:cNvSpPr/>
          <p:nvPr>
            <p:custDataLst>
              <p:tags r:id="rId8"/>
            </p:custDataLst>
          </p:nvPr>
        </p:nvSpPr>
        <p:spPr>
          <a:xfrm>
            <a:off x="4526280" y="4685030"/>
            <a:ext cx="73152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11"/>
          <p:cNvSpPr/>
          <p:nvPr>
            <p:custDataLst>
              <p:tags r:id="rId9"/>
            </p:custDataLst>
          </p:nvPr>
        </p:nvSpPr>
        <p:spPr>
          <a:xfrm>
            <a:off x="4727448" y="484962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</a:t>
            </a:r>
            <a:r>
              <a:rPr lang="zh-CN" altLang="en-US" sz="1600" b="1" dirty="0">
                <a:solidFill>
                  <a:srgbClr val="0B1F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可读指纹</a:t>
            </a:r>
            <a:r>
              <a:rPr lang="zh-CN" altLang="en-US" sz="1600" b="1" dirty="0">
                <a:solidFill>
                  <a:srgbClr val="0B1F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</a:t>
            </a:r>
            <a:endParaRPr lang="zh-CN" altLang="en-US" sz="1600" b="1" dirty="0">
              <a:solidFill>
                <a:srgbClr val="0B1F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Text 12"/>
          <p:cNvSpPr/>
          <p:nvPr>
            <p:custDataLst>
              <p:tags r:id="rId10"/>
            </p:custDataLst>
          </p:nvPr>
        </p:nvSpPr>
        <p:spPr>
          <a:xfrm>
            <a:off x="4727448" y="5215382"/>
            <a:ext cx="2651760" cy="393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3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通过编码器与 StyleGAN2 生成“人类可读”的自然图像指纹。</a:t>
            </a:r>
            <a:endParaRPr lang="en-US" sz="1400" dirty="0">
              <a:solidFill>
                <a:srgbClr val="5362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Shape 13"/>
          <p:cNvSpPr/>
          <p:nvPr>
            <p:custDataLst>
              <p:tags r:id="rId11"/>
            </p:custDataLst>
          </p:nvPr>
        </p:nvSpPr>
        <p:spPr>
          <a:xfrm>
            <a:off x="8229600" y="4685030"/>
            <a:ext cx="30175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7DFEC">
                <a:alpha val="90000"/>
              </a:srgbClr>
            </a:solidFill>
            <a:prstDash val="solid"/>
          </a:ln>
        </p:spPr>
      </p:sp>
      <p:sp>
        <p:nvSpPr>
          <p:cNvPr id="26" name="Shape 14"/>
          <p:cNvSpPr/>
          <p:nvPr>
            <p:custDataLst>
              <p:tags r:id="rId12"/>
            </p:custDataLst>
          </p:nvPr>
        </p:nvSpPr>
        <p:spPr>
          <a:xfrm>
            <a:off x="8229600" y="4685030"/>
            <a:ext cx="73152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15"/>
          <p:cNvSpPr/>
          <p:nvPr>
            <p:custDataLst>
              <p:tags r:id="rId13"/>
            </p:custDataLst>
          </p:nvPr>
        </p:nvSpPr>
        <p:spPr>
          <a:xfrm>
            <a:off x="8430768" y="484962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</a:t>
            </a:r>
            <a:r>
              <a:rPr lang="zh-CN" altLang="en-US" sz="1600" b="1" dirty="0">
                <a:solidFill>
                  <a:srgbClr val="0B1F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指纹发布与</a:t>
            </a:r>
            <a:r>
              <a:rPr lang="zh-CN" altLang="en-US" sz="1600" b="1" dirty="0">
                <a:solidFill>
                  <a:srgbClr val="0B1F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</a:t>
            </a:r>
            <a:endParaRPr lang="zh-CN" altLang="en-US" sz="1600" b="1" dirty="0">
              <a:solidFill>
                <a:srgbClr val="0B1F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8" name="Text 16"/>
          <p:cNvSpPr/>
          <p:nvPr>
            <p:custDataLst>
              <p:tags r:id="rId14"/>
            </p:custDataLst>
          </p:nvPr>
        </p:nvSpPr>
        <p:spPr>
          <a:xfrm>
            <a:off x="8430768" y="5215382"/>
            <a:ext cx="2651760" cy="3931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3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ZKP 证明指纹确由承诺模型生成，避免参数泄露。</a:t>
            </a:r>
            <a:endParaRPr lang="en-US" sz="1400" dirty="0">
              <a:solidFill>
                <a:srgbClr val="5362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281680" y="6069965"/>
            <a:ext cx="5536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 dirty="0">
                <a:solidFill>
                  <a:srgbClr val="E72424"/>
                </a:solidFill>
                <a:latin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不干扰训练 / 不暴露参数 / 可直观识别同源基座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44988" cy="1033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959204" y="1168401"/>
            <a:ext cx="2322476" cy="5058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+mj-ea"/>
                <a:ea typeface="+mj-ea"/>
              </a:rPr>
              <a:t>方法</a:t>
            </a:r>
            <a:endParaRPr lang="zh-CN" altLang="en-US" sz="2000" dirty="0"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91635" y="1196975"/>
            <a:ext cx="5598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使用模型权重向量作为区分</a:t>
            </a:r>
            <a:r>
              <a:rPr lang="zh-CN" altLang="en-US"/>
              <a:t>证据的充分</a:t>
            </a:r>
            <a:r>
              <a:rPr lang="zh-CN" altLang="en-US"/>
              <a:t>必要性</a:t>
            </a:r>
            <a:endParaRPr lang="zh-CN" altLang="en-US"/>
          </a:p>
        </p:txBody>
      </p:sp>
      <p:pic>
        <p:nvPicPr>
          <p:cNvPr id="11" name="Image 1" descr="/mnt/data/huref_tabl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68805"/>
            <a:ext cx="6629400" cy="2185670"/>
          </a:xfrm>
          <a:prstGeom prst="rect">
            <a:avLst/>
          </a:prstGeom>
        </p:spPr>
      </p:pic>
      <p:pic>
        <p:nvPicPr>
          <p:cNvPr id="12" name="Image 2" descr="/mnt/data/huref_fig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0" y="1868805"/>
            <a:ext cx="3456305" cy="218567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39445" y="4855845"/>
            <a:ext cx="108864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充分性：</a:t>
            </a:r>
            <a:r>
              <a:rPr lang="en-US" dirty="0">
                <a:solidFill>
                  <a:srgbClr val="000000"/>
                </a:solidFill>
                <a:latin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同一基座的不同派生模型（SFT、LoRA、RLHF、继续预训练等）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参数向量</a:t>
            </a:r>
            <a:r>
              <a:rPr lang="en-US" dirty="0">
                <a:solidFill>
                  <a:srgbClr val="000000"/>
                </a:solidFill>
                <a:latin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高度相似。独立预训练模型与 LLaMA-7B 的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参数向量余弦</a:t>
            </a:r>
            <a:r>
              <a:rPr lang="en-US" dirty="0">
                <a:solidFill>
                  <a:srgbClr val="000000"/>
                </a:solidFill>
                <a:latin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相似度接近 0。</a:t>
            </a:r>
            <a:endParaRPr lang="en-US" dirty="0">
              <a:solidFill>
                <a:srgbClr val="000000"/>
              </a:solidFill>
              <a:latin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endParaRPr lang="zh-CN" altLang="en-US"/>
          </a:p>
          <a:p>
            <a:r>
              <a:rPr lang="zh-CN" altLang="en-US"/>
              <a:t>必要性：</a:t>
            </a:r>
            <a:r>
              <a:rPr lang="en-US" dirty="0">
                <a:solidFill>
                  <a:srgbClr val="000000"/>
                </a:solidFill>
                <a:latin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若在训练中强行让参数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余弦相似度</a:t>
            </a:r>
            <a:r>
              <a:rPr lang="en-US" dirty="0">
                <a:solidFill>
                  <a:srgbClr val="000000"/>
                </a:solidFill>
                <a:latin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远离基座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模型</a:t>
            </a:r>
            <a:r>
              <a:rPr lang="en-US" dirty="0">
                <a:solidFill>
                  <a:srgbClr val="000000"/>
                </a:solidFill>
                <a:latin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，模型能力迅速损坏。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44988" cy="1033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959204" y="1168401"/>
            <a:ext cx="2322476" cy="5058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+mj-ea"/>
                <a:ea typeface="+mj-ea"/>
              </a:rPr>
              <a:t>方法</a:t>
            </a:r>
            <a:endParaRPr lang="zh-CN" altLang="en-US" sz="2000" dirty="0"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91635" y="1196975"/>
            <a:ext cx="5598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为什么不直接比较参数权重向量</a:t>
            </a:r>
            <a:r>
              <a:rPr lang="en-US" altLang="zh-CN"/>
              <a:t>--</a:t>
            </a:r>
            <a:r>
              <a:rPr lang="zh-CN" altLang="en-US">
                <a:solidFill>
                  <a:srgbClr val="FF0000"/>
                </a:solidFill>
              </a:rPr>
              <a:t>权重重排攻击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6" name="Image 1" descr="/mnt/data/huref_fi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740" y="2017395"/>
            <a:ext cx="3123565" cy="3780155"/>
          </a:xfrm>
          <a:prstGeom prst="rect">
            <a:avLst/>
          </a:prstGeom>
        </p:spPr>
      </p:pic>
      <p:sp>
        <p:nvSpPr>
          <p:cNvPr id="8" name="Shape 5"/>
          <p:cNvSpPr/>
          <p:nvPr>
            <p:custDataLst>
              <p:tags r:id="rId3"/>
            </p:custDataLst>
          </p:nvPr>
        </p:nvSpPr>
        <p:spPr>
          <a:xfrm>
            <a:off x="6388100" y="172847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DFEC">
                <a:alpha val="90000"/>
              </a:srgbClr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4"/>
            </p:custDataLst>
          </p:nvPr>
        </p:nvSpPr>
        <p:spPr>
          <a:xfrm>
            <a:off x="6388100" y="1728470"/>
            <a:ext cx="73152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6589268" y="189306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</a:t>
            </a:r>
            <a:r>
              <a:rPr lang="en-US" sz="1600" b="1" dirty="0">
                <a:solidFill>
                  <a:srgbClr val="0B1F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ttention 线性映射</a:t>
            </a:r>
            <a:r>
              <a:rPr lang="zh-CN" altLang="en-US" sz="1600" b="1" dirty="0">
                <a:solidFill>
                  <a:srgbClr val="0B1F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</a:t>
            </a:r>
            <a:endParaRPr lang="zh-CN" altLang="en-US" sz="1600" b="1" dirty="0">
              <a:solidFill>
                <a:srgbClr val="0B1F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" name="Text 8"/>
          <p:cNvSpPr/>
          <p:nvPr>
            <p:custDataLst>
              <p:tags r:id="rId6"/>
            </p:custDataLst>
          </p:nvPr>
        </p:nvSpPr>
        <p:spPr>
          <a:xfrm>
            <a:off x="6589268" y="2258822"/>
            <a:ext cx="3200400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3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 WQ/WK 或 WV/WO 成对可逆变换，乘积不变但参数</a:t>
            </a:r>
            <a:r>
              <a:rPr lang="zh-CN" altLang="en-US" sz="1400" dirty="0">
                <a:solidFill>
                  <a:srgbClr val="53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向量</a:t>
            </a:r>
            <a:r>
              <a:rPr lang="en-US" sz="1400" dirty="0">
                <a:solidFill>
                  <a:srgbClr val="53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改变。</a:t>
            </a:r>
            <a:endParaRPr lang="en-US" sz="1400" dirty="0">
              <a:solidFill>
                <a:srgbClr val="5362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Shape 9"/>
          <p:cNvSpPr/>
          <p:nvPr>
            <p:custDataLst>
              <p:tags r:id="rId7"/>
            </p:custDataLst>
          </p:nvPr>
        </p:nvSpPr>
        <p:spPr>
          <a:xfrm>
            <a:off x="6388100" y="332867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DFEC">
                <a:alpha val="90000"/>
              </a:srgbClr>
            </a:solidFill>
            <a:prstDash val="solid"/>
          </a:ln>
        </p:spPr>
      </p:sp>
      <p:sp>
        <p:nvSpPr>
          <p:cNvPr id="7" name="Shape 10"/>
          <p:cNvSpPr/>
          <p:nvPr>
            <p:custDataLst>
              <p:tags r:id="rId8"/>
            </p:custDataLst>
          </p:nvPr>
        </p:nvSpPr>
        <p:spPr>
          <a:xfrm>
            <a:off x="6388100" y="3328670"/>
            <a:ext cx="7315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6589268" y="349326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FFN 置换</a:t>
            </a:r>
            <a:r>
              <a:rPr lang="zh-CN" altLang="en-US" sz="1600" b="1" dirty="0">
                <a:solidFill>
                  <a:srgbClr val="0B1F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</a:t>
            </a:r>
            <a:endParaRPr lang="zh-CN" altLang="en-US" sz="1600" b="1" dirty="0">
              <a:solidFill>
                <a:srgbClr val="0B1F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6589268" y="3859022"/>
            <a:ext cx="3200400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3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随机置换</a:t>
            </a:r>
            <a:r>
              <a:rPr lang="zh-CN" altLang="en-US" sz="1400" dirty="0">
                <a:solidFill>
                  <a:srgbClr val="53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前馈神经网络的</a:t>
            </a:r>
            <a:r>
              <a:rPr lang="en-US" sz="1400" dirty="0">
                <a:solidFill>
                  <a:srgbClr val="53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中间隐藏单元，并同步调整 W1、W2、b1。</a:t>
            </a:r>
            <a:endParaRPr lang="en-US" sz="1400" dirty="0">
              <a:solidFill>
                <a:srgbClr val="5362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Shape 13"/>
          <p:cNvSpPr/>
          <p:nvPr>
            <p:custDataLst>
              <p:tags r:id="rId11"/>
            </p:custDataLst>
          </p:nvPr>
        </p:nvSpPr>
        <p:spPr>
          <a:xfrm>
            <a:off x="6388100" y="492887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DFEC">
                <a:alpha val="90000"/>
              </a:srgbClr>
            </a:solidFill>
            <a:prstDash val="solid"/>
          </a:ln>
        </p:spPr>
      </p:sp>
      <p:sp>
        <p:nvSpPr>
          <p:cNvPr id="17" name="Shape 14"/>
          <p:cNvSpPr/>
          <p:nvPr>
            <p:custDataLst>
              <p:tags r:id="rId12"/>
            </p:custDataLst>
          </p:nvPr>
        </p:nvSpPr>
        <p:spPr>
          <a:xfrm>
            <a:off x="6388100" y="4928870"/>
            <a:ext cx="73152" cy="1097280"/>
          </a:xfrm>
          <a:prstGeom prst="rect">
            <a:avLst/>
          </a:prstGeom>
          <a:solidFill>
            <a:srgbClr val="34A8C7"/>
          </a:solidFill>
          <a:ln w="12700">
            <a:solidFill>
              <a:srgbClr val="34A8C7"/>
            </a:solidFill>
            <a:prstDash val="solid"/>
          </a:ln>
        </p:spPr>
      </p:sp>
      <p:sp>
        <p:nvSpPr>
          <p:cNvPr id="18" name="Text 15"/>
          <p:cNvSpPr/>
          <p:nvPr>
            <p:custDataLst>
              <p:tags r:id="rId13"/>
            </p:custDataLst>
          </p:nvPr>
        </p:nvSpPr>
        <p:spPr>
          <a:xfrm>
            <a:off x="6589268" y="509346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0B1F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词嵌入</a:t>
            </a:r>
            <a:r>
              <a:rPr lang="en-US" sz="1600" b="1" dirty="0">
                <a:solidFill>
                  <a:srgbClr val="0B1F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维度置换</a:t>
            </a:r>
            <a:r>
              <a:rPr lang="zh-CN" altLang="en-US" sz="1600" b="1" dirty="0">
                <a:solidFill>
                  <a:srgbClr val="0B1F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攻击</a:t>
            </a:r>
            <a:endParaRPr lang="zh-CN" altLang="en-US" sz="1600" b="1" dirty="0">
              <a:solidFill>
                <a:srgbClr val="0B1F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6"/>
          <p:cNvSpPr/>
          <p:nvPr>
            <p:custDataLst>
              <p:tags r:id="rId14"/>
            </p:custDataLst>
          </p:nvPr>
        </p:nvSpPr>
        <p:spPr>
          <a:xfrm>
            <a:off x="6589268" y="5459222"/>
            <a:ext cx="3200400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3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对词嵌入维度及后续相关权重同步置换，模型</a:t>
            </a:r>
            <a:r>
              <a:rPr lang="zh-CN" altLang="en-US" sz="1400" dirty="0">
                <a:solidFill>
                  <a:srgbClr val="53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架构与</a:t>
            </a:r>
            <a:r>
              <a:rPr lang="en-US" sz="1400" dirty="0">
                <a:solidFill>
                  <a:srgbClr val="53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</a:t>
            </a:r>
            <a:r>
              <a:rPr lang="zh-CN" altLang="en-US" sz="1400" dirty="0">
                <a:solidFill>
                  <a:srgbClr val="53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均保持</a:t>
            </a:r>
            <a:r>
              <a:rPr lang="en-US" sz="1400" dirty="0">
                <a:solidFill>
                  <a:srgbClr val="5362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不变。</a:t>
            </a:r>
            <a:endParaRPr lang="en-US" sz="1400" dirty="0">
              <a:solidFill>
                <a:srgbClr val="5362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602740" y="6249670"/>
            <a:ext cx="8590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dirty="0">
                <a:solidFill>
                  <a:srgbClr val="E72424"/>
                </a:solidFill>
                <a:latin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这些攻击不改变模型性能，却会让展平参数向量的方向“看起来像新模型”。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5289550" y="1728470"/>
            <a:ext cx="5818505" cy="4934585"/>
          </a:xfrm>
          <a:prstGeom prst="roundRect">
            <a:avLst>
              <a:gd name="adj" fmla="val 6820"/>
            </a:avLst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8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44988" cy="1033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959204" y="1168401"/>
            <a:ext cx="2322476" cy="5058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+mj-ea"/>
                <a:ea typeface="+mj-ea"/>
              </a:rPr>
              <a:t>方法</a:t>
            </a:r>
            <a:endParaRPr lang="zh-CN" altLang="en-US" sz="2000" dirty="0"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91635" y="1196975"/>
            <a:ext cx="5598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线性映射</a:t>
            </a:r>
            <a:r>
              <a:rPr lang="zh-CN" altLang="en-US"/>
              <a:t>攻击</a:t>
            </a:r>
            <a:endParaRPr lang="zh-CN" altLang="en-US"/>
          </a:p>
        </p:txBody>
      </p:sp>
      <p:pic>
        <p:nvPicPr>
          <p:cNvPr id="6" name="Image 1" descr="/mnt/data/huref_fi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70" y="1728470"/>
            <a:ext cx="3123565" cy="37801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62600"/>
            <a:ext cx="5099050" cy="10248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804670"/>
            <a:ext cx="4000500" cy="50165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1645" y="2470785"/>
            <a:ext cx="5314315" cy="40754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5289550" y="1728470"/>
            <a:ext cx="5818505" cy="4934585"/>
          </a:xfrm>
          <a:prstGeom prst="roundRect">
            <a:avLst>
              <a:gd name="adj" fmla="val 6820"/>
            </a:avLst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8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44988" cy="1033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959204" y="1168401"/>
            <a:ext cx="2322476" cy="5058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+mj-ea"/>
                <a:ea typeface="+mj-ea"/>
              </a:rPr>
              <a:t>方法</a:t>
            </a:r>
            <a:endParaRPr lang="zh-CN" altLang="en-US" sz="2000" dirty="0"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91635" y="1196975"/>
            <a:ext cx="5598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FFN </a:t>
            </a:r>
            <a:r>
              <a:rPr lang="zh-CN" altLang="en-US"/>
              <a:t>置换攻击</a:t>
            </a:r>
            <a:endParaRPr lang="zh-CN" altLang="en-US"/>
          </a:p>
        </p:txBody>
      </p:sp>
      <p:pic>
        <p:nvPicPr>
          <p:cNvPr id="6" name="Image 1" descr="/mnt/data/huref_fi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70" y="1728470"/>
            <a:ext cx="3123565" cy="37801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62600"/>
            <a:ext cx="5099050" cy="10248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6165" y="2329815"/>
            <a:ext cx="4105275" cy="42576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6560" y="1839595"/>
            <a:ext cx="5501005" cy="412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5289550" y="1728470"/>
            <a:ext cx="5818505" cy="4934585"/>
          </a:xfrm>
          <a:prstGeom prst="roundRect">
            <a:avLst>
              <a:gd name="adj" fmla="val 6820"/>
            </a:avLst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8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44988" cy="1033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959204" y="1168401"/>
            <a:ext cx="2322476" cy="5058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+mj-ea"/>
                <a:ea typeface="+mj-ea"/>
              </a:rPr>
              <a:t>方法</a:t>
            </a:r>
            <a:endParaRPr lang="zh-CN" altLang="en-US" sz="2000" dirty="0"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91635" y="1196975"/>
            <a:ext cx="5598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词嵌入维度置换攻击</a:t>
            </a:r>
            <a:endParaRPr lang="zh-CN" altLang="en-US"/>
          </a:p>
        </p:txBody>
      </p:sp>
      <p:pic>
        <p:nvPicPr>
          <p:cNvPr id="6" name="Image 1" descr="/mnt/data/huref_fi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70" y="1728470"/>
            <a:ext cx="3123565" cy="37801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62600"/>
            <a:ext cx="5099050" cy="10248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7975" y="1970405"/>
            <a:ext cx="5622290" cy="5594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1340" y="2650490"/>
            <a:ext cx="5041900" cy="3797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44988" cy="1033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959204" y="1168401"/>
            <a:ext cx="2322476" cy="5058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+mj-ea"/>
                <a:ea typeface="+mj-ea"/>
              </a:rPr>
              <a:t>方法</a:t>
            </a:r>
            <a:endParaRPr lang="zh-CN" altLang="en-US" sz="2000" dirty="0"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91635" y="1196975"/>
            <a:ext cx="5598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不变量项：在重排下保持稳定的结构表示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805" y="1920240"/>
            <a:ext cx="8455025" cy="4616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46480" y="2627630"/>
            <a:ext cx="92767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HuRef 根据 Transformer 结构，把注意力层与前馈层的关键权重组合起来，使线性变换和置换矩阵在乘法链中相互抵消。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466340" y="3429000"/>
            <a:ext cx="64376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 dirty="0">
                <a:solidFill>
                  <a:srgbClr val="E72424"/>
                </a:solidFill>
                <a:latin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既保留同源模型的高相似，又抵抗不改变输出的参数重排</a:t>
            </a:r>
            <a:r>
              <a:rPr lang="zh-CN" altLang="en-US" b="1" dirty="0">
                <a:solidFill>
                  <a:srgbClr val="E72424"/>
                </a:solidFill>
                <a:latin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攻击</a:t>
            </a:r>
            <a:endParaRPr lang="zh-CN" altLang="en-US" b="1" dirty="0">
              <a:solidFill>
                <a:srgbClr val="E72424"/>
              </a:solidFill>
              <a:latin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pic>
        <p:nvPicPr>
          <p:cNvPr id="12" name="Image 1" descr="/mnt/data/huref_tabl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455" y="4054475"/>
            <a:ext cx="6629400" cy="2185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44988" cy="1033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959204" y="1168401"/>
            <a:ext cx="2322476" cy="5058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+mj-ea"/>
                <a:ea typeface="+mj-ea"/>
              </a:rPr>
              <a:t>方法</a:t>
            </a:r>
            <a:endParaRPr lang="zh-CN" altLang="en-US" sz="2000" dirty="0"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91635" y="1196975"/>
            <a:ext cx="5598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将不变项映射到图像并通过零知识证明发布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820" y="1728470"/>
            <a:ext cx="8467725" cy="5022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44988" cy="1033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959204" y="1168401"/>
            <a:ext cx="2322476" cy="5058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+mj-ea"/>
                <a:ea typeface="+mj-ea"/>
              </a:rPr>
              <a:t>方法</a:t>
            </a:r>
            <a:endParaRPr lang="zh-CN" altLang="en-US" sz="2000" dirty="0"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91635" y="1196975"/>
            <a:ext cx="5598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零知识证明</a:t>
            </a:r>
            <a:endParaRPr lang="zh-CN" altLang="en-US"/>
          </a:p>
        </p:txBody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822960" y="1748155"/>
            <a:ext cx="2926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7DFEC">
                <a:alpha val="9000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8" name="Shape 6"/>
          <p:cNvSpPr/>
          <p:nvPr>
            <p:custDataLst>
              <p:tags r:id="rId3"/>
            </p:custDataLst>
          </p:nvPr>
        </p:nvSpPr>
        <p:spPr>
          <a:xfrm>
            <a:off x="822960" y="1748155"/>
            <a:ext cx="73152" cy="1188720"/>
          </a:xfrm>
          <a:prstGeom prst="rect">
            <a:avLst/>
          </a:prstGeom>
          <a:solidFill>
            <a:srgbClr val="2454A6"/>
          </a:solidFill>
          <a:ln w="12700">
            <a:solidFill>
              <a:srgbClr val="2454A6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1024128" y="1912747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公开</a:t>
            </a:r>
            <a:r>
              <a:rPr lang="en-US" sz="1600" b="1" dirty="0">
                <a:solidFill>
                  <a:srgbClr val="0B1F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commit cm</a:t>
            </a:r>
            <a:endParaRPr lang="en-US" sz="1600" dirty="0"/>
          </a:p>
        </p:txBody>
      </p:sp>
      <p:sp>
        <p:nvSpPr>
          <p:cNvPr id="11" name="Shape 9"/>
          <p:cNvSpPr/>
          <p:nvPr>
            <p:custDataLst>
              <p:tags r:id="rId5"/>
            </p:custDataLst>
          </p:nvPr>
        </p:nvSpPr>
        <p:spPr>
          <a:xfrm>
            <a:off x="4617720" y="1748155"/>
            <a:ext cx="2926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7DFEC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>
            <p:custDataLst>
              <p:tags r:id="rId6"/>
            </p:custDataLst>
          </p:nvPr>
        </p:nvSpPr>
        <p:spPr>
          <a:xfrm>
            <a:off x="4617720" y="1748155"/>
            <a:ext cx="73152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7"/>
            </p:custDataLst>
          </p:nvPr>
        </p:nvSpPr>
        <p:spPr>
          <a:xfrm>
            <a:off x="4818888" y="1912747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证明 π₁</a:t>
            </a:r>
            <a:endParaRPr lang="en-US" sz="1600" dirty="0"/>
          </a:p>
        </p:txBody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4744720" y="2278380"/>
            <a:ext cx="2764155" cy="658495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证明制造商知道承诺中的模型参数，并且不变量和</a:t>
            </a:r>
            <a:r>
              <a:rPr lang="zh-CN" altLang="en-US" sz="1250" dirty="0">
                <a:solidFill>
                  <a:srgbClr val="000000"/>
                </a:solidFill>
                <a:latin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是</a:t>
            </a:r>
            <a:r>
              <a:rPr lang="en-US" sz="1250" dirty="0">
                <a:solidFill>
                  <a:srgbClr val="000000"/>
                </a:solidFill>
                <a:latin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由这些参数正确计算。</a:t>
            </a:r>
            <a:endParaRPr lang="en-US" sz="1250" dirty="0"/>
          </a:p>
        </p:txBody>
      </p:sp>
      <p:sp>
        <p:nvSpPr>
          <p:cNvPr id="15" name="Shape 13"/>
          <p:cNvSpPr/>
          <p:nvPr>
            <p:custDataLst>
              <p:tags r:id="rId9"/>
            </p:custDataLst>
          </p:nvPr>
        </p:nvSpPr>
        <p:spPr>
          <a:xfrm>
            <a:off x="8412480" y="1748155"/>
            <a:ext cx="2926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7DFEC">
                <a:alpha val="90000"/>
              </a:srgbClr>
            </a:solidFill>
            <a:prstDash val="solid"/>
          </a:ln>
        </p:spPr>
      </p:sp>
      <p:sp>
        <p:nvSpPr>
          <p:cNvPr id="16" name="Shape 14"/>
          <p:cNvSpPr/>
          <p:nvPr>
            <p:custDataLst>
              <p:tags r:id="rId10"/>
            </p:custDataLst>
          </p:nvPr>
        </p:nvSpPr>
        <p:spPr>
          <a:xfrm>
            <a:off x="8412480" y="1748155"/>
            <a:ext cx="73152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11"/>
            </p:custDataLst>
          </p:nvPr>
        </p:nvSpPr>
        <p:spPr>
          <a:xfrm>
            <a:off x="8613648" y="1912747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0B1F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</a:t>
            </a:r>
            <a:endParaRPr lang="zh-CN" altLang="en-US" sz="1600" b="1" dirty="0">
              <a:solidFill>
                <a:srgbClr val="0B1F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Text 16"/>
          <p:cNvSpPr/>
          <p:nvPr>
            <p:custDataLst>
              <p:tags r:id="rId12"/>
            </p:custDataLst>
          </p:nvPr>
        </p:nvSpPr>
        <p:spPr>
          <a:xfrm>
            <a:off x="8613648" y="2278507"/>
            <a:ext cx="2560320" cy="53035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任何人可用公开的 cm、π₁ 和指纹进行验证，而无需看到模型权重。</a:t>
            </a:r>
            <a:endParaRPr lang="en-US" sz="1250" dirty="0"/>
          </a:p>
        </p:txBody>
      </p:sp>
      <p:sp>
        <p:nvSpPr>
          <p:cNvPr id="19" name="Shape 17"/>
          <p:cNvSpPr/>
          <p:nvPr>
            <p:custDataLst>
              <p:tags r:id="rId13"/>
            </p:custDataLst>
          </p:nvPr>
        </p:nvSpPr>
        <p:spPr>
          <a:xfrm>
            <a:off x="3931920" y="2086483"/>
            <a:ext cx="411480" cy="457200"/>
          </a:xfrm>
          <a:prstGeom prst="chevron">
            <a:avLst/>
          </a:prstGeom>
          <a:solidFill>
            <a:srgbClr val="536273"/>
          </a:solidFill>
          <a:ln w="12700">
            <a:solidFill>
              <a:srgbClr val="536273"/>
            </a:solidFill>
            <a:prstDash val="solid"/>
          </a:ln>
        </p:spPr>
      </p:sp>
      <p:sp>
        <p:nvSpPr>
          <p:cNvPr id="20" name="Shape 18"/>
          <p:cNvSpPr/>
          <p:nvPr>
            <p:custDataLst>
              <p:tags r:id="rId14"/>
            </p:custDataLst>
          </p:nvPr>
        </p:nvSpPr>
        <p:spPr>
          <a:xfrm>
            <a:off x="7726680" y="2086483"/>
            <a:ext cx="411480" cy="457200"/>
          </a:xfrm>
          <a:prstGeom prst="chevron">
            <a:avLst/>
          </a:prstGeom>
          <a:solidFill>
            <a:srgbClr val="536273"/>
          </a:solidFill>
          <a:ln w="12700">
            <a:solidFill>
              <a:srgbClr val="536273"/>
            </a:solidFill>
            <a:prstDash val="solid"/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7900" y="2169160"/>
            <a:ext cx="2654935" cy="25590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945515" y="2425065"/>
            <a:ext cx="27120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微软雅黑" panose="020B0503020204020204" pitchFamily="34" charset="-122"/>
                <a:cs typeface="微软雅黑" panose="020B0503020204020204" pitchFamily="34" charset="-122"/>
              </a:rPr>
              <a:t>承诺</a:t>
            </a:r>
            <a:r>
              <a:rPr lang="en-US" altLang="zh-CN" sz="1200">
                <a:latin typeface="微软雅黑" panose="020B0503020204020204" pitchFamily="34" charset="-122"/>
                <a:cs typeface="微软雅黑" panose="020B0503020204020204" pitchFamily="34" charset="-122"/>
              </a:rPr>
              <a:t>CM</a:t>
            </a:r>
            <a:r>
              <a:rPr lang="zh-CN" altLang="en-US" sz="1200">
                <a:latin typeface="微软雅黑" panose="020B0503020204020204" pitchFamily="34" charset="-122"/>
                <a:cs typeface="微软雅黑" panose="020B0503020204020204" pitchFamily="34" charset="-122"/>
              </a:rPr>
              <a:t>是公开的，不会透露任何关于该模型的信息</a:t>
            </a:r>
            <a:endParaRPr lang="zh-CN" altLang="en-US" sz="120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6"/>
          <a:srcRect b="14024"/>
          <a:stretch>
            <a:fillRect/>
          </a:stretch>
        </p:blipFill>
        <p:spPr>
          <a:xfrm>
            <a:off x="2061845" y="2964180"/>
            <a:ext cx="8035925" cy="38887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44988" cy="1033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959204" y="1168401"/>
            <a:ext cx="2322476" cy="5058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+mj-ea"/>
                <a:ea typeface="+mj-ea"/>
              </a:rPr>
              <a:t> 实验</a:t>
            </a:r>
            <a:r>
              <a:rPr lang="en-US" altLang="zh-CN" sz="2000" dirty="0">
                <a:latin typeface="+mj-ea"/>
                <a:ea typeface="+mj-ea"/>
              </a:rPr>
              <a:t>--</a:t>
            </a:r>
            <a:r>
              <a:rPr lang="zh-CN" altLang="en-US" sz="2000" dirty="0">
                <a:latin typeface="+mj-ea"/>
                <a:ea typeface="+mj-ea"/>
              </a:rPr>
              <a:t>有效性</a:t>
            </a:r>
            <a:endParaRPr lang="zh-CN" altLang="en-US" sz="2000" dirty="0">
              <a:latin typeface="+mj-ea"/>
              <a:ea typeface="+mj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465" y="1674495"/>
            <a:ext cx="9842500" cy="11874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465" y="3119755"/>
            <a:ext cx="9874250" cy="3327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44988" cy="1033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959204" y="1168401"/>
            <a:ext cx="2322476" cy="5058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+mj-ea"/>
                <a:ea typeface="+mj-ea"/>
              </a:rPr>
              <a:t> 实验</a:t>
            </a:r>
            <a:r>
              <a:rPr lang="en-US" altLang="zh-CN" sz="2000" dirty="0">
                <a:latin typeface="+mj-ea"/>
                <a:ea typeface="+mj-ea"/>
              </a:rPr>
              <a:t>--</a:t>
            </a:r>
            <a:r>
              <a:rPr lang="zh-CN" altLang="en-US" sz="2000" dirty="0">
                <a:latin typeface="+mj-ea"/>
                <a:ea typeface="+mj-ea"/>
              </a:rPr>
              <a:t>鲁棒性</a:t>
            </a:r>
            <a:endParaRPr lang="zh-CN" altLang="en-US" sz="2000" dirty="0">
              <a:latin typeface="+mj-ea"/>
              <a:ea typeface="+mj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19905" y="-1063625"/>
            <a:ext cx="3551555" cy="929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44988" cy="1033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959204" y="1168401"/>
            <a:ext cx="2322476" cy="505860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+mj-ea"/>
                <a:ea typeface="+mj-ea"/>
              </a:rPr>
              <a:t> 实验</a:t>
            </a:r>
            <a:r>
              <a:rPr lang="en-US" altLang="zh-CN" sz="2000" dirty="0">
                <a:latin typeface="+mj-ea"/>
                <a:ea typeface="+mj-ea"/>
              </a:rPr>
              <a:t>--</a:t>
            </a:r>
            <a:r>
              <a:rPr lang="zh-CN" altLang="en-US" sz="2000" dirty="0">
                <a:latin typeface="+mj-ea"/>
                <a:ea typeface="+mj-ea"/>
              </a:rPr>
              <a:t>基线对比</a:t>
            </a:r>
            <a:endParaRPr lang="zh-CN" altLang="en-US" sz="2000" dirty="0">
              <a:latin typeface="+mj-ea"/>
              <a:ea typeface="+mj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05" y="2330450"/>
            <a:ext cx="10766425" cy="16446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44988" cy="1033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959485" y="1168400"/>
            <a:ext cx="2512060" cy="506095"/>
          </a:xfrm>
          <a:prstGeom prst="rect">
            <a:avLst/>
          </a:prstGeom>
          <a:solidFill>
            <a:srgbClr val="004F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+mj-ea"/>
                <a:ea typeface="+mj-ea"/>
              </a:rPr>
              <a:t> 实验</a:t>
            </a:r>
            <a:r>
              <a:rPr lang="en-US" altLang="zh-CN" sz="2000" dirty="0">
                <a:latin typeface="+mj-ea"/>
                <a:ea typeface="+mj-ea"/>
              </a:rPr>
              <a:t>--</a:t>
            </a:r>
            <a:r>
              <a:rPr lang="zh-CN" altLang="en-US" sz="2000" dirty="0">
                <a:latin typeface="+mj-ea"/>
                <a:ea typeface="+mj-ea"/>
              </a:rPr>
              <a:t>可读指纹</a:t>
            </a:r>
            <a:r>
              <a:rPr lang="zh-CN" altLang="en-US" sz="2000" dirty="0">
                <a:latin typeface="+mj-ea"/>
                <a:ea typeface="+mj-ea"/>
              </a:rPr>
              <a:t>展示</a:t>
            </a:r>
            <a:endParaRPr lang="zh-CN" altLang="en-US" sz="2000" dirty="0">
              <a:latin typeface="+mj-ea"/>
              <a:ea typeface="+mj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" y="1740535"/>
            <a:ext cx="9347835" cy="469074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82.8,&quot;left&quot;:64.8,&quot;top&quot;:327.6,&quot;width&quot;:820.8}"/>
</p:tagLst>
</file>

<file path=ppt/tags/tag2.xml><?xml version="1.0" encoding="utf-8"?>
<p:tagLst xmlns:p="http://schemas.openxmlformats.org/presentationml/2006/main">
  <p:tag name="KSO_WM_DIAGRAM_VIRTUALLY_FRAME" val="{&quot;height&quot;:82.8,&quot;left&quot;:64.8,&quot;top&quot;:327.6,&quot;width&quot;:820.8}"/>
</p:tagLst>
</file>

<file path=ppt/tags/tag3.xml><?xml version="1.0" encoding="utf-8"?>
<p:tagLst xmlns:p="http://schemas.openxmlformats.org/presentationml/2006/main">
  <p:tag name="KSO_WM_DIAGRAM_VIRTUALLY_FRAME" val="{&quot;height&quot;:82.8,&quot;left&quot;:64.8,&quot;top&quot;:327.6,&quot;width&quot;:820.8}"/>
</p:tagLst>
</file>

<file path=ppt/tags/tag4.xml><?xml version="1.0" encoding="utf-8"?>
<p:tagLst xmlns:p="http://schemas.openxmlformats.org/presentationml/2006/main">
  <p:tag name="KSO_WM_DIAGRAM_VIRTUALLY_FRAME" val="{&quot;height&quot;:82.8,&quot;left&quot;:64.8,&quot;top&quot;:327.6,&quot;width&quot;:820.8}"/>
</p:tagLst>
</file>

<file path=ppt/tags/tag5.xml><?xml version="1.0" encoding="utf-8"?>
<p:tagLst xmlns:p="http://schemas.openxmlformats.org/presentationml/2006/main">
  <p:tag name="KSO_WM_DIAGRAM_VIRTUALLY_FRAME" val="{&quot;height&quot;:82.8,&quot;left&quot;:64.8,&quot;top&quot;:327.6,&quot;width&quot;:820.8}"/>
</p:tagLst>
</file>

<file path=ppt/tags/tag6.xml><?xml version="1.0" encoding="utf-8"?>
<p:tagLst xmlns:p="http://schemas.openxmlformats.org/presentationml/2006/main">
  <p:tag name="KSO_WM_DIAGRAM_VIRTUALLY_FRAME" val="{&quot;height&quot;:82.8,&quot;left&quot;:64.8,&quot;top&quot;:327.6,&quot;width&quot;:820.8}"/>
</p:tagLst>
</file>

<file path=ppt/tags/tag7.xml><?xml version="1.0" encoding="utf-8"?>
<p:tagLst xmlns:p="http://schemas.openxmlformats.org/presentationml/2006/main">
  <p:tag name="KSO_WM_DIAGRAM_VIRTUALLY_FRAME" val="{&quot;height&quot;:82.8,&quot;left&quot;:64.8,&quot;top&quot;:327.6,&quot;width&quot;:820.8}"/>
</p:tagLst>
</file>

<file path=ppt/tags/tag8.xml><?xml version="1.0" encoding="utf-8"?>
<p:tagLst xmlns:p="http://schemas.openxmlformats.org/presentationml/2006/main">
  <p:tag name="KSO_WM_DIAGRAM_VIRTUALLY_FRAME" val="{&quot;height&quot;:82.8,&quot;left&quot;:64.8,&quot;top&quot;:327.6,&quot;width&quot;:820.8}"/>
</p:tagLst>
</file>

<file path=ppt/tags/tag9.xml><?xml version="1.0" encoding="utf-8"?>
<p:tagLst xmlns:p="http://schemas.openxmlformats.org/presentationml/2006/main">
  <p:tag name="KSO_WM_DIAGRAM_VIRTUALLY_FRAME" val="{&quot;height&quot;:82.8,&quot;left&quot;:64.8,&quot;top&quot;:327.6,&quot;width&quot;:820.8}"/>
</p:tagLst>
</file>

<file path=ppt/tags/tag10.xml><?xml version="1.0" encoding="utf-8"?>
<p:tagLst xmlns:p="http://schemas.openxmlformats.org/presentationml/2006/main">
  <p:tag name="KSO_WM_DIAGRAM_VIRTUALLY_FRAME" val="{&quot;height&quot;:82.8,&quot;left&quot;:64.8,&quot;top&quot;:327.6,&quot;width&quot;:820.8}"/>
</p:tagLst>
</file>

<file path=ppt/tags/tag11.xml><?xml version="1.0" encoding="utf-8"?>
<p:tagLst xmlns:p="http://schemas.openxmlformats.org/presentationml/2006/main">
  <p:tag name="KSO_WM_DIAGRAM_VIRTUALLY_FRAME" val="{&quot;height&quot;:82.8,&quot;left&quot;:64.8,&quot;top&quot;:327.6,&quot;width&quot;:820.8}"/>
</p:tagLst>
</file>

<file path=ppt/tags/tag12.xml><?xml version="1.0" encoding="utf-8"?>
<p:tagLst xmlns:p="http://schemas.openxmlformats.org/presentationml/2006/main">
  <p:tag name="KSO_WM_DIAGRAM_VIRTUALLY_FRAME" val="{&quot;height&quot;:82.8,&quot;left&quot;:64.8,&quot;top&quot;:327.6,&quot;width&quot;:820.8}"/>
</p:tagLst>
</file>

<file path=ppt/tags/tag13.xml><?xml version="1.0" encoding="utf-8"?>
<p:tagLst xmlns:p="http://schemas.openxmlformats.org/presentationml/2006/main">
  <p:tag name="KSO_WM_DIAGRAM_VIRTUALLY_FRAME" val="{&quot;height&quot;:338.4,&quot;left&quot;:503,&quot;top&quot;:136.1,&quot;width&quot;:280.8}"/>
</p:tagLst>
</file>

<file path=ppt/tags/tag14.xml><?xml version="1.0" encoding="utf-8"?>
<p:tagLst xmlns:p="http://schemas.openxmlformats.org/presentationml/2006/main">
  <p:tag name="KSO_WM_DIAGRAM_VIRTUALLY_FRAME" val="{&quot;height&quot;:338.4,&quot;left&quot;:503,&quot;top&quot;:136.1,&quot;width&quot;:280.8}"/>
</p:tagLst>
</file>

<file path=ppt/tags/tag15.xml><?xml version="1.0" encoding="utf-8"?>
<p:tagLst xmlns:p="http://schemas.openxmlformats.org/presentationml/2006/main">
  <p:tag name="KSO_WM_DIAGRAM_VIRTUALLY_FRAME" val="{&quot;height&quot;:338.4,&quot;left&quot;:503,&quot;top&quot;:136.1,&quot;width&quot;:280.8}"/>
</p:tagLst>
</file>

<file path=ppt/tags/tag16.xml><?xml version="1.0" encoding="utf-8"?>
<p:tagLst xmlns:p="http://schemas.openxmlformats.org/presentationml/2006/main">
  <p:tag name="KSO_WM_DIAGRAM_VIRTUALLY_FRAME" val="{&quot;height&quot;:338.4,&quot;left&quot;:503,&quot;top&quot;:136.1,&quot;width&quot;:280.8}"/>
</p:tagLst>
</file>

<file path=ppt/tags/tag17.xml><?xml version="1.0" encoding="utf-8"?>
<p:tagLst xmlns:p="http://schemas.openxmlformats.org/presentationml/2006/main">
  <p:tag name="KSO_WM_DIAGRAM_VIRTUALLY_FRAME" val="{&quot;height&quot;:338.4,&quot;left&quot;:503,&quot;top&quot;:136.1,&quot;width&quot;:280.8}"/>
</p:tagLst>
</file>

<file path=ppt/tags/tag18.xml><?xml version="1.0" encoding="utf-8"?>
<p:tagLst xmlns:p="http://schemas.openxmlformats.org/presentationml/2006/main">
  <p:tag name="KSO_WM_DIAGRAM_VIRTUALLY_FRAME" val="{&quot;height&quot;:338.4,&quot;left&quot;:503,&quot;top&quot;:136.1,&quot;width&quot;:280.8}"/>
</p:tagLst>
</file>

<file path=ppt/tags/tag19.xml><?xml version="1.0" encoding="utf-8"?>
<p:tagLst xmlns:p="http://schemas.openxmlformats.org/presentationml/2006/main">
  <p:tag name="KSO_WM_DIAGRAM_VIRTUALLY_FRAME" val="{&quot;height&quot;:338.4,&quot;left&quot;:503,&quot;top&quot;:136.1,&quot;width&quot;:280.8}"/>
</p:tagLst>
</file>

<file path=ppt/tags/tag20.xml><?xml version="1.0" encoding="utf-8"?>
<p:tagLst xmlns:p="http://schemas.openxmlformats.org/presentationml/2006/main">
  <p:tag name="KSO_WM_DIAGRAM_VIRTUALLY_FRAME" val="{&quot;height&quot;:338.4,&quot;left&quot;:503,&quot;top&quot;:136.1,&quot;width&quot;:280.8}"/>
</p:tagLst>
</file>

<file path=ppt/tags/tag21.xml><?xml version="1.0" encoding="utf-8"?>
<p:tagLst xmlns:p="http://schemas.openxmlformats.org/presentationml/2006/main">
  <p:tag name="KSO_WM_DIAGRAM_VIRTUALLY_FRAME" val="{&quot;height&quot;:338.4,&quot;left&quot;:503,&quot;top&quot;:136.1,&quot;width&quot;:280.8}"/>
</p:tagLst>
</file>

<file path=ppt/tags/tag22.xml><?xml version="1.0" encoding="utf-8"?>
<p:tagLst xmlns:p="http://schemas.openxmlformats.org/presentationml/2006/main">
  <p:tag name="KSO_WM_DIAGRAM_VIRTUALLY_FRAME" val="{&quot;height&quot;:338.4,&quot;left&quot;:503,&quot;top&quot;:136.1,&quot;width&quot;:280.8}"/>
</p:tagLst>
</file>

<file path=ppt/tags/tag23.xml><?xml version="1.0" encoding="utf-8"?>
<p:tagLst xmlns:p="http://schemas.openxmlformats.org/presentationml/2006/main">
  <p:tag name="KSO_WM_DIAGRAM_VIRTUALLY_FRAME" val="{&quot;height&quot;:338.4,&quot;left&quot;:503,&quot;top&quot;:136.1,&quot;width&quot;:280.8}"/>
</p:tagLst>
</file>

<file path=ppt/tags/tag24.xml><?xml version="1.0" encoding="utf-8"?>
<p:tagLst xmlns:p="http://schemas.openxmlformats.org/presentationml/2006/main">
  <p:tag name="KSO_WM_DIAGRAM_VIRTUALLY_FRAME" val="{&quot;height&quot;:338.4,&quot;left&quot;:503,&quot;top&quot;:136.1,&quot;width&quot;:280.8}"/>
</p:tagLst>
</file>

<file path=ppt/tags/tag25.xml><?xml version="1.0" encoding="utf-8"?>
<p:tagLst xmlns:p="http://schemas.openxmlformats.org/presentationml/2006/main">
  <p:tag name="KSO_WM_DIAGRAM_VIRTUALLY_FRAME" val="{&quot;height&quot;:93.6,&quot;left&quot;:64.8,&quot;top&quot;:97.2,&quot;width&quot;:828}"/>
</p:tagLst>
</file>

<file path=ppt/tags/tag26.xml><?xml version="1.0" encoding="utf-8"?>
<p:tagLst xmlns:p="http://schemas.openxmlformats.org/presentationml/2006/main">
  <p:tag name="KSO_WM_DIAGRAM_VIRTUALLY_FRAME" val="{&quot;height&quot;:93.6,&quot;left&quot;:64.8,&quot;top&quot;:97.2,&quot;width&quot;:828}"/>
</p:tagLst>
</file>

<file path=ppt/tags/tag27.xml><?xml version="1.0" encoding="utf-8"?>
<p:tagLst xmlns:p="http://schemas.openxmlformats.org/presentationml/2006/main">
  <p:tag name="KSO_WM_DIAGRAM_VIRTUALLY_FRAME" val="{&quot;height&quot;:93.6,&quot;left&quot;:64.8,&quot;top&quot;:97.2,&quot;width&quot;:828}"/>
</p:tagLst>
</file>

<file path=ppt/tags/tag28.xml><?xml version="1.0" encoding="utf-8"?>
<p:tagLst xmlns:p="http://schemas.openxmlformats.org/presentationml/2006/main">
  <p:tag name="KSO_WM_DIAGRAM_VIRTUALLY_FRAME" val="{&quot;height&quot;:93.6,&quot;left&quot;:64.8,&quot;top&quot;:97.2,&quot;width&quot;:828}"/>
</p:tagLst>
</file>

<file path=ppt/tags/tag29.xml><?xml version="1.0" encoding="utf-8"?>
<p:tagLst xmlns:p="http://schemas.openxmlformats.org/presentationml/2006/main">
  <p:tag name="KSO_WM_DIAGRAM_VIRTUALLY_FRAME" val="{&quot;height&quot;:93.6,&quot;left&quot;:64.8,&quot;top&quot;:97.2,&quot;width&quot;:828}"/>
</p:tagLst>
</file>

<file path=ppt/tags/tag30.xml><?xml version="1.0" encoding="utf-8"?>
<p:tagLst xmlns:p="http://schemas.openxmlformats.org/presentationml/2006/main">
  <p:tag name="KSO_WM_DIAGRAM_VIRTUALLY_FRAME" val="{&quot;height&quot;:93.6,&quot;left&quot;:64.8,&quot;top&quot;:97.2,&quot;width&quot;:828}"/>
</p:tagLst>
</file>

<file path=ppt/tags/tag31.xml><?xml version="1.0" encoding="utf-8"?>
<p:tagLst xmlns:p="http://schemas.openxmlformats.org/presentationml/2006/main">
  <p:tag name="KSO_WM_DIAGRAM_VIRTUALLY_FRAME" val="{&quot;height&quot;:93.6,&quot;left&quot;:64.8,&quot;top&quot;:97.2,&quot;width&quot;:828}"/>
</p:tagLst>
</file>

<file path=ppt/tags/tag32.xml><?xml version="1.0" encoding="utf-8"?>
<p:tagLst xmlns:p="http://schemas.openxmlformats.org/presentationml/2006/main">
  <p:tag name="KSO_WM_DIAGRAM_VIRTUALLY_FRAME" val="{&quot;height&quot;:93.6,&quot;left&quot;:64.8,&quot;top&quot;:97.2,&quot;width&quot;:828}"/>
</p:tagLst>
</file>

<file path=ppt/tags/tag33.xml><?xml version="1.0" encoding="utf-8"?>
<p:tagLst xmlns:p="http://schemas.openxmlformats.org/presentationml/2006/main">
  <p:tag name="KSO_WM_DIAGRAM_VIRTUALLY_FRAME" val="{&quot;height&quot;:93.6,&quot;left&quot;:64.8,&quot;top&quot;:97.2,&quot;width&quot;:828}"/>
</p:tagLst>
</file>

<file path=ppt/tags/tag34.xml><?xml version="1.0" encoding="utf-8"?>
<p:tagLst xmlns:p="http://schemas.openxmlformats.org/presentationml/2006/main">
  <p:tag name="KSO_WM_DIAGRAM_VIRTUALLY_FRAME" val="{&quot;height&quot;:93.6,&quot;left&quot;:64.8,&quot;top&quot;:97.2,&quot;width&quot;:828}"/>
</p:tagLst>
</file>

<file path=ppt/tags/tag35.xml><?xml version="1.0" encoding="utf-8"?>
<p:tagLst xmlns:p="http://schemas.openxmlformats.org/presentationml/2006/main">
  <p:tag name="KSO_WM_DIAGRAM_VIRTUALLY_FRAME" val="{&quot;height&quot;:93.6,&quot;left&quot;:64.8,&quot;top&quot;:97.2,&quot;width&quot;:828}"/>
</p:tagLst>
</file>

<file path=ppt/tags/tag36.xml><?xml version="1.0" encoding="utf-8"?>
<p:tagLst xmlns:p="http://schemas.openxmlformats.org/presentationml/2006/main">
  <p:tag name="KSO_WM_DIAGRAM_VIRTUALLY_FRAME" val="{&quot;height&quot;:93.6,&quot;left&quot;:64.8,&quot;top&quot;:97.2,&quot;width&quot;:828}"/>
</p:tagLst>
</file>

<file path=ppt/tags/tag37.xml><?xml version="1.0" encoding="utf-8"?>
<p:tagLst xmlns:p="http://schemas.openxmlformats.org/presentationml/2006/main">
  <p:tag name="KSO_WM_DIAGRAM_VIRTUALLY_FRAME" val="{&quot;height&quot;:93.6,&quot;left&quot;:64.8,&quot;top&quot;:97.2,&quot;width&quot;:828}"/>
</p:tagLst>
</file>

<file path=ppt/tags/tag38.xml><?xml version="1.0" encoding="utf-8"?>
<p:tagLst xmlns:p="http://schemas.openxmlformats.org/presentationml/2006/main">
  <p:tag name="KSO_WPP_MARK_KEY" val="288b28c3-2d40-4800-8a34-438d5a85827e"/>
  <p:tag name="COMMONDATA" val="eyJoZGlkIjoiOWUwOWY1OThjOTBmY2I1M2U5OGEyOWE4OWU3MTI0MDIifQ=="/>
</p:tagLst>
</file>

<file path=ppt/theme/theme1.xml><?xml version="1.0" encoding="utf-8"?>
<a:theme xmlns:a="http://schemas.openxmlformats.org/drawingml/2006/main" name="Office 主题">
  <a:themeElements>
    <a:clrScheme name="自定义 3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4E67C8"/>
      </a:accent6>
      <a:hlink>
        <a:srgbClr val="56C7AA"/>
      </a:hlink>
      <a:folHlink>
        <a:srgbClr val="59A8D1"/>
      </a:folHlink>
    </a:clrScheme>
    <a:fontScheme name="自定义 3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3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4E67C8"/>
      </a:accent6>
      <a:hlink>
        <a:srgbClr val="56C7AA"/>
      </a:hlink>
      <a:folHlink>
        <a:srgbClr val="59A8D1"/>
      </a:folHlink>
    </a:clrScheme>
    <a:fontScheme name="自定义 3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邹龙强_232050357_组会论文1ppt</Template>
  <TotalTime>0</TotalTime>
  <Words>1074</Words>
  <Application>WPS 演示</Application>
  <PresentationFormat>宽屏</PresentationFormat>
  <Paragraphs>108</Paragraphs>
  <Slides>15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Arial</vt:lpstr>
      <vt:lpstr>Calibri</vt:lpstr>
      <vt:lpstr>微软雅黑</vt:lpstr>
      <vt:lpstr>Arial Unicode MS</vt:lpstr>
      <vt:lpstr>等线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龙强 邹</dc:creator>
  <cp:lastModifiedBy>潘显聪</cp:lastModifiedBy>
  <cp:revision>30</cp:revision>
  <dcterms:created xsi:type="dcterms:W3CDTF">2025-04-01T11:41:00Z</dcterms:created>
  <dcterms:modified xsi:type="dcterms:W3CDTF">2026-04-30T08:45:53Z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7CC66C772A1544518D95448D80AB941B_13</vt:lpwstr>
  </property>
</Properties>
</file>