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590" r:id="rId6"/>
    <p:sldId id="661" r:id="rId7"/>
    <p:sldId id="663" r:id="rId8"/>
    <p:sldId id="677" r:id="rId9"/>
    <p:sldId id="678" r:id="rId10"/>
    <p:sldId id="681" r:id="rId11"/>
    <p:sldId id="683" r:id="rId12"/>
    <p:sldId id="682" r:id="rId13"/>
    <p:sldId id="680" r:id="rId14"/>
    <p:sldId id="679" r:id="rId15"/>
    <p:sldId id="621" r:id="rId16"/>
    <p:sldId id="665" r:id="rId17"/>
    <p:sldId id="622" r:id="rId18"/>
    <p:sldId id="669" r:id="rId19"/>
    <p:sldId id="658" r:id="rId20"/>
    <p:sldId id="684" r:id="rId21"/>
  </p:sldIdLst>
  <p:sldSz cx="12192000" cy="6858000"/>
  <p:notesSz cx="6858000" cy="9144000"/>
  <p:custDataLst>
    <p:tags r:id="rId25"/>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B1CD"/>
    <a:srgbClr val="5E80B0"/>
    <a:srgbClr val="4B64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2" autoAdjust="0"/>
    <p:restoredTop sz="70028" autoAdjust="0"/>
  </p:normalViewPr>
  <p:slideViewPr>
    <p:cSldViewPr snapToGrid="0">
      <p:cViewPr varScale="1">
        <p:scale>
          <a:sx n="69" d="100"/>
          <a:sy n="69" d="100"/>
        </p:scale>
        <p:origin x="700" y="44"/>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gs" Target="tags/tag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D0F8ECEB-50C7-416D-85EF-F5F0A518624A}"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19DB41B2-D34F-4BDF-B05A-F471250DBA14}"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不看权重值本身，而是看模型在</a:t>
            </a:r>
            <a:r>
              <a:rPr lang="en-US" altLang="zh-CN" b="0" i="0" dirty="0">
                <a:solidFill>
                  <a:srgbClr val="000000"/>
                </a:solidFill>
                <a:effectLst/>
                <a:latin typeface="微软雅黑" panose="020B0503020204020204" pitchFamily="34" charset="-122"/>
                <a:ea typeface="微软雅黑" panose="020B0503020204020204" pitchFamily="34" charset="-122"/>
              </a:rPr>
              <a:t>“</a:t>
            </a:r>
            <a:r>
              <a:rPr lang="zh-CN" altLang="en-US" b="0" i="0" dirty="0">
                <a:solidFill>
                  <a:srgbClr val="000000"/>
                </a:solidFill>
                <a:effectLst/>
                <a:latin typeface="微软雅黑" panose="020B0503020204020204" pitchFamily="34" charset="-122"/>
                <a:ea typeface="微软雅黑" panose="020B0503020204020204" pitchFamily="34" charset="-122"/>
              </a:rPr>
              <a:t>输入扰动下的梯度响应行为</a:t>
            </a:r>
            <a:r>
              <a:rPr lang="en-US" altLang="zh-CN" b="0" i="0" dirty="0">
                <a:solidFill>
                  <a:srgbClr val="000000"/>
                </a:solidFill>
                <a:effectLst/>
                <a:latin typeface="微软雅黑" panose="020B0503020204020204" pitchFamily="34" charset="-122"/>
                <a:ea typeface="微软雅黑" panose="020B0503020204020204" pitchFamily="34" charset="-122"/>
              </a:rPr>
              <a:t>”</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r>
              <a:rPr lang="zh-CN" altLang="en-US" b="0" i="0" dirty="0">
                <a:solidFill>
                  <a:srgbClr val="000000"/>
                </a:solidFill>
                <a:effectLst/>
                <a:latin typeface="微软雅黑" panose="020B0503020204020204" pitchFamily="34" charset="-122"/>
                <a:ea typeface="微软雅黑" panose="020B0503020204020204" pitchFamily="34" charset="-122"/>
              </a:rPr>
              <a:t>他们认为：</a:t>
            </a:r>
            <a:endParaRPr lang="en-US" altLang="zh-CN" b="0" i="0" dirty="0">
              <a:solidFill>
                <a:srgbClr val="000000"/>
              </a:solidFill>
              <a:effectLst/>
              <a:latin typeface="微软雅黑" panose="020B0503020204020204" pitchFamily="34" charset="-122"/>
              <a:ea typeface="微软雅黑" panose="020B0503020204020204" pitchFamily="34" charset="-122"/>
            </a:endParaRPr>
          </a:p>
          <a:p>
            <a:r>
              <a:rPr lang="zh-CN" altLang="en-US" b="0" i="0" dirty="0">
                <a:solidFill>
                  <a:srgbClr val="000000"/>
                </a:solidFill>
                <a:effectLst/>
                <a:latin typeface="微软雅黑" panose="020B0503020204020204" pitchFamily="34" charset="-122"/>
                <a:ea typeface="微软雅黑" panose="020B0503020204020204" pitchFamily="34" charset="-122"/>
              </a:rPr>
              <a:t>梯度行为是一种更接近模型</a:t>
            </a:r>
            <a:r>
              <a:rPr lang="en-US" altLang="zh-CN" b="0" i="0" dirty="0">
                <a:solidFill>
                  <a:srgbClr val="000000"/>
                </a:solidFill>
                <a:effectLst/>
                <a:latin typeface="微软雅黑" panose="020B0503020204020204" pitchFamily="34" charset="-122"/>
                <a:ea typeface="微软雅黑" panose="020B0503020204020204" pitchFamily="34" charset="-122"/>
              </a:rPr>
              <a:t>“</a:t>
            </a:r>
            <a:r>
              <a:rPr lang="zh-CN" altLang="en-US" b="0" i="0" dirty="0">
                <a:solidFill>
                  <a:srgbClr val="000000"/>
                </a:solidFill>
                <a:effectLst/>
                <a:latin typeface="微软雅黑" panose="020B0503020204020204" pitchFamily="34" charset="-122"/>
                <a:ea typeface="微软雅黑" panose="020B0503020204020204" pitchFamily="34" charset="-122"/>
              </a:rPr>
              <a:t>内在机理</a:t>
            </a:r>
            <a:r>
              <a:rPr lang="en-US" altLang="zh-CN" b="0" i="0" dirty="0">
                <a:solidFill>
                  <a:srgbClr val="000000"/>
                </a:solidFill>
                <a:effectLst/>
                <a:latin typeface="微软雅黑" panose="020B0503020204020204" pitchFamily="34" charset="-122"/>
                <a:ea typeface="微软雅黑" panose="020B0503020204020204" pitchFamily="34" charset="-122"/>
              </a:rPr>
              <a:t>”</a:t>
            </a:r>
            <a:r>
              <a:rPr lang="zh-CN" altLang="en-US" b="0" i="0" dirty="0">
                <a:solidFill>
                  <a:srgbClr val="000000"/>
                </a:solidFill>
                <a:effectLst/>
                <a:latin typeface="微软雅黑" panose="020B0503020204020204" pitchFamily="34" charset="-122"/>
                <a:ea typeface="微软雅黑" panose="020B0503020204020204" pitchFamily="34" charset="-122"/>
              </a:rPr>
              <a:t>的特征，可以作为模型指纹。</a:t>
            </a:r>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所以论文的核心目标可以总结为一句话：</a:t>
            </a:r>
            <a:endParaRPr lang="zh-CN" altLang="en-US" b="0" i="0" dirty="0">
              <a:solidFill>
                <a:srgbClr val="000000"/>
              </a:solidFill>
              <a:effectLst/>
              <a:latin typeface="微软雅黑" panose="020B0503020204020204" pitchFamily="34" charset="-122"/>
              <a:ea typeface="微软雅黑" panose="020B0503020204020204" pitchFamily="34" charset="-122"/>
            </a:endParaRPr>
          </a:p>
          <a:p>
            <a:r>
              <a:rPr lang="zh-CN" altLang="en-US" b="0" i="0" dirty="0">
                <a:solidFill>
                  <a:srgbClr val="000000"/>
                </a:solidFill>
                <a:effectLst/>
                <a:latin typeface="微软雅黑" panose="020B0503020204020204" pitchFamily="34" charset="-122"/>
                <a:ea typeface="微软雅黑" panose="020B0503020204020204" pitchFamily="34" charset="-122"/>
              </a:rPr>
              <a:t>为</a:t>
            </a:r>
            <a:r>
              <a:rPr lang="en-US" altLang="zh-CN" b="0" i="0" dirty="0">
                <a:solidFill>
                  <a:srgbClr val="000000"/>
                </a:solidFill>
                <a:effectLst/>
                <a:latin typeface="微软雅黑" panose="020B0503020204020204" pitchFamily="34" charset="-122"/>
                <a:ea typeface="微软雅黑" panose="020B0503020204020204" pitchFamily="34" charset="-122"/>
              </a:rPr>
              <a:t> LLM </a:t>
            </a:r>
            <a:r>
              <a:rPr lang="zh-CN" altLang="en-US" b="0" i="0" dirty="0">
                <a:solidFill>
                  <a:srgbClr val="000000"/>
                </a:solidFill>
                <a:effectLst/>
                <a:latin typeface="微软雅黑" panose="020B0503020204020204" pitchFamily="34" charset="-122"/>
                <a:ea typeface="微软雅黑" panose="020B0503020204020204" pitchFamily="34" charset="-122"/>
              </a:rPr>
              <a:t>构建一种</a:t>
            </a:r>
            <a:r>
              <a:rPr lang="en-US" altLang="zh-CN" b="0" i="0" dirty="0">
                <a:solidFill>
                  <a:srgbClr val="000000"/>
                </a:solidFill>
                <a:effectLst/>
                <a:latin typeface="微软雅黑" panose="020B0503020204020204" pitchFamily="34" charset="-122"/>
                <a:ea typeface="微软雅黑" panose="020B0503020204020204" pitchFamily="34" charset="-122"/>
              </a:rPr>
              <a:t>“</a:t>
            </a:r>
            <a:r>
              <a:rPr lang="zh-CN" altLang="en-US" b="0" i="0" dirty="0">
                <a:solidFill>
                  <a:srgbClr val="000000"/>
                </a:solidFill>
                <a:effectLst/>
                <a:latin typeface="微软雅黑" panose="020B0503020204020204" pitchFamily="34" charset="-122"/>
                <a:ea typeface="微软雅黑" panose="020B0503020204020204" pitchFamily="34" charset="-122"/>
              </a:rPr>
              <a:t>类似软件指纹</a:t>
            </a:r>
            <a:r>
              <a:rPr lang="en-US" altLang="zh-CN" b="0" i="0" dirty="0">
                <a:solidFill>
                  <a:srgbClr val="000000"/>
                </a:solidFill>
                <a:effectLst/>
                <a:latin typeface="微软雅黑" panose="020B0503020204020204" pitchFamily="34" charset="-122"/>
                <a:ea typeface="微软雅黑" panose="020B0503020204020204" pitchFamily="34" charset="-122"/>
              </a:rPr>
              <a:t>”</a:t>
            </a:r>
            <a:r>
              <a:rPr lang="zh-CN" altLang="en-US" b="0" i="0" dirty="0">
                <a:solidFill>
                  <a:srgbClr val="000000"/>
                </a:solidFill>
                <a:effectLst/>
                <a:latin typeface="微软雅黑" panose="020B0503020204020204" pitchFamily="34" charset="-122"/>
                <a:ea typeface="微软雅黑" panose="020B0503020204020204" pitchFamily="34" charset="-122"/>
              </a:rPr>
              <a:t>的、可比较的身份标识。</a:t>
            </a:r>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对于大型语言模型（</a:t>
            </a:r>
            <a:r>
              <a:rPr lang="en-US" altLang="zh-CN" dirty="0">
                <a:sym typeface="+mn-ea"/>
              </a:rPr>
              <a:t>LLM</a:t>
            </a:r>
            <a:r>
              <a:rPr lang="zh-CN" altLang="en-US" dirty="0">
                <a:sym typeface="+mn-ea"/>
              </a:rPr>
              <a:t>）相似性检测和家族分类，我们提出了</a:t>
            </a:r>
            <a:r>
              <a:rPr lang="en-US" altLang="zh-CN" dirty="0">
                <a:sym typeface="+mn-ea"/>
              </a:rPr>
              <a:t>TENSORGUARD</a:t>
            </a:r>
            <a:r>
              <a:rPr lang="zh-CN" altLang="en-US" dirty="0">
                <a:sym typeface="+mn-ea"/>
              </a:rPr>
              <a:t>，它由三个核心组件组成：（</a:t>
            </a:r>
            <a:r>
              <a:rPr lang="en-US" altLang="zh-CN" dirty="0">
                <a:sym typeface="+mn-ea"/>
              </a:rPr>
              <a:t>1</a:t>
            </a:r>
            <a:r>
              <a:rPr lang="zh-CN" altLang="en-US" dirty="0">
                <a:sym typeface="+mn-ea"/>
              </a:rPr>
              <a:t>）模型文件预处理（§</a:t>
            </a:r>
            <a:r>
              <a:rPr lang="en-US" altLang="zh-CN" dirty="0">
                <a:sym typeface="+mn-ea"/>
              </a:rPr>
              <a:t>III-B</a:t>
            </a:r>
            <a:r>
              <a:rPr lang="zh-CN" altLang="en-US" dirty="0">
                <a:sym typeface="+mn-ea"/>
              </a:rPr>
              <a:t>）、（</a:t>
            </a:r>
            <a:r>
              <a:rPr lang="en-US" altLang="zh-CN" dirty="0">
                <a:sym typeface="+mn-ea"/>
              </a:rPr>
              <a:t>2</a:t>
            </a:r>
            <a:r>
              <a:rPr lang="zh-CN" altLang="en-US" dirty="0">
                <a:sym typeface="+mn-ea"/>
              </a:rPr>
              <a:t>）张量分析和特征提取（</a:t>
            </a:r>
            <a:r>
              <a:rPr lang="en-US" altLang="zh-CN" dirty="0">
                <a:sym typeface="+mn-ea"/>
              </a:rPr>
              <a:t>SIII-C</a:t>
            </a:r>
            <a:r>
              <a:rPr lang="zh-CN" altLang="en-US" dirty="0">
                <a:sym typeface="+mn-ea"/>
              </a:rPr>
              <a:t>），以及（</a:t>
            </a:r>
            <a:r>
              <a:rPr lang="en-US" altLang="zh-CN" dirty="0">
                <a:sym typeface="+mn-ea"/>
              </a:rPr>
              <a:t>3</a:t>
            </a:r>
            <a:r>
              <a:rPr lang="zh-CN" altLang="en-US" dirty="0">
                <a:sym typeface="+mn-ea"/>
              </a:rPr>
              <a:t>）相似性检测和家族分类（</a:t>
            </a:r>
            <a:r>
              <a:rPr lang="en-US" altLang="zh-CN" dirty="0">
                <a:sym typeface="+mn-ea"/>
              </a:rPr>
              <a:t>SIII-D</a:t>
            </a:r>
            <a:r>
              <a:rPr lang="zh-CN" altLang="en-US" dirty="0">
                <a:sym typeface="+mn-ea"/>
              </a:rPr>
              <a:t>）。</a:t>
            </a: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关键点在于：</a:t>
            </a:r>
            <a:endParaRPr lang="en-US" altLang="zh-CN"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不依赖训练数据</a:t>
            </a:r>
            <a:endParaRPr lang="en-US" altLang="zh-CN"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不需要访问模型训练过程</a:t>
            </a:r>
            <a:endParaRPr lang="en-US" altLang="zh-CN"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不修改模型参数（非水印）</a:t>
            </a: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作者将模型视为一个</a:t>
            </a:r>
            <a:r>
              <a:rPr lang="en-US" altLang="zh-CN" dirty="0">
                <a:sym typeface="+mn-ea"/>
              </a:rPr>
              <a:t>“</a:t>
            </a:r>
            <a:r>
              <a:rPr lang="zh-CN" altLang="en-US" dirty="0">
                <a:sym typeface="+mn-ea"/>
              </a:rPr>
              <a:t>黑盒可微系统</a:t>
            </a:r>
            <a:r>
              <a:rPr lang="en-US" altLang="zh-CN" dirty="0">
                <a:sym typeface="+mn-ea"/>
              </a:rPr>
              <a:t>”</a:t>
            </a:r>
            <a:r>
              <a:rPr lang="zh-CN" altLang="en-US" dirty="0">
                <a:sym typeface="+mn-ea"/>
              </a:rPr>
              <a:t>，</a:t>
            </a: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梯度响应就像模型的神经反射。</a:t>
            </a:r>
            <a:endParaRPr lang="zh-CN" altLang="en-US" dirty="0">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我们从</a:t>
            </a:r>
            <a:r>
              <a:rPr lang="en-US" altLang="zh-CN" dirty="0">
                <a:sym typeface="+mn-ea"/>
              </a:rPr>
              <a:t> HuggingFace </a:t>
            </a:r>
            <a:r>
              <a:rPr lang="zh-CN" altLang="en-US" dirty="0">
                <a:sym typeface="+mn-ea"/>
              </a:rPr>
              <a:t>等公共存储库获取模型，专门针对那些使用</a:t>
            </a:r>
            <a:r>
              <a:rPr lang="en-US" altLang="zh-CN" dirty="0">
                <a:sym typeface="+mn-ea"/>
              </a:rPr>
              <a:t> safetensors </a:t>
            </a:r>
            <a:r>
              <a:rPr lang="zh-CN" altLang="en-US" dirty="0">
                <a:sym typeface="+mn-ea"/>
              </a:rPr>
              <a:t>格式的模型文件。</a:t>
            </a:r>
            <a:r>
              <a:rPr lang="zh-CN" altLang="en-US" dirty="0">
                <a:sym typeface="+mn-ea"/>
              </a:rPr>
              <a:t>其中大型模型通常分布在多个</a:t>
            </a:r>
            <a:r>
              <a:rPr lang="en-US" altLang="zh-CN" dirty="0">
                <a:sym typeface="+mn-ea"/>
              </a:rPr>
              <a:t> .safetensors </a:t>
            </a:r>
            <a:r>
              <a:rPr lang="zh-CN" altLang="en-US" dirty="0">
                <a:sym typeface="+mn-ea"/>
              </a:rPr>
              <a:t>分片中。我们通过将分片合并到单个文件中来重建统一模型，我们的方法支持两种不同的合并策略：利用</a:t>
            </a:r>
            <a:r>
              <a:rPr lang="en-US" altLang="zh-CN" dirty="0">
                <a:sym typeface="+mn-ea"/>
              </a:rPr>
              <a:t>model.safetensors.index.json</a:t>
            </a:r>
            <a:r>
              <a:rPr lang="zh-CN" altLang="en-US" dirty="0">
                <a:sym typeface="+mn-ea"/>
              </a:rPr>
              <a:t>元数据文件系统地重建张量映射</a:t>
            </a:r>
            <a:r>
              <a:rPr lang="en-US" altLang="zh-CN" dirty="0">
                <a:sym typeface="+mn-ea"/>
              </a:rPr>
              <a:t>;</a:t>
            </a:r>
            <a:r>
              <a:rPr lang="zh-CN" altLang="en-US" dirty="0">
                <a:sym typeface="+mn-ea"/>
              </a:rPr>
              <a:t>在索引文件不可用时采用基于正则表达式的文件名模式匹配。这两种策略都确保在整个重建过程中保留张量排序，这对于在后续特征提取阶段保持语义一致性至关重要。对于基于适配器的微调模型（例如</a:t>
            </a:r>
            <a:r>
              <a:rPr lang="en-US" altLang="zh-CN" dirty="0">
                <a:sym typeface="+mn-ea"/>
              </a:rPr>
              <a:t> LoRA</a:t>
            </a:r>
            <a:r>
              <a:rPr lang="zh-CN" altLang="en-US" dirty="0">
                <a:sym typeface="+mn-ea"/>
              </a:rPr>
              <a:t>），我们将存储在</a:t>
            </a:r>
            <a:r>
              <a:rPr lang="en-US" altLang="zh-CN" dirty="0">
                <a:sym typeface="+mn-ea"/>
              </a:rPr>
              <a:t>adapter_model.safetensors</a:t>
            </a:r>
            <a:r>
              <a:rPr lang="zh-CN" altLang="en-US" dirty="0">
                <a:sym typeface="+mn-ea"/>
              </a:rPr>
              <a:t>文件中的适配器权重集成到其相应的基础模型中，该函数在保留原始模型架构的同时就地更新相关的线性层。</a:t>
            </a:r>
            <a:endParaRPr lang="zh-CN" altLang="en-US" dirty="0">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在获取了模型之后，我们将随机噪声注入选定的模型组件中，以模拟扰动并通过前向和后向传播计算梯度响应，为了从模型中引出有意义的梯度响应，本文考虑了五种不同的噪声策略，每层张量层都从中随机选择一个策略</a:t>
            </a:r>
            <a:r>
              <a:rPr lang="en-US" altLang="zh-CN" dirty="0">
                <a:sym typeface="+mn-ea"/>
              </a:rPr>
              <a:t>,</a:t>
            </a:r>
            <a:r>
              <a:rPr lang="zh-CN" altLang="en-US" dirty="0">
                <a:sym typeface="+mn-ea"/>
              </a:rPr>
              <a:t>为确保实验可重复性，我们采用固定随机种子，从而确保所有评估模型中应用相同的噪声序列，以确保全面覆盖扰动效应。</a:t>
            </a:r>
            <a:endParaRPr lang="zh-CN" altLang="en-US" dirty="0">
              <a:sym typeface="+mn-ea"/>
            </a:endParaRPr>
          </a:p>
          <a:p>
            <a:pPr marL="0" marR="0" lvl="0" indent="457200" algn="l" defTabSz="914400" rtl="0" eaLnBrk="0" fontAlgn="base" latinLnBrk="0" hangingPunct="0">
              <a:lnSpc>
                <a:spcPct val="100000"/>
              </a:lnSpc>
              <a:spcBef>
                <a:spcPct val="30000"/>
              </a:spcBef>
              <a:spcAft>
                <a:spcPct val="0"/>
              </a:spcAft>
              <a:buClrTx/>
              <a:buSzTx/>
              <a:buFontTx/>
              <a:buNone/>
              <a:defRPr/>
            </a:pPr>
            <a:r>
              <a:rPr lang="zh-CN" altLang="en-US" dirty="0">
                <a:sym typeface="+mn-ea"/>
              </a:rPr>
              <a:t>对抗噪声：快速梯度符号法（</a:t>
            </a:r>
            <a:r>
              <a:rPr lang="en-US" altLang="zh-CN" dirty="0">
                <a:sym typeface="+mn-ea"/>
              </a:rPr>
              <a:t>FGSM</a:t>
            </a:r>
            <a:r>
              <a:rPr lang="zh-CN" altLang="en-US" dirty="0">
                <a:sym typeface="+mn-ea"/>
              </a:rPr>
              <a:t>），</a:t>
            </a:r>
            <a:r>
              <a:rPr lang="en-US" altLang="zh-CN" dirty="0">
                <a:sym typeface="+mn-ea"/>
              </a:rPr>
              <a:t>FGSM</a:t>
            </a:r>
            <a:r>
              <a:rPr lang="zh-CN" altLang="en-US" dirty="0">
                <a:sym typeface="+mn-ea"/>
              </a:rPr>
              <a:t>会生成扰动</a:t>
            </a:r>
            <a:r>
              <a:rPr lang="en-US" altLang="zh-CN" dirty="0">
                <a:sym typeface="+mn-ea"/>
              </a:rPr>
              <a:t>η</a:t>
            </a:r>
            <a:r>
              <a:rPr lang="zh-CN" altLang="en-US" dirty="0">
                <a:sym typeface="+mn-ea"/>
              </a:rPr>
              <a:t>，使损失函数最大化，其中</a:t>
            </a:r>
            <a:r>
              <a:rPr lang="en-US" altLang="zh-CN" dirty="0">
                <a:sym typeface="+mn-ea"/>
              </a:rPr>
              <a:t>∇xJ</a:t>
            </a:r>
            <a:r>
              <a:rPr lang="zh-CN" altLang="en-US" dirty="0">
                <a:sym typeface="+mn-ea"/>
              </a:rPr>
              <a:t>（</a:t>
            </a:r>
            <a:r>
              <a:rPr lang="en-US" altLang="zh-CN" dirty="0">
                <a:sym typeface="+mn-ea"/>
              </a:rPr>
              <a:t>θ</a:t>
            </a:r>
            <a:r>
              <a:rPr lang="zh-CN" altLang="en-US" dirty="0">
                <a:sym typeface="+mn-ea"/>
              </a:rPr>
              <a:t>，</a:t>
            </a:r>
            <a:r>
              <a:rPr lang="en-US" altLang="zh-CN" dirty="0">
                <a:sym typeface="+mn-ea"/>
              </a:rPr>
              <a:t> x</a:t>
            </a:r>
            <a:r>
              <a:rPr lang="zh-CN" altLang="en-US" dirty="0">
                <a:sym typeface="+mn-ea"/>
              </a:rPr>
              <a:t>，</a:t>
            </a:r>
            <a:r>
              <a:rPr lang="en-US" altLang="zh-CN" dirty="0">
                <a:sym typeface="+mn-ea"/>
              </a:rPr>
              <a:t> y</a:t>
            </a:r>
            <a:r>
              <a:rPr lang="zh-CN" altLang="en-US" dirty="0">
                <a:sym typeface="+mn-ea"/>
              </a:rPr>
              <a:t>）表示损失函数相对于输入</a:t>
            </a:r>
            <a:r>
              <a:rPr lang="en-US" altLang="zh-CN" dirty="0">
                <a:sym typeface="+mn-ea"/>
              </a:rPr>
              <a:t>x</a:t>
            </a:r>
            <a:r>
              <a:rPr lang="zh-CN" altLang="en-US" dirty="0">
                <a:sym typeface="+mn-ea"/>
              </a:rPr>
              <a:t>的梯度，</a:t>
            </a:r>
            <a:r>
              <a:rPr lang="en-US" altLang="zh-CN" dirty="0">
                <a:sym typeface="+mn-ea"/>
              </a:rPr>
              <a:t>sign</a:t>
            </a:r>
            <a:r>
              <a:rPr lang="zh-CN" altLang="en-US" dirty="0">
                <a:sym typeface="+mn-ea"/>
              </a:rPr>
              <a:t>（</a:t>
            </a:r>
            <a:r>
              <a:rPr lang="en-US" altLang="zh-CN" dirty="0">
                <a:sym typeface="+mn-ea"/>
              </a:rPr>
              <a:t>·</a:t>
            </a:r>
            <a:r>
              <a:rPr lang="zh-CN" altLang="en-US" dirty="0">
                <a:sym typeface="+mn-ea"/>
              </a:rPr>
              <a:t>）提取元素符号，</a:t>
            </a:r>
            <a:r>
              <a:rPr lang="en-US" altLang="zh-CN" dirty="0">
                <a:sym typeface="+mn-ea"/>
              </a:rPr>
              <a:t>ε</a:t>
            </a:r>
            <a:r>
              <a:rPr lang="zh-CN" altLang="en-US" dirty="0">
                <a:sym typeface="+mn-ea"/>
              </a:rPr>
              <a:t>是控制扰动幅度的超参数。这是针对模型最敏感方向设计的扰动，用来测试模型在</a:t>
            </a:r>
            <a:r>
              <a:rPr lang="en-US" altLang="zh-CN" dirty="0">
                <a:sym typeface="+mn-ea"/>
              </a:rPr>
              <a:t>“</a:t>
            </a:r>
            <a:r>
              <a:rPr lang="zh-CN" altLang="en-US" dirty="0">
                <a:sym typeface="+mn-ea"/>
              </a:rPr>
              <a:t>最坏情况下</a:t>
            </a:r>
            <a:r>
              <a:rPr lang="en-US" altLang="zh-CN" dirty="0">
                <a:sym typeface="+mn-ea"/>
              </a:rPr>
              <a:t>”</a:t>
            </a:r>
            <a:r>
              <a:rPr lang="zh-CN" altLang="en-US" dirty="0">
                <a:sym typeface="+mn-ea"/>
              </a:rPr>
              <a:t>的梯度行为。</a:t>
            </a:r>
            <a:endParaRPr lang="zh-CN" altLang="en-US" dirty="0">
              <a:sym typeface="+mn-ea"/>
            </a:endParaRPr>
          </a:p>
          <a:p>
            <a:pPr marL="0" marR="0" lvl="0" indent="457200" algn="l" defTabSz="914400" rtl="0" eaLnBrk="0" fontAlgn="base" latinLnBrk="0" hangingPunct="0">
              <a:lnSpc>
                <a:spcPct val="100000"/>
              </a:lnSpc>
              <a:spcBef>
                <a:spcPct val="30000"/>
              </a:spcBef>
              <a:spcAft>
                <a:spcPct val="0"/>
              </a:spcAft>
              <a:buClrTx/>
              <a:buSzTx/>
              <a:buFontTx/>
              <a:buNone/>
              <a:defRPr/>
            </a:pPr>
            <a:r>
              <a:rPr lang="zh-CN" altLang="en-US" dirty="0">
                <a:sym typeface="+mn-ea"/>
              </a:rPr>
              <a:t>结构噪声：利用离散傅里叶变换，我们选择性地滤波高频分量，并通过逆</a:t>
            </a:r>
            <a:r>
              <a:rPr lang="en-US" altLang="zh-CN" dirty="0">
                <a:sym typeface="+mn-ea"/>
              </a:rPr>
              <a:t>FFT</a:t>
            </a:r>
            <a:r>
              <a:rPr lang="zh-CN" altLang="en-US" dirty="0">
                <a:sym typeface="+mn-ea"/>
              </a:rPr>
              <a:t>重建平滑信号，从而保留低频结构信息，同时引入受控扰动。</a:t>
            </a:r>
            <a:endParaRPr lang="zh-CN" altLang="en-US" dirty="0">
              <a:sym typeface="+mn-ea"/>
            </a:endParaRPr>
          </a:p>
          <a:p>
            <a:pPr marL="0" marR="0" lvl="0" indent="457200" algn="l" defTabSz="914400" rtl="0" eaLnBrk="0" fontAlgn="base" latinLnBrk="0" hangingPunct="0">
              <a:lnSpc>
                <a:spcPct val="100000"/>
              </a:lnSpc>
              <a:spcBef>
                <a:spcPct val="30000"/>
              </a:spcBef>
              <a:spcAft>
                <a:spcPct val="0"/>
              </a:spcAft>
              <a:buClrTx/>
              <a:buSzTx/>
              <a:buFontTx/>
              <a:buNone/>
              <a:defRPr/>
            </a:pPr>
            <a:r>
              <a:rPr lang="zh-CN" altLang="en-US" dirty="0">
                <a:sym typeface="+mn-ea"/>
              </a:rPr>
              <a:t>高低</a:t>
            </a:r>
            <a:r>
              <a:rPr lang="zh-CN" altLang="en-US" dirty="0">
                <a:sym typeface="+mn-ea"/>
              </a:rPr>
              <a:t>频：我们将具有预定权重的低频或高频信号注入输入张量中，从而能够系统地分析模型对频率的依赖行为。</a:t>
            </a:r>
            <a:endParaRPr lang="zh-CN" altLang="en-US" dirty="0">
              <a:sym typeface="+mn-ea"/>
            </a:endParaRPr>
          </a:p>
          <a:p>
            <a:pPr marL="0" marR="0" lvl="0" indent="457200" algn="l" defTabSz="914400" rtl="0" eaLnBrk="0" fontAlgn="base" latinLnBrk="0" hangingPunct="0">
              <a:lnSpc>
                <a:spcPct val="100000"/>
              </a:lnSpc>
              <a:spcBef>
                <a:spcPct val="30000"/>
              </a:spcBef>
              <a:spcAft>
                <a:spcPct val="0"/>
              </a:spcAft>
              <a:buClrTx/>
              <a:buSzTx/>
              <a:buFontTx/>
              <a:buNone/>
              <a:defRPr/>
            </a:pPr>
            <a:r>
              <a:rPr lang="zh-CN" altLang="en-US" dirty="0">
                <a:sym typeface="+mn-ea"/>
              </a:rPr>
              <a:t>高斯</a:t>
            </a:r>
            <a:r>
              <a:rPr lang="zh-CN" altLang="en-US" dirty="0">
                <a:sym typeface="+mn-ea"/>
              </a:rPr>
              <a:t>噪声：这种方法为评估随机扰动下的梯度稳定性提供了基线。</a:t>
            </a: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从这些梯度中，提取全面的统计特征，以捕获其全局特征和分布特性。基本统计特征包括代表所有元素平均值的平均值、反映平均值周围离散度的标准差以及测量矩阵整体大小的弗罗贝尼乌斯范数。为了表征梯度分布的形状，我们计算了高阶矩，包括偏度和峰度，偏度量化了分布的不对称性，峰度测量的是相对于正态分布的尾部</a:t>
            </a:r>
            <a:r>
              <a:rPr lang="zh-CN" altLang="en-US" dirty="0">
                <a:sym typeface="+mn-ea"/>
              </a:rPr>
              <a:t>权重。</a:t>
            </a:r>
            <a:r>
              <a:rPr lang="zh-CN" altLang="en-US" dirty="0">
                <a:sym typeface="+mn-ea"/>
              </a:rPr>
              <a:t>我们将分析方法从原始张量相似性转向受控扰动下的行为表征，无论其具体的架构实现如何，都可以捕获模型的功能属性。</a:t>
            </a:r>
            <a:endParaRPr lang="zh-CN" altLang="en-US" dirty="0">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使用已建立的基本模型指纹初始化质心，利用领域知识消除随机初始化偏差。这种质心初始化策略通过将架构关系合并到聚类过程中。该方法解决了标准</a:t>
            </a:r>
            <a:r>
              <a:rPr lang="en-US" altLang="zh-CN" dirty="0">
                <a:sym typeface="+mn-ea"/>
              </a:rPr>
              <a:t> K-Means </a:t>
            </a:r>
            <a:r>
              <a:rPr lang="zh-CN" altLang="en-US" dirty="0">
                <a:sym typeface="+mn-ea"/>
              </a:rPr>
              <a:t>的基本局限性，特别是它对初始质心放置和球形聚类分布假设的敏感性。在聚类过程中，质心可以通过迭代更新进行调整，同时保持其与已知架构族的连接。收敛后，每个聚类代表一个模型族，其质心反映了该族中所有成员模型的平均指纹特征。</a:t>
            </a: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成对模型相似性检测：我们的指纹识别方法可以通过在简化的特征空间中进行距离计算，直接评估任意两个模型之间的相似性。给定两个模型及其各自的指纹向量，我们计算欧几里得距离以量化它们的结构接近度。这种方法提供了一个简单的指标来评估架构相似性，而无需事先了解模型系列或聚类作。由此产生的距离用作相似性的反度量，其中较小的距离表示模型之间的结构相似性较高。</a:t>
            </a: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未知模型分类：对于以前未见过的模型的归因，我们的系统按照</a:t>
            </a:r>
            <a:r>
              <a:rPr lang="en-US" altLang="zh-CN" dirty="0">
                <a:sym typeface="+mn-ea"/>
              </a:rPr>
              <a:t> </a:t>
            </a:r>
            <a:r>
              <a:rPr lang="zh-CN" altLang="en-US" dirty="0">
                <a:sym typeface="+mn-ea"/>
              </a:rPr>
              <a:t>§</a:t>
            </a:r>
            <a:r>
              <a:rPr lang="en-US" altLang="zh-CN" dirty="0">
                <a:sym typeface="+mn-ea"/>
              </a:rPr>
              <a:t>III-C </a:t>
            </a:r>
            <a:r>
              <a:rPr lang="zh-CN" altLang="en-US" dirty="0">
                <a:sym typeface="+mn-ea"/>
              </a:rPr>
              <a:t>中描述的相同提取程序计算未知模型的归一化指纹。然后，我们计算该指纹和每个收敛簇质心之间的欧几里得距离。如果最小距离低于预定义的阈值（通过交叉验证根据经验确定，以平衡精度和召回率），系统会将相应的聚类识别为最有可能的来源族，并生成包含匹配的基本模型族、距离指标和置信度指标的分类报告。当没有质心满足阈值标准时，该模型被归类为簇外模型，这表明存在新颖的架构或与已知模型系列显着偏离的经过大量修改的变体。</a:t>
            </a:r>
            <a:endParaRPr lang="zh-CN" altLang="en-US" dirty="0">
              <a:sym typeface="+mn-ea"/>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对于相似性检测，我们根据</a:t>
            </a:r>
            <a:r>
              <a:rPr lang="en-US" altLang="zh-CN" dirty="0">
                <a:sym typeface="+mn-ea"/>
              </a:rPr>
              <a:t>REEF</a:t>
            </a:r>
            <a:r>
              <a:rPr lang="zh-CN" altLang="en-US" dirty="0">
                <a:sym typeface="+mn-ea"/>
              </a:rPr>
              <a:t>进行评估，这是一种最先进的免训练方法，可在处理相同的输入时计算内部表示之间的</a:t>
            </a:r>
            <a:r>
              <a:rPr lang="en-US" altLang="zh-CN" dirty="0">
                <a:sym typeface="+mn-ea"/>
              </a:rPr>
              <a:t>CKA</a:t>
            </a:r>
            <a:r>
              <a:rPr lang="zh-CN" altLang="en-US" dirty="0">
                <a:sym typeface="+mn-ea"/>
              </a:rPr>
              <a:t>相似性。由于</a:t>
            </a:r>
            <a:r>
              <a:rPr lang="en-US" altLang="zh-CN" dirty="0">
                <a:sym typeface="+mn-ea"/>
              </a:rPr>
              <a:t>REEF</a:t>
            </a:r>
            <a:r>
              <a:rPr lang="zh-CN" altLang="en-US" dirty="0">
                <a:sym typeface="+mn-ea"/>
              </a:rPr>
              <a:t>是唯一一种可重复的方法，其实现可以读取安全张量格式，因此我们选择它作为相似性检测任务的唯一基线。</a:t>
            </a:r>
            <a:r>
              <a:rPr lang="en-US" altLang="zh-CN" dirty="0">
                <a:sym typeface="+mn-ea"/>
              </a:rPr>
              <a:t>REEF </a:t>
            </a:r>
            <a:r>
              <a:rPr lang="zh-CN" altLang="en-US" dirty="0">
                <a:sym typeface="+mn-ea"/>
              </a:rPr>
              <a:t>在准确区分以安全张量格式存储的大型语言模型之间的相似性方面遇到了困难。在比较以下情况下，</a:t>
            </a:r>
            <a:r>
              <a:rPr lang="en-US" altLang="zh-CN" dirty="0">
                <a:sym typeface="+mn-ea"/>
              </a:rPr>
              <a:t>CKA </a:t>
            </a:r>
            <a:r>
              <a:rPr lang="zh-CN" altLang="en-US" dirty="0">
                <a:sym typeface="+mn-ea"/>
              </a:rPr>
              <a:t>相似性热图显示出最小的变化：（</a:t>
            </a:r>
            <a:r>
              <a:rPr lang="en-US" altLang="zh-CN" dirty="0">
                <a:sym typeface="+mn-ea"/>
              </a:rPr>
              <a:t>a</a:t>
            </a:r>
            <a:r>
              <a:rPr lang="zh-CN" altLang="en-US" dirty="0">
                <a:sym typeface="+mn-ea"/>
              </a:rPr>
              <a:t>）</a:t>
            </a:r>
            <a:r>
              <a:rPr lang="en-US" altLang="zh-CN" dirty="0">
                <a:sym typeface="+mn-ea"/>
              </a:rPr>
              <a:t> </a:t>
            </a:r>
            <a:r>
              <a:rPr lang="zh-CN" altLang="en-US" dirty="0">
                <a:sym typeface="+mn-ea"/>
              </a:rPr>
              <a:t>基础模型及其微调的衍生物，（</a:t>
            </a:r>
            <a:r>
              <a:rPr lang="en-US" altLang="zh-CN" dirty="0">
                <a:sym typeface="+mn-ea"/>
              </a:rPr>
              <a:t>b</a:t>
            </a:r>
            <a:r>
              <a:rPr lang="zh-CN" altLang="en-US" dirty="0">
                <a:sym typeface="+mn-ea"/>
              </a:rPr>
              <a:t>）</a:t>
            </a:r>
            <a:r>
              <a:rPr lang="en-US" altLang="zh-CN" dirty="0">
                <a:sym typeface="+mn-ea"/>
              </a:rPr>
              <a:t> </a:t>
            </a:r>
            <a:r>
              <a:rPr lang="zh-CN" altLang="en-US" dirty="0">
                <a:sym typeface="+mn-ea"/>
              </a:rPr>
              <a:t>来自同一架构系列的模型，以及</a:t>
            </a:r>
            <a:r>
              <a:rPr lang="en-US" altLang="zh-CN" dirty="0">
                <a:sym typeface="+mn-ea"/>
              </a:rPr>
              <a:t> </a:t>
            </a:r>
            <a:r>
              <a:rPr lang="zh-CN" altLang="en-US" dirty="0">
                <a:sym typeface="+mn-ea"/>
              </a:rPr>
              <a:t>（</a:t>
            </a:r>
            <a:r>
              <a:rPr lang="en-US" altLang="zh-CN" dirty="0">
                <a:sym typeface="+mn-ea"/>
              </a:rPr>
              <a:t>c</a:t>
            </a:r>
            <a:r>
              <a:rPr lang="zh-CN" altLang="en-US" dirty="0">
                <a:sym typeface="+mn-ea"/>
              </a:rPr>
              <a:t>）</a:t>
            </a:r>
            <a:r>
              <a:rPr lang="en-US" altLang="zh-CN" dirty="0">
                <a:sym typeface="+mn-ea"/>
              </a:rPr>
              <a:t> </a:t>
            </a:r>
            <a:r>
              <a:rPr lang="zh-CN" altLang="en-US" dirty="0">
                <a:sym typeface="+mn-ea"/>
              </a:rPr>
              <a:t>来自不同供应商的完全不相关的模型。生成的热图始终表现出细微的差异，这使得有效区分各种模型关系变得具有挑战性。</a:t>
            </a:r>
            <a:endParaRPr lang="zh-CN" altLang="en-US" dirty="0">
              <a:sym typeface="+mn-ea"/>
            </a:endParaRPr>
          </a:p>
          <a:p>
            <a:endParaRPr lang="en-US" altLang="zh-CN" dirty="0">
              <a:sym typeface="+mn-ea"/>
            </a:endParaRPr>
          </a:p>
          <a:p>
            <a:r>
              <a:rPr lang="en-US" altLang="zh-CN" dirty="0">
                <a:sym typeface="+mn-ea"/>
              </a:rPr>
              <a:t>TENSORGUARD </a:t>
            </a:r>
            <a:r>
              <a:rPr lang="zh-CN" altLang="en-US" dirty="0">
                <a:sym typeface="+mn-ea"/>
              </a:rPr>
              <a:t>的准确率达到了</a:t>
            </a:r>
            <a:r>
              <a:rPr lang="en-US" altLang="zh-CN" dirty="0">
                <a:sym typeface="+mn-ea"/>
              </a:rPr>
              <a:t> 94%</a:t>
            </a:r>
            <a:r>
              <a:rPr lang="zh-CN" altLang="en-US" dirty="0">
                <a:sym typeface="+mn-ea"/>
              </a:rPr>
              <a:t>，明显优于包括</a:t>
            </a:r>
            <a:r>
              <a:rPr lang="en-US" altLang="zh-CN" dirty="0">
                <a:sym typeface="+mn-ea"/>
              </a:rPr>
              <a:t> REEF </a:t>
            </a:r>
            <a:r>
              <a:rPr lang="zh-CN" altLang="en-US" dirty="0">
                <a:sym typeface="+mn-ea"/>
              </a:rPr>
              <a:t>在内的既定基线。仅观察到三种错误分类：</a:t>
            </a:r>
            <a:r>
              <a:rPr lang="en-US" altLang="zh-CN" dirty="0">
                <a:sym typeface="+mn-ea"/>
              </a:rPr>
              <a:t>gghfez/gemma3-4b-novision</a:t>
            </a:r>
            <a:r>
              <a:rPr lang="zh-CN" altLang="en-US" dirty="0">
                <a:sym typeface="+mn-ea"/>
              </a:rPr>
              <a:t>（</a:t>
            </a:r>
            <a:r>
              <a:rPr lang="en-US" altLang="zh-CN" dirty="0">
                <a:sym typeface="+mn-ea"/>
              </a:rPr>
              <a:t>gemma-3-4b-it </a:t>
            </a:r>
            <a:r>
              <a:rPr lang="zh-CN" altLang="en-US" dirty="0">
                <a:sym typeface="+mn-ea"/>
              </a:rPr>
              <a:t>衍生物）被分配到</a:t>
            </a:r>
            <a:r>
              <a:rPr lang="en-US" altLang="zh-CN" dirty="0">
                <a:sym typeface="+mn-ea"/>
              </a:rPr>
              <a:t>Llama3.2-3B,authormist/authormist-originality</a:t>
            </a:r>
            <a:r>
              <a:rPr lang="zh-CN" altLang="en-US" dirty="0">
                <a:sym typeface="+mn-ea"/>
              </a:rPr>
              <a:t>（</a:t>
            </a:r>
            <a:r>
              <a:rPr lang="en-US" altLang="zh-CN" dirty="0">
                <a:sym typeface="+mn-ea"/>
              </a:rPr>
              <a:t>Qwen2.53B </a:t>
            </a:r>
            <a:r>
              <a:rPr lang="zh-CN" altLang="en-US" dirty="0">
                <a:sym typeface="+mn-ea"/>
              </a:rPr>
              <a:t>的衍生物）被分配到</a:t>
            </a:r>
            <a:r>
              <a:rPr lang="en-US" altLang="zh-CN" dirty="0">
                <a:sym typeface="+mn-ea"/>
              </a:rPr>
              <a:t> Llama3.2-1B</a:t>
            </a:r>
            <a:r>
              <a:rPr lang="zh-CN" altLang="en-US" dirty="0">
                <a:sym typeface="+mn-ea"/>
              </a:rPr>
              <a:t>，以及</a:t>
            </a:r>
            <a:r>
              <a:rPr lang="en-US" altLang="zh-CN" dirty="0">
                <a:sym typeface="+mn-ea"/>
              </a:rPr>
              <a:t> SicariusSicariiStuff/Philthy4 </a:t>
            </a:r>
            <a:r>
              <a:rPr lang="zh-CN" altLang="en-US" dirty="0">
                <a:sym typeface="+mn-ea"/>
              </a:rPr>
              <a:t>被分配到</a:t>
            </a:r>
            <a:r>
              <a:rPr lang="en-US" altLang="zh-CN" dirty="0">
                <a:sym typeface="+mn-ea"/>
              </a:rPr>
              <a:t> Llama3.1-8B</a:t>
            </a:r>
            <a:r>
              <a:rPr lang="zh-CN" altLang="en-US" dirty="0">
                <a:sym typeface="+mn-ea"/>
              </a:rPr>
              <a:t>。这种罕见的错误分类可归因于广泛的微调，这些微调极大地改变了模型的梯度特征，可能导致这些导数表现出偏离其原始家族特征的梯度模式。</a:t>
            </a:r>
            <a:endParaRPr lang="zh-CN" altLang="en-US" dirty="0">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我们的分析揭示了不同扰动策略的灵敏度模式存在明显差异。如图</a:t>
            </a:r>
            <a:r>
              <a:rPr lang="en-US" altLang="zh-CN" dirty="0"/>
              <a:t> 5 </a:t>
            </a:r>
            <a:r>
              <a:rPr lang="zh-CN" altLang="en-US" dirty="0"/>
              <a:t>所示，随机扰动会产生跨张量层的不同灵敏度分数，从而可以更清楚地区分架构漏洞。例如，</a:t>
            </a:r>
            <a:r>
              <a:rPr lang="en-US" altLang="zh-CN" dirty="0"/>
              <a:t>mlp.down_proj</a:t>
            </a:r>
            <a:r>
              <a:rPr lang="zh-CN" altLang="en-US" dirty="0"/>
              <a:t>层的灵敏度得分范围为</a:t>
            </a:r>
            <a:r>
              <a:rPr lang="en-US" altLang="zh-CN" dirty="0"/>
              <a:t> 1.66 </a:t>
            </a:r>
            <a:r>
              <a:rPr lang="zh-CN" altLang="en-US" dirty="0"/>
              <a:t>至</a:t>
            </a:r>
            <a:r>
              <a:rPr lang="en-US" altLang="zh-CN" dirty="0"/>
              <a:t> 1.93</a:t>
            </a:r>
            <a:r>
              <a:rPr lang="zh-CN" altLang="en-US" dirty="0"/>
              <a:t>，而非</a:t>
            </a:r>
            <a:r>
              <a:rPr lang="en-US" altLang="zh-CN" dirty="0"/>
              <a:t>down_proj</a:t>
            </a:r>
            <a:r>
              <a:rPr lang="zh-CN" altLang="en-US" dirty="0"/>
              <a:t>层则表现出更适中但仍可区分的值。相比之下，其他五种扰动类型（对抗性、结构化、高斯、低频和高频）产生几乎均匀的分数：非</a:t>
            </a:r>
            <a:r>
              <a:rPr lang="en-US" altLang="zh-CN" dirty="0"/>
              <a:t>down_proj</a:t>
            </a:r>
            <a:r>
              <a:rPr lang="zh-CN" altLang="en-US" dirty="0"/>
              <a:t>层约为</a:t>
            </a:r>
            <a:r>
              <a:rPr lang="en-US" altLang="zh-CN" dirty="0"/>
              <a:t> 0.88</a:t>
            </a:r>
            <a:r>
              <a:rPr lang="zh-CN" altLang="en-US" dirty="0"/>
              <a:t>，</a:t>
            </a:r>
            <a:r>
              <a:rPr lang="en-US" altLang="zh-CN" dirty="0"/>
              <a:t>down_proj</a:t>
            </a:r>
            <a:r>
              <a:rPr lang="zh-CN" altLang="en-US" dirty="0"/>
              <a:t>层约为</a:t>
            </a:r>
            <a:r>
              <a:rPr lang="en-US" altLang="zh-CN" dirty="0"/>
              <a:t> 1.76–1.77</a:t>
            </a:r>
            <a:r>
              <a:rPr lang="zh-CN" altLang="en-US" dirty="0"/>
              <a:t>。这种均匀性阻碍了区分特定层行为的能力。因此，随机扰动被证明在揭示灵敏度的细粒度差异方面最有效，特别是对于识别高响应分量（例如</a:t>
            </a:r>
            <a:r>
              <a:rPr lang="en-US" altLang="zh-CN" dirty="0"/>
              <a:t>down_proj</a:t>
            </a:r>
            <a:r>
              <a:rPr lang="zh-CN" altLang="en-US" dirty="0"/>
              <a:t>层）而言。</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sym typeface="+mn-ea"/>
              </a:rPr>
              <a:t>如表</a:t>
            </a:r>
            <a:r>
              <a:rPr lang="en-US" altLang="zh-CN" dirty="0">
                <a:sym typeface="+mn-ea"/>
              </a:rPr>
              <a:t> I </a:t>
            </a:r>
            <a:r>
              <a:rPr lang="zh-CN" altLang="en-US" dirty="0">
                <a:sym typeface="+mn-ea"/>
              </a:rPr>
              <a:t>所示，质心初始化的</a:t>
            </a:r>
            <a:r>
              <a:rPr lang="en-US" altLang="zh-CN" dirty="0">
                <a:sym typeface="+mn-ea"/>
              </a:rPr>
              <a:t> K-Means </a:t>
            </a:r>
            <a:r>
              <a:rPr lang="zh-CN" altLang="en-US" dirty="0">
                <a:sym typeface="+mn-ea"/>
              </a:rPr>
              <a:t>达到了</a:t>
            </a:r>
            <a:r>
              <a:rPr lang="en-US" altLang="zh-CN" dirty="0">
                <a:sym typeface="+mn-ea"/>
              </a:rPr>
              <a:t> 94% </a:t>
            </a:r>
            <a:r>
              <a:rPr lang="zh-CN" altLang="en-US" dirty="0">
                <a:sym typeface="+mn-ea"/>
              </a:rPr>
              <a:t>的准确率（见图</a:t>
            </a:r>
            <a:r>
              <a:rPr lang="en-US" altLang="zh-CN" dirty="0">
                <a:sym typeface="+mn-ea"/>
              </a:rPr>
              <a:t> 4</a:t>
            </a:r>
            <a:r>
              <a:rPr lang="zh-CN" altLang="en-US" dirty="0">
                <a:sym typeface="+mn-ea"/>
              </a:rPr>
              <a:t>），其次是分层聚类（</a:t>
            </a:r>
            <a:r>
              <a:rPr lang="en-US" altLang="zh-CN" dirty="0">
                <a:sym typeface="+mn-ea"/>
              </a:rPr>
              <a:t>78%</a:t>
            </a:r>
            <a:r>
              <a:rPr lang="zh-CN" altLang="en-US" dirty="0">
                <a:sym typeface="+mn-ea"/>
              </a:rPr>
              <a:t>）、</a:t>
            </a:r>
            <a:r>
              <a:rPr lang="en-US" altLang="zh-CN" dirty="0">
                <a:sym typeface="+mn-ea"/>
              </a:rPr>
              <a:t>GMM </a:t>
            </a:r>
            <a:r>
              <a:rPr lang="zh-CN" altLang="en-US" dirty="0">
                <a:sym typeface="+mn-ea"/>
              </a:rPr>
              <a:t>（</a:t>
            </a:r>
            <a:r>
              <a:rPr lang="en-US" altLang="zh-CN" dirty="0">
                <a:sym typeface="+mn-ea"/>
              </a:rPr>
              <a:t>76%</a:t>
            </a:r>
            <a:r>
              <a:rPr lang="zh-CN" altLang="en-US" dirty="0">
                <a:sym typeface="+mn-ea"/>
              </a:rPr>
              <a:t>）和</a:t>
            </a:r>
            <a:r>
              <a:rPr lang="en-US" altLang="zh-CN" dirty="0">
                <a:sym typeface="+mn-ea"/>
              </a:rPr>
              <a:t> DBSCAN</a:t>
            </a:r>
            <a:r>
              <a:rPr lang="zh-CN" altLang="en-US" dirty="0">
                <a:sym typeface="+mn-ea"/>
              </a:rPr>
              <a:t>（仅</a:t>
            </a:r>
            <a:r>
              <a:rPr lang="en-US" altLang="zh-CN" dirty="0">
                <a:sym typeface="+mn-ea"/>
              </a:rPr>
              <a:t> 44%</a:t>
            </a:r>
            <a:r>
              <a:rPr lang="zh-CN" altLang="en-US" dirty="0">
                <a:sym typeface="+mn-ea"/>
              </a:rPr>
              <a:t>）。质心初始化聚类的卓越性能源于它能够利用基础模型指纹的先验知识作为初始化点，消除随机或数据驱动初始化策略固有的模糊性。传统的聚类方法难以处理重叠的嵌入和边界情况，特别是当微调的变体表现出微妙的指纹变化，使自动聚类分配变得混乱时。</a:t>
            </a:r>
            <a:endParaRPr lang="zh-CN" altLang="en-US" dirty="0">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cxnSp>
        <p:nvCxnSpPr>
          <p:cNvPr id="8" name="直接连接符 7"/>
          <p:cNvCxnSpPr/>
          <p:nvPr userDrawn="1"/>
        </p:nvCxnSpPr>
        <p:spPr>
          <a:xfrm>
            <a:off x="0" y="926446"/>
            <a:ext cx="121920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0" y="238125"/>
            <a:ext cx="542925" cy="6883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1"/>
          <p:cNvSpPr>
            <a:spLocks noGrp="1"/>
          </p:cNvSpPr>
          <p:nvPr>
            <p:ph type="body" sz="quarter" idx="10" hasCustomPrompt="1"/>
          </p:nvPr>
        </p:nvSpPr>
        <p:spPr>
          <a:xfrm>
            <a:off x="590550" y="349251"/>
            <a:ext cx="4772025" cy="523220"/>
          </a:xfrm>
        </p:spPr>
        <p:txBody>
          <a:bodyPr>
            <a:spAutoFit/>
          </a:bodyPr>
          <a:lstStyle>
            <a:lvl1pPr marL="0" marR="0" indent="0" algn="l" defTabSz="914400" rtl="0" eaLnBrk="1" fontAlgn="auto" latinLnBrk="0" hangingPunct="1">
              <a:lnSpc>
                <a:spcPct val="100000"/>
              </a:lnSpc>
              <a:spcBef>
                <a:spcPts val="0"/>
              </a:spcBef>
              <a:spcAft>
                <a:spcPts val="0"/>
              </a:spcAft>
              <a:buClrTx/>
              <a:buSzTx/>
              <a:buFontTx/>
              <a:buNone/>
              <a:defRPr kumimoji="0" lang="zh-CN" altLang="en-US" sz="2800" b="1" i="0" u="none" strike="noStrike" kern="1200" cap="none" spc="0" normalizeH="0" baseline="0" noProof="0">
                <a:ln>
                  <a:noFill/>
                </a:ln>
                <a:solidFill>
                  <a:schemeClr val="accent1"/>
                </a:solidFill>
                <a:effectLst/>
                <a:uLnTx/>
                <a:uFillTx/>
                <a:latin typeface="Arial" panose="020B0604020202020204"/>
                <a:ea typeface="微软雅黑" panose="020B0503020204020204" pitchFamily="34" charset="-122"/>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mn-lt"/>
                <a:ea typeface="+mn-ea"/>
                <a:cs typeface="+mn-cs"/>
              </a:rPr>
              <a:t>请输入你的标题或观点</a:t>
            </a:r>
            <a:endParaRPr kumimoji="0" lang="zh-CN" altLang="en-US" sz="2800" b="1" i="0" u="none" strike="noStrike" kern="1200" cap="none" spc="0" normalizeH="0" baseline="0" noProof="0" dirty="0">
              <a:ln>
                <a:noFill/>
              </a:ln>
              <a:solidFill>
                <a:srgbClr val="4472C4"/>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4.bin"/><Relationship Id="rId8" Type="http://schemas.openxmlformats.org/officeDocument/2006/relationships/image" Target="../media/image15.wmf"/><Relationship Id="rId7" Type="http://schemas.openxmlformats.org/officeDocument/2006/relationships/oleObject" Target="../embeddings/oleObject3.bin"/><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 Id="rId3" Type="http://schemas.openxmlformats.org/officeDocument/2006/relationships/oleObject" Target="../embeddings/oleObject1.bin"/><Relationship Id="rId2" Type="http://schemas.openxmlformats.org/officeDocument/2006/relationships/image" Target="../media/image4.png"/><Relationship Id="rId17" Type="http://schemas.openxmlformats.org/officeDocument/2006/relationships/notesSlide" Target="../notesSlides/notesSlide7.xml"/><Relationship Id="rId16" Type="http://schemas.openxmlformats.org/officeDocument/2006/relationships/vmlDrawing" Target="../drawings/vmlDrawing1.vml"/><Relationship Id="rId15" Type="http://schemas.openxmlformats.org/officeDocument/2006/relationships/slideLayout" Target="../slideLayouts/slideLayout1.xml"/><Relationship Id="rId14" Type="http://schemas.openxmlformats.org/officeDocument/2006/relationships/image" Target="../media/image20.png"/><Relationship Id="rId13" Type="http://schemas.openxmlformats.org/officeDocument/2006/relationships/image" Target="../media/image19.png"/><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image" Target="../media/image16.wmf"/><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15.wmf"/><Relationship Id="rId7" Type="http://schemas.openxmlformats.org/officeDocument/2006/relationships/oleObject" Target="../embeddings/oleObject7.bin"/><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13.wmf"/><Relationship Id="rId3" Type="http://schemas.openxmlformats.org/officeDocument/2006/relationships/oleObject" Target="../embeddings/oleObject5.bin"/><Relationship Id="rId2" Type="http://schemas.openxmlformats.org/officeDocument/2006/relationships/image" Target="../media/image4.png"/><Relationship Id="rId15" Type="http://schemas.openxmlformats.org/officeDocument/2006/relationships/notesSlide" Target="../notesSlides/notesSlide8.xml"/><Relationship Id="rId14" Type="http://schemas.openxmlformats.org/officeDocument/2006/relationships/vmlDrawing" Target="../drawings/vmlDrawing2.vml"/><Relationship Id="rId13" Type="http://schemas.openxmlformats.org/officeDocument/2006/relationships/slideLayout" Target="../slideLayouts/slideLayout1.xml"/><Relationship Id="rId12" Type="http://schemas.openxmlformats.org/officeDocument/2006/relationships/image" Target="../media/image22.png"/><Relationship Id="rId11" Type="http://schemas.openxmlformats.org/officeDocument/2006/relationships/image" Target="../media/image21.png"/><Relationship Id="rId10" Type="http://schemas.openxmlformats.org/officeDocument/2006/relationships/image" Target="../media/image16.wmf"/><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15.wmf"/><Relationship Id="rId7" Type="http://schemas.openxmlformats.org/officeDocument/2006/relationships/oleObject" Target="../embeddings/oleObject11.bin"/><Relationship Id="rId6" Type="http://schemas.openxmlformats.org/officeDocument/2006/relationships/image" Target="../media/image14.wmf"/><Relationship Id="rId5" Type="http://schemas.openxmlformats.org/officeDocument/2006/relationships/oleObject" Target="../embeddings/oleObject10.bin"/><Relationship Id="rId4" Type="http://schemas.openxmlformats.org/officeDocument/2006/relationships/image" Target="../media/image13.wmf"/><Relationship Id="rId3" Type="http://schemas.openxmlformats.org/officeDocument/2006/relationships/oleObject" Target="../embeddings/oleObject9.bin"/><Relationship Id="rId2" Type="http://schemas.openxmlformats.org/officeDocument/2006/relationships/image" Target="../media/image4.png"/><Relationship Id="rId17" Type="http://schemas.openxmlformats.org/officeDocument/2006/relationships/notesSlide" Target="../notesSlides/notesSlide9.xml"/><Relationship Id="rId16" Type="http://schemas.openxmlformats.org/officeDocument/2006/relationships/vmlDrawing" Target="../drawings/vmlDrawing3.vml"/><Relationship Id="rId15" Type="http://schemas.openxmlformats.org/officeDocument/2006/relationships/slideLayout" Target="../slideLayouts/slideLayout1.xml"/><Relationship Id="rId14" Type="http://schemas.openxmlformats.org/officeDocument/2006/relationships/image" Target="../media/image26.png"/><Relationship Id="rId13" Type="http://schemas.openxmlformats.org/officeDocument/2006/relationships/image" Target="../media/image25.png"/><Relationship Id="rId12" Type="http://schemas.openxmlformats.org/officeDocument/2006/relationships/image" Target="../media/image24.png"/><Relationship Id="rId11" Type="http://schemas.openxmlformats.org/officeDocument/2006/relationships/image" Target="../media/image23.png"/><Relationship Id="rId10" Type="http://schemas.openxmlformats.org/officeDocument/2006/relationships/image" Target="../media/image16.wmf"/><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15.wmf"/><Relationship Id="rId7" Type="http://schemas.openxmlformats.org/officeDocument/2006/relationships/oleObject" Target="../embeddings/oleObject15.bin"/><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image" Target="../media/image13.wmf"/><Relationship Id="rId3" Type="http://schemas.openxmlformats.org/officeDocument/2006/relationships/oleObject" Target="../embeddings/oleObject13.bin"/><Relationship Id="rId2" Type="http://schemas.openxmlformats.org/officeDocument/2006/relationships/image" Target="../media/image4.png"/><Relationship Id="rId16" Type="http://schemas.openxmlformats.org/officeDocument/2006/relationships/notesSlide" Target="../notesSlides/notesSlide10.xml"/><Relationship Id="rId15" Type="http://schemas.openxmlformats.org/officeDocument/2006/relationships/vmlDrawing" Target="../drawings/vmlDrawing4.vml"/><Relationship Id="rId14" Type="http://schemas.openxmlformats.org/officeDocument/2006/relationships/slideLayout" Target="../slideLayouts/slideLayout1.xml"/><Relationship Id="rId13" Type="http://schemas.openxmlformats.org/officeDocument/2006/relationships/image" Target="../media/image29.png"/><Relationship Id="rId12" Type="http://schemas.openxmlformats.org/officeDocument/2006/relationships/image" Target="../media/image28.png"/><Relationship Id="rId11" Type="http://schemas.openxmlformats.org/officeDocument/2006/relationships/image" Target="../media/image27.png"/><Relationship Id="rId10" Type="http://schemas.openxmlformats.org/officeDocument/2006/relationships/image" Target="../media/image16.wmf"/><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image" Target="../media/image31.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1"/>
          <a:stretch>
            <a:fillRect/>
          </a:stretch>
        </p:blipFill>
        <p:spPr>
          <a:xfrm>
            <a:off x="6326188" y="5200650"/>
            <a:ext cx="5865812" cy="1657350"/>
          </a:xfrm>
          <a:prstGeom prst="rect">
            <a:avLst/>
          </a:prstGeom>
          <a:noFill/>
          <a:ln w="9525">
            <a:noFill/>
          </a:ln>
        </p:spPr>
      </p:pic>
      <p:sp>
        <p:nvSpPr>
          <p:cNvPr id="3075" name="文本框 62"/>
          <p:cNvSpPr txBox="1"/>
          <p:nvPr/>
        </p:nvSpPr>
        <p:spPr>
          <a:xfrm>
            <a:off x="1092200" y="2306955"/>
            <a:ext cx="10564495" cy="119888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en-US" altLang="zh-CN" sz="3600" b="1" dirty="0">
                <a:solidFill>
                  <a:srgbClr val="4B649F"/>
                </a:solidFill>
              </a:rPr>
              <a:t>Gradient-Based Model Fingerprinting for LLM Similarity Detection and Family Classification</a:t>
            </a:r>
            <a:endParaRPr lang="en-US" altLang="zh-CN" sz="3600" b="1" dirty="0">
              <a:solidFill>
                <a:srgbClr val="4B649F"/>
              </a:solidFill>
            </a:endParaRPr>
          </a:p>
        </p:txBody>
      </p:sp>
      <p:grpSp>
        <p:nvGrpSpPr>
          <p:cNvPr id="3076" name="组合 1026"/>
          <p:cNvGrpSpPr/>
          <p:nvPr/>
        </p:nvGrpSpPr>
        <p:grpSpPr>
          <a:xfrm>
            <a:off x="9100820" y="3804603"/>
            <a:ext cx="315913" cy="317500"/>
            <a:chOff x="2724480" y="3856218"/>
            <a:chExt cx="317004" cy="317004"/>
          </a:xfrm>
        </p:grpSpPr>
        <p:sp>
          <p:nvSpPr>
            <p:cNvPr id="1024" name="椭圆 1023"/>
            <p:cNvSpPr/>
            <p:nvPr/>
          </p:nvSpPr>
          <p:spPr>
            <a:xfrm>
              <a:off x="2724480"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03" name="KSO_Shape"/>
            <p:cNvSpPr/>
            <p:nvPr/>
          </p:nvSpPr>
          <p:spPr bwMode="auto">
            <a:xfrm>
              <a:off x="2799351" y="3908523"/>
              <a:ext cx="167263" cy="212393"/>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3077" name="文本框 1027"/>
          <p:cNvSpPr txBox="1"/>
          <p:nvPr/>
        </p:nvSpPr>
        <p:spPr>
          <a:xfrm>
            <a:off x="9417050" y="3780155"/>
            <a:ext cx="1783080" cy="369570"/>
          </a:xfrm>
          <a:prstGeom prst="rect">
            <a:avLst/>
          </a:prstGeom>
          <a:noFill/>
          <a:ln w="9525">
            <a:noFill/>
          </a:ln>
        </p:spPr>
        <p:txBody>
          <a:bodyPr wrap="none">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1800" dirty="0"/>
              <a:t>报告人：潘显聪</a:t>
            </a:r>
            <a:endParaRPr lang="zh-CN" altLang="en-US" sz="1800" dirty="0"/>
          </a:p>
          <a:p>
            <a:pPr marL="0" lvl="0" indent="0" eaLnBrk="1" hangingPunct="1">
              <a:lnSpc>
                <a:spcPct val="100000"/>
              </a:lnSpc>
              <a:spcBef>
                <a:spcPct val="0"/>
              </a:spcBef>
              <a:buFontTx/>
              <a:buNone/>
            </a:pPr>
            <a:endParaRPr lang="zh-CN" altLang="en-US" sz="1800" dirty="0"/>
          </a:p>
          <a:p>
            <a:pPr marL="0" lvl="0" indent="0" eaLnBrk="1" hangingPunct="1">
              <a:lnSpc>
                <a:spcPct val="100000"/>
              </a:lnSpc>
              <a:spcBef>
                <a:spcPct val="0"/>
              </a:spcBef>
              <a:buFontTx/>
              <a:buNone/>
            </a:pPr>
            <a:endParaRPr lang="zh-CN" altLang="en-US" sz="1800" dirty="0"/>
          </a:p>
          <a:p>
            <a:pPr marL="0" lvl="0" indent="0" eaLnBrk="1" hangingPunct="1">
              <a:lnSpc>
                <a:spcPct val="100000"/>
              </a:lnSpc>
              <a:spcBef>
                <a:spcPct val="0"/>
              </a:spcBef>
              <a:buFontTx/>
              <a:buNone/>
            </a:pPr>
            <a:endParaRPr lang="en-US" altLang="zh-CN" sz="1800" dirty="0"/>
          </a:p>
        </p:txBody>
      </p:sp>
      <p:sp>
        <p:nvSpPr>
          <p:cNvPr id="1068" name="矩形 1067"/>
          <p:cNvSpPr/>
          <p:nvPr/>
        </p:nvSpPr>
        <p:spPr>
          <a:xfrm>
            <a:off x="1091565" y="1799590"/>
            <a:ext cx="10565130" cy="285242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069" name="矩形 1068"/>
          <p:cNvSpPr/>
          <p:nvPr/>
        </p:nvSpPr>
        <p:spPr>
          <a:xfrm>
            <a:off x="11306175" y="4276408"/>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7" name="矩形 116"/>
          <p:cNvSpPr/>
          <p:nvPr/>
        </p:nvSpPr>
        <p:spPr>
          <a:xfrm>
            <a:off x="11545253" y="4549458"/>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8" name="矩形 117"/>
          <p:cNvSpPr/>
          <p:nvPr/>
        </p:nvSpPr>
        <p:spPr>
          <a:xfrm>
            <a:off x="765810" y="1557973"/>
            <a:ext cx="474663"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9" name="矩形 118"/>
          <p:cNvSpPr/>
          <p:nvPr/>
        </p:nvSpPr>
        <p:spPr>
          <a:xfrm>
            <a:off x="985520" y="1683068"/>
            <a:ext cx="474663" cy="474663"/>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pic>
        <p:nvPicPr>
          <p:cNvPr id="3083" name="图片 1"/>
          <p:cNvPicPr>
            <a:picLocks noChangeAspect="1"/>
          </p:cNvPicPr>
          <p:nvPr/>
        </p:nvPicPr>
        <p:blipFill>
          <a:blip r:embed="rId2"/>
          <a:stretch>
            <a:fillRect/>
          </a:stretch>
        </p:blipFill>
        <p:spPr>
          <a:xfrm>
            <a:off x="0" y="0"/>
            <a:ext cx="4344988" cy="1033463"/>
          </a:xfrm>
          <a:prstGeom prst="rect">
            <a:avLst/>
          </a:prstGeom>
          <a:noFill/>
          <a:ln w="9525">
            <a:noFill/>
          </a:ln>
        </p:spPr>
      </p:pic>
      <p:sp>
        <p:nvSpPr>
          <p:cNvPr id="2" name="文本框 1"/>
          <p:cNvSpPr txBox="1"/>
          <p:nvPr/>
        </p:nvSpPr>
        <p:spPr>
          <a:xfrm>
            <a:off x="2221865" y="4115435"/>
            <a:ext cx="9070975" cy="463550"/>
          </a:xfrm>
          <a:prstGeom prst="rect">
            <a:avLst/>
          </a:prstGeom>
          <a:noFill/>
        </p:spPr>
        <p:txBody>
          <a:bodyPr wrap="square" rtlCol="0">
            <a:noAutofit/>
          </a:bodyPr>
          <a:lstStyle/>
          <a:p>
            <a:pPr algn="r"/>
            <a:r>
              <a:rPr lang="en-US" altLang="zh-CN" dirty="0">
                <a:latin typeface="+mn-ea"/>
                <a:ea typeface="+mn-ea"/>
              </a:rPr>
              <a:t>Machine Learning 2025</a:t>
            </a:r>
            <a:endParaRPr lang="en-US" altLang="zh-CN" dirty="0">
              <a:latin typeface="+mn-ea"/>
              <a:ea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a:t>
            </a:r>
            <a:r>
              <a:rPr lang="en-US" altLang="zh-CN" sz="2000" dirty="0">
                <a:latin typeface="+mj-ea"/>
                <a:ea typeface="+mj-ea"/>
              </a:rPr>
              <a:t>ABSTRACT</a:t>
            </a:r>
            <a:endParaRPr lang="zh-CN" altLang="en-US" sz="2000" dirty="0">
              <a:latin typeface="+mj-ea"/>
              <a:ea typeface="+mj-ea"/>
            </a:endParaRPr>
          </a:p>
        </p:txBody>
      </p:sp>
      <p:sp>
        <p:nvSpPr>
          <p:cNvPr id="2" name="文本框 1"/>
          <p:cNvSpPr txBox="1"/>
          <p:nvPr/>
        </p:nvSpPr>
        <p:spPr>
          <a:xfrm>
            <a:off x="958850" y="1809115"/>
            <a:ext cx="9865995" cy="4707890"/>
          </a:xfrm>
          <a:prstGeom prst="rect">
            <a:avLst/>
          </a:prstGeom>
          <a:noFill/>
        </p:spPr>
        <p:txBody>
          <a:bodyPr wrap="square" rtlCol="0">
            <a:spAutoFit/>
          </a:bodyPr>
          <a:lstStyle/>
          <a:p>
            <a:pPr marL="0" marR="0">
              <a:lnSpc>
                <a:spcPct val="150000"/>
              </a:lnSpc>
              <a:spcBef>
                <a:spcPts val="0"/>
              </a:spcBef>
              <a:spcAft>
                <a:spcPts val="0"/>
              </a:spcAft>
            </a:pPr>
            <a:r>
              <a:rPr lang="en-US" altLang="zh-CN" sz="2000" dirty="0">
                <a:effectLst/>
              </a:rPr>
              <a:t>	</a:t>
            </a:r>
            <a:r>
              <a:rPr lang="zh-CN" altLang="en-US" sz="2000" dirty="0">
                <a:effectLst/>
              </a:rPr>
              <a:t>随着大型语言模型（</a:t>
            </a:r>
            <a:r>
              <a:rPr lang="en-US" altLang="zh-CN" sz="2000" dirty="0">
                <a:effectLst/>
              </a:rPr>
              <a:t>LLMs</a:t>
            </a:r>
            <a:r>
              <a:rPr lang="zh-CN" altLang="en-US" sz="2000" dirty="0">
                <a:effectLst/>
              </a:rPr>
              <a:t>）成为现代应用中的核心软件组件，通过微调、合并和重新分发进行的未经授权的模型衍生已成为关键的软件工程挑战。不同于传统软件中克隆检测和许可证合规性已得到妥善处理的情况，</a:t>
            </a:r>
            <a:r>
              <a:rPr lang="en-US" altLang="zh-CN" sz="2000" dirty="0">
                <a:effectLst/>
              </a:rPr>
              <a:t>LLM</a:t>
            </a:r>
            <a:r>
              <a:rPr lang="zh-CN" altLang="en-US" sz="2000" dirty="0">
                <a:effectLst/>
              </a:rPr>
              <a:t>生态系统缺乏有效机制来检测模型血统和执行许可证协议。当像</a:t>
            </a:r>
            <a:r>
              <a:rPr lang="en-US" altLang="zh-CN" sz="2000" dirty="0">
                <a:effectLst/>
              </a:rPr>
              <a:t>Meta</a:t>
            </a:r>
            <a:r>
              <a:rPr lang="zh-CN" altLang="en-US" sz="2000" dirty="0">
                <a:effectLst/>
              </a:rPr>
              <a:t>的</a:t>
            </a:r>
            <a:r>
              <a:rPr lang="en-US" altLang="zh-CN" sz="2000" dirty="0">
                <a:effectLst/>
              </a:rPr>
              <a:t>LLaMA</a:t>
            </a:r>
            <a:r>
              <a:rPr lang="zh-CN" altLang="en-US" sz="2000" dirty="0">
                <a:effectLst/>
              </a:rPr>
              <a:t>这样的开源模型创建者要求衍生作品以保持命名规范进行归属时，这一差距尤其成问题，但目前尚无技术手段验证合规性。</a:t>
            </a:r>
            <a:endParaRPr lang="zh-CN" altLang="en-US" sz="2000" dirty="0">
              <a:effectLst/>
            </a:endParaRPr>
          </a:p>
          <a:p>
            <a:pPr marL="0" marR="0">
              <a:lnSpc>
                <a:spcPct val="150000"/>
              </a:lnSpc>
              <a:spcBef>
                <a:spcPts val="0"/>
              </a:spcBef>
              <a:spcAft>
                <a:spcPts val="0"/>
              </a:spcAft>
            </a:pPr>
            <a:r>
              <a:rPr lang="zh-CN" altLang="en-US" sz="2000" dirty="0">
                <a:effectLst/>
              </a:rPr>
              <a:t>为了填补这一空白，我们将</a:t>
            </a:r>
            <a:r>
              <a:rPr lang="en-US" altLang="zh-CN" sz="2000" dirty="0">
                <a:effectLst/>
              </a:rPr>
              <a:t>LLMs</a:t>
            </a:r>
            <a:r>
              <a:rPr lang="zh-CN" altLang="en-US" sz="2000" dirty="0">
                <a:effectLst/>
              </a:rPr>
              <a:t>视为需要来源追踪的软件工件，提出了一个基于梯度的指纹识别框架</a:t>
            </a:r>
            <a:r>
              <a:rPr lang="en-US" altLang="zh-CN" sz="2000" dirty="0">
                <a:effectLst/>
              </a:rPr>
              <a:t>TENSORGUARD</a:t>
            </a:r>
            <a:r>
              <a:rPr lang="zh-CN" altLang="en-US" sz="2000" dirty="0">
                <a:effectLst/>
              </a:rPr>
              <a:t>，用于</a:t>
            </a:r>
            <a:r>
              <a:rPr lang="en-US" altLang="zh-CN" sz="2000" dirty="0">
                <a:effectLst/>
              </a:rPr>
              <a:t>LLM</a:t>
            </a:r>
            <a:r>
              <a:rPr lang="zh-CN" altLang="en-US" sz="2000" dirty="0">
                <a:effectLst/>
              </a:rPr>
              <a:t>相似性检测和家族分类。</a:t>
            </a:r>
            <a:r>
              <a:rPr lang="zh-CN" altLang="en-US" sz="2000" dirty="0">
                <a:solidFill>
                  <a:srgbClr val="FF0000"/>
                </a:solidFill>
                <a:effectLst/>
              </a:rPr>
              <a:t>我们的方法通过分析张量层对随机输入扰动的梯度响应来提取模型内在的行为特征，独立于训练数据、水印或特定模型格式操作</a:t>
            </a:r>
            <a:r>
              <a:rPr lang="zh-CN" altLang="en-US" sz="2000" dirty="0">
                <a:effectLst/>
              </a:rPr>
              <a:t>。</a:t>
            </a:r>
            <a:r>
              <a:rPr lang="en-US" altLang="zh-CN" sz="2000" dirty="0">
                <a:effectLst/>
              </a:rPr>
              <a:t>TENSORGUARD</a:t>
            </a:r>
            <a:r>
              <a:rPr lang="zh-CN" altLang="en-US" sz="2000" dirty="0">
                <a:effectLst/>
              </a:rPr>
              <a:t>支持广泛采用的</a:t>
            </a:r>
            <a:r>
              <a:rPr lang="en-US" altLang="zh-CN" sz="2000" dirty="0">
                <a:effectLst/>
              </a:rPr>
              <a:t>safetensors</a:t>
            </a:r>
            <a:r>
              <a:rPr lang="zh-CN" altLang="en-US" sz="2000" dirty="0">
                <a:effectLst/>
              </a:rPr>
              <a:t>格式，并通过对梯度特征进行统计分析构建高维指纹。</a:t>
            </a:r>
            <a:endParaRPr lang="zh-CN" altLang="en-US" sz="2000" dirty="0">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INTRODUCTION</a:t>
            </a:r>
            <a:endParaRPr lang="zh-CN" altLang="en-US" sz="2000" dirty="0">
              <a:latin typeface="+mj-ea"/>
              <a:ea typeface="+mj-ea"/>
            </a:endParaRPr>
          </a:p>
        </p:txBody>
      </p:sp>
      <p:sp>
        <p:nvSpPr>
          <p:cNvPr id="8" name="文本框 7"/>
          <p:cNvSpPr txBox="1"/>
          <p:nvPr/>
        </p:nvSpPr>
        <p:spPr>
          <a:xfrm>
            <a:off x="-55880" y="2037080"/>
            <a:ext cx="10165715" cy="4707890"/>
          </a:xfrm>
          <a:prstGeom prst="rect">
            <a:avLst/>
          </a:prstGeom>
          <a:noFill/>
        </p:spPr>
        <p:txBody>
          <a:bodyPr wrap="square" rtlCol="0">
            <a:spAutoFit/>
          </a:bodyPr>
          <a:lstStyle/>
          <a:p>
            <a:pPr indent="457200" algn="l">
              <a:lnSpc>
                <a:spcPct val="150000"/>
              </a:lnSpc>
            </a:pPr>
            <a:r>
              <a:rPr lang="zh-CN" altLang="en-US" sz="2000" dirty="0">
                <a:effectLst/>
              </a:rPr>
              <a:t>传统软件拥有成熟的克隆检测、许可证合规和知识产权保护生态系统，</a:t>
            </a:r>
            <a:endParaRPr lang="zh-CN" altLang="en-US" sz="2000" dirty="0">
              <a:effectLst/>
            </a:endParaRPr>
          </a:p>
          <a:p>
            <a:pPr indent="457200" algn="l">
              <a:lnSpc>
                <a:spcPct val="150000"/>
              </a:lnSpc>
            </a:pPr>
            <a:r>
              <a:rPr lang="en-US" altLang="zh-CN" sz="2000" dirty="0">
                <a:effectLst/>
              </a:rPr>
              <a:t>LLM</a:t>
            </a:r>
            <a:r>
              <a:rPr lang="zh-CN" altLang="en-US" sz="2000" dirty="0">
                <a:effectLst/>
              </a:rPr>
              <a:t>领域却缺乏模型血统追踪、衍生作品检测和架构家族分类的相应机制。</a:t>
            </a:r>
            <a:endParaRPr lang="zh-CN" altLang="en-US" sz="2000" dirty="0">
              <a:effectLst/>
            </a:endParaRPr>
          </a:p>
          <a:p>
            <a:pPr marL="0" lvl="0" indent="457200">
              <a:lnSpc>
                <a:spcPct val="150000"/>
              </a:lnSpc>
              <a:buNone/>
            </a:pPr>
            <a:endParaRPr lang="en-US" altLang="zh-CN" sz="2000" dirty="0">
              <a:solidFill>
                <a:schemeClr val="tx1"/>
              </a:solidFill>
              <a:effectLst/>
            </a:endParaRPr>
          </a:p>
          <a:p>
            <a:pPr marL="0" lvl="0" indent="457200">
              <a:lnSpc>
                <a:spcPct val="150000"/>
              </a:lnSpc>
              <a:buNone/>
            </a:pPr>
            <a:r>
              <a:rPr lang="zh-CN" altLang="en-US" sz="2000" dirty="0">
                <a:solidFill>
                  <a:schemeClr val="tx1"/>
                </a:solidFill>
                <a:effectLst/>
              </a:rPr>
              <a:t>传统软件可以通过静态分析工具检测代码复用和许可证违规行为，模型生</a:t>
            </a:r>
            <a:endParaRPr lang="zh-CN" altLang="en-US" sz="2000" dirty="0">
              <a:solidFill>
                <a:schemeClr val="tx1"/>
              </a:solidFill>
              <a:effectLst/>
            </a:endParaRPr>
          </a:p>
          <a:p>
            <a:pPr marL="0" lvl="0" indent="457200">
              <a:lnSpc>
                <a:spcPct val="150000"/>
              </a:lnSpc>
              <a:buNone/>
            </a:pPr>
            <a:r>
              <a:rPr lang="zh-CN" altLang="en-US" sz="2000" dirty="0">
                <a:solidFill>
                  <a:schemeClr val="tx1"/>
                </a:solidFill>
                <a:effectLst/>
              </a:rPr>
              <a:t>态系统缺乏技术手段来验证合规性或将模型分类到其原始家族</a:t>
            </a:r>
            <a:endParaRPr lang="zh-CN" altLang="en-US" sz="2000" dirty="0">
              <a:solidFill>
                <a:schemeClr val="tx1"/>
              </a:solidFill>
              <a:effectLst/>
            </a:endParaRPr>
          </a:p>
          <a:p>
            <a:pPr marL="0" lvl="0" indent="457200">
              <a:lnSpc>
                <a:spcPct val="150000"/>
              </a:lnSpc>
              <a:buNone/>
            </a:pPr>
            <a:endParaRPr lang="en-US" altLang="zh-CN" sz="2000" dirty="0">
              <a:solidFill>
                <a:schemeClr val="tx1"/>
              </a:solidFill>
              <a:effectLst/>
            </a:endParaRPr>
          </a:p>
          <a:p>
            <a:pPr marL="0" lvl="0" indent="457200">
              <a:lnSpc>
                <a:spcPct val="150000"/>
              </a:lnSpc>
              <a:buNone/>
            </a:pPr>
            <a:r>
              <a:rPr lang="en-US" altLang="zh-CN" sz="2000" dirty="0">
                <a:solidFill>
                  <a:schemeClr val="tx1"/>
                </a:solidFill>
                <a:effectLst/>
              </a:rPr>
              <a:t>Meta</a:t>
            </a:r>
            <a:r>
              <a:rPr lang="zh-CN" altLang="en-US" sz="2000" dirty="0">
                <a:effectLst/>
              </a:rPr>
              <a:t>的</a:t>
            </a:r>
            <a:r>
              <a:rPr lang="en-US" altLang="zh-CN" sz="2000" dirty="0">
                <a:effectLst/>
              </a:rPr>
              <a:t>LLaMA 3</a:t>
            </a:r>
            <a:r>
              <a:rPr lang="zh-CN" altLang="en-US" sz="2000" dirty="0">
                <a:effectLst/>
              </a:rPr>
              <a:t>许可明确要求衍生模型在命名中保留</a:t>
            </a:r>
            <a:r>
              <a:rPr lang="en-US" altLang="zh-CN" sz="2000" dirty="0">
                <a:effectLst/>
              </a:rPr>
              <a:t>“Llama 3”</a:t>
            </a:r>
            <a:r>
              <a:rPr lang="zh-CN" altLang="en-US" sz="2000" dirty="0">
                <a:effectLst/>
              </a:rPr>
              <a:t>，而其他提</a:t>
            </a:r>
            <a:endParaRPr lang="zh-CN" altLang="en-US" sz="2000" dirty="0">
              <a:effectLst/>
            </a:endParaRPr>
          </a:p>
          <a:p>
            <a:pPr marL="0" lvl="0" indent="457200">
              <a:lnSpc>
                <a:spcPct val="150000"/>
              </a:lnSpc>
              <a:buNone/>
            </a:pPr>
            <a:r>
              <a:rPr lang="zh-CN" altLang="en-US" sz="2000" dirty="0">
                <a:effectLst/>
              </a:rPr>
              <a:t>供商也提出了类似的归属要求。但是截至</a:t>
            </a:r>
            <a:r>
              <a:rPr lang="en-US" altLang="zh-CN" sz="2000" dirty="0">
                <a:effectLst/>
              </a:rPr>
              <a:t>2024</a:t>
            </a:r>
            <a:r>
              <a:rPr lang="zh-CN" altLang="en-US" sz="2000" dirty="0">
                <a:effectLst/>
              </a:rPr>
              <a:t>年</a:t>
            </a:r>
            <a:r>
              <a:rPr lang="en-US" altLang="zh-CN" sz="2000" dirty="0">
                <a:effectLst/>
              </a:rPr>
              <a:t>7</a:t>
            </a:r>
            <a:r>
              <a:rPr lang="zh-CN" altLang="en-US" sz="2000" dirty="0">
                <a:effectLst/>
              </a:rPr>
              <a:t>月，在</a:t>
            </a:r>
            <a:r>
              <a:rPr lang="en-US" altLang="zh-CN" sz="2000" dirty="0">
                <a:effectLst/>
              </a:rPr>
              <a:t>Huggingface</a:t>
            </a:r>
            <a:r>
              <a:rPr lang="zh-CN" altLang="en-US" sz="2000" dirty="0">
                <a:effectLst/>
              </a:rPr>
              <a:t>平台</a:t>
            </a:r>
            <a:endParaRPr lang="zh-CN" altLang="en-US" sz="2000" dirty="0">
              <a:effectLst/>
            </a:endParaRPr>
          </a:p>
          <a:p>
            <a:pPr marL="0" lvl="0" indent="457200">
              <a:lnSpc>
                <a:spcPct val="150000"/>
              </a:lnSpc>
              <a:buNone/>
            </a:pPr>
            <a:r>
              <a:rPr lang="zh-CN" altLang="en-US" sz="2000" dirty="0">
                <a:effectLst/>
              </a:rPr>
              <a:t>只有</a:t>
            </a:r>
            <a:r>
              <a:rPr lang="en-US" altLang="zh-CN" sz="2000" dirty="0">
                <a:effectLst/>
              </a:rPr>
              <a:t>37%</a:t>
            </a:r>
            <a:r>
              <a:rPr lang="zh-CN" altLang="en-US" sz="2000" dirty="0">
                <a:effectLst/>
              </a:rPr>
              <a:t>的公开发布模型提供了许可证信息，这表明普遍存在不符合归属</a:t>
            </a:r>
            <a:endParaRPr lang="zh-CN" altLang="en-US" sz="2000" dirty="0">
              <a:effectLst/>
            </a:endParaRPr>
          </a:p>
          <a:p>
            <a:pPr marL="0" lvl="0" indent="457200">
              <a:lnSpc>
                <a:spcPct val="150000"/>
              </a:lnSpc>
              <a:buNone/>
            </a:pPr>
            <a:r>
              <a:rPr lang="zh-CN" altLang="en-US" sz="2000" dirty="0">
                <a:effectLst/>
              </a:rPr>
              <a:t>要求的情况。</a:t>
            </a:r>
            <a:endParaRPr lang="zh-CN" altLang="en-US" sz="2000" dirty="0">
              <a:effectLst/>
            </a:endParaRPr>
          </a:p>
        </p:txBody>
      </p:sp>
      <p:pic>
        <p:nvPicPr>
          <p:cNvPr id="2" name="图片 1"/>
          <p:cNvPicPr>
            <a:picLocks noChangeAspect="1"/>
          </p:cNvPicPr>
          <p:nvPr/>
        </p:nvPicPr>
        <p:blipFill>
          <a:blip r:embed="rId2"/>
          <a:stretch>
            <a:fillRect/>
          </a:stretch>
        </p:blipFill>
        <p:spPr>
          <a:xfrm>
            <a:off x="8785225" y="1809115"/>
            <a:ext cx="3406775" cy="49466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3" name="图片 2"/>
          <p:cNvPicPr>
            <a:picLocks noChangeAspect="1"/>
          </p:cNvPicPr>
          <p:nvPr/>
        </p:nvPicPr>
        <p:blipFill>
          <a:blip r:embed="rId2"/>
          <a:stretch>
            <a:fillRect/>
          </a:stretch>
        </p:blipFill>
        <p:spPr>
          <a:xfrm>
            <a:off x="187325" y="1758315"/>
            <a:ext cx="11901805" cy="44253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3" name="图片 2"/>
          <p:cNvPicPr>
            <a:picLocks noChangeAspect="1"/>
          </p:cNvPicPr>
          <p:nvPr/>
        </p:nvPicPr>
        <p:blipFill>
          <a:blip r:embed="rId2"/>
          <a:srcRect r="72993" b="17033"/>
          <a:stretch>
            <a:fillRect/>
          </a:stretch>
        </p:blipFill>
        <p:spPr>
          <a:xfrm>
            <a:off x="4613275" y="2108835"/>
            <a:ext cx="3214370" cy="3671570"/>
          </a:xfrm>
          <a:prstGeom prst="rect">
            <a:avLst/>
          </a:prstGeom>
        </p:spPr>
      </p:pic>
      <p:pic>
        <p:nvPicPr>
          <p:cNvPr id="4" name="图片 3"/>
          <p:cNvPicPr>
            <a:picLocks noChangeAspect="1"/>
          </p:cNvPicPr>
          <p:nvPr/>
        </p:nvPicPr>
        <p:blipFill>
          <a:blip r:embed="rId3"/>
          <a:srcRect r="48635"/>
          <a:stretch>
            <a:fillRect/>
          </a:stretch>
        </p:blipFill>
        <p:spPr>
          <a:xfrm>
            <a:off x="1167130" y="1756410"/>
            <a:ext cx="2837180" cy="4268470"/>
          </a:xfrm>
          <a:prstGeom prst="rect">
            <a:avLst/>
          </a:prstGeom>
        </p:spPr>
      </p:pic>
      <p:sp>
        <p:nvSpPr>
          <p:cNvPr id="6" name="右大括号 5"/>
          <p:cNvSpPr/>
          <p:nvPr/>
        </p:nvSpPr>
        <p:spPr>
          <a:xfrm>
            <a:off x="3421380" y="4018915"/>
            <a:ext cx="163195" cy="831850"/>
          </a:xfrm>
          <a:prstGeom prst="rightBrace">
            <a:avLst/>
          </a:prstGeom>
          <a:ln w="28575" cmpd="sng">
            <a:solidFill>
              <a:srgbClr val="FF0000"/>
            </a:solidFill>
            <a:prstDash val="soli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左箭头 6"/>
          <p:cNvSpPr/>
          <p:nvPr/>
        </p:nvSpPr>
        <p:spPr>
          <a:xfrm rot="19980000">
            <a:off x="3939540" y="3990340"/>
            <a:ext cx="576580" cy="288290"/>
          </a:xfrm>
          <a:prstGeom prst="leftArrow">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图片 7"/>
          <p:cNvPicPr>
            <a:picLocks noChangeAspect="1"/>
          </p:cNvPicPr>
          <p:nvPr/>
        </p:nvPicPr>
        <p:blipFill>
          <a:blip r:embed="rId4"/>
          <a:stretch>
            <a:fillRect/>
          </a:stretch>
        </p:blipFill>
        <p:spPr>
          <a:xfrm>
            <a:off x="8181340" y="1249680"/>
            <a:ext cx="3696970" cy="4775200"/>
          </a:xfrm>
          <a:prstGeom prst="rect">
            <a:avLst/>
          </a:prstGeom>
        </p:spPr>
      </p:pic>
      <p:sp>
        <p:nvSpPr>
          <p:cNvPr id="9" name="左箭头 8"/>
          <p:cNvSpPr/>
          <p:nvPr/>
        </p:nvSpPr>
        <p:spPr>
          <a:xfrm rot="8520000">
            <a:off x="7684770" y="3583305"/>
            <a:ext cx="576580" cy="288290"/>
          </a:xfrm>
          <a:prstGeom prst="leftArrow">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0" name="图片 9"/>
          <p:cNvPicPr>
            <a:picLocks noChangeAspect="1"/>
          </p:cNvPicPr>
          <p:nvPr/>
        </p:nvPicPr>
        <p:blipFill>
          <a:blip r:embed="rId5"/>
          <a:stretch>
            <a:fillRect/>
          </a:stretch>
        </p:blipFill>
        <p:spPr>
          <a:xfrm>
            <a:off x="83185" y="3991610"/>
            <a:ext cx="4346575" cy="28663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3" name="图片 2"/>
          <p:cNvPicPr>
            <a:picLocks noChangeAspect="1"/>
          </p:cNvPicPr>
          <p:nvPr/>
        </p:nvPicPr>
        <p:blipFill>
          <a:blip r:embed="rId2"/>
          <a:srcRect l="26997" r="51561" b="17033"/>
          <a:stretch>
            <a:fillRect/>
          </a:stretch>
        </p:blipFill>
        <p:spPr>
          <a:xfrm>
            <a:off x="487680" y="1809115"/>
            <a:ext cx="2961005" cy="4260850"/>
          </a:xfrm>
          <a:prstGeom prst="rect">
            <a:avLst/>
          </a:prstGeom>
        </p:spPr>
      </p:pic>
      <p:sp>
        <p:nvSpPr>
          <p:cNvPr id="4" name="文本框 3"/>
          <p:cNvSpPr txBox="1"/>
          <p:nvPr/>
        </p:nvSpPr>
        <p:spPr>
          <a:xfrm>
            <a:off x="3738880" y="3996690"/>
            <a:ext cx="8453120" cy="2861310"/>
          </a:xfrm>
          <a:prstGeom prst="rect">
            <a:avLst/>
          </a:prstGeom>
          <a:noFill/>
        </p:spPr>
        <p:txBody>
          <a:bodyPr wrap="square" rtlCol="0">
            <a:spAutoFit/>
          </a:bodyPr>
          <a:p>
            <a:r>
              <a:rPr lang="zh-CN" altLang="en-US"/>
              <a:t>对抗噪声：人类观察者无法察觉但能够在神经网络中诱导错误分类的输入修改。</a:t>
            </a:r>
            <a:endParaRPr lang="zh-CN" altLang="en-US"/>
          </a:p>
          <a:p>
            <a:endParaRPr lang="zh-CN" altLang="en-US"/>
          </a:p>
          <a:p>
            <a:endParaRPr lang="zh-CN" altLang="en-US"/>
          </a:p>
          <a:p>
            <a:r>
              <a:rPr lang="zh-CN" altLang="en-US"/>
              <a:t>结构噪声：我们通过频域修改来模拟结构化的现实世界干扰。</a:t>
            </a:r>
            <a:endParaRPr lang="zh-CN" altLang="en-US"/>
          </a:p>
          <a:p>
            <a:endParaRPr lang="zh-CN" altLang="en-US"/>
          </a:p>
          <a:p>
            <a:endParaRPr lang="zh-CN" altLang="en-US"/>
          </a:p>
          <a:p>
            <a:r>
              <a:rPr lang="zh-CN" altLang="en-US"/>
              <a:t>低频和高频噪声：这两个互补的频率选择性扰动评估不同频段的模型灵敏度。</a:t>
            </a:r>
            <a:endParaRPr lang="zh-CN" altLang="en-US"/>
          </a:p>
          <a:p>
            <a:endParaRPr lang="zh-CN" altLang="en-US"/>
          </a:p>
          <a:p>
            <a:endParaRPr lang="zh-CN" altLang="en-US"/>
          </a:p>
          <a:p>
            <a:r>
              <a:rPr lang="zh-CN" altLang="en-US"/>
              <a:t>高斯噪声：我们应用具有受控方差的元素零均值高斯噪声来模拟随机输入变化。</a:t>
            </a:r>
            <a:endParaRPr lang="zh-CN" altLang="en-US"/>
          </a:p>
        </p:txBody>
      </p:sp>
      <p:sp>
        <p:nvSpPr>
          <p:cNvPr id="5" name="左大括号 4"/>
          <p:cNvSpPr/>
          <p:nvPr/>
        </p:nvSpPr>
        <p:spPr>
          <a:xfrm>
            <a:off x="3481705" y="4138930"/>
            <a:ext cx="266065" cy="2564130"/>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8" name="图片 7" descr="212"/>
          <p:cNvPicPr>
            <a:picLocks noChangeAspect="1"/>
          </p:cNvPicPr>
          <p:nvPr/>
        </p:nvPicPr>
        <p:blipFill>
          <a:blip r:embed="rId3"/>
          <a:stretch>
            <a:fillRect/>
          </a:stretch>
        </p:blipFill>
        <p:spPr>
          <a:xfrm>
            <a:off x="4480560" y="264795"/>
            <a:ext cx="7315835" cy="2836545"/>
          </a:xfrm>
          <a:prstGeom prst="rect">
            <a:avLst/>
          </a:prstGeom>
        </p:spPr>
      </p:pic>
      <p:pic>
        <p:nvPicPr>
          <p:cNvPr id="9" name="图片 8"/>
          <p:cNvPicPr>
            <a:picLocks noChangeAspect="1"/>
          </p:cNvPicPr>
          <p:nvPr/>
        </p:nvPicPr>
        <p:blipFill>
          <a:blip r:embed="rId4"/>
          <a:stretch>
            <a:fillRect/>
          </a:stretch>
        </p:blipFill>
        <p:spPr>
          <a:xfrm>
            <a:off x="5341620" y="0"/>
            <a:ext cx="6121400" cy="3562350"/>
          </a:xfrm>
          <a:prstGeom prst="rect">
            <a:avLst/>
          </a:prstGeom>
        </p:spPr>
      </p:pic>
      <p:pic>
        <p:nvPicPr>
          <p:cNvPr id="10" name="图片 9"/>
          <p:cNvPicPr>
            <a:picLocks noChangeAspect="1"/>
          </p:cNvPicPr>
          <p:nvPr/>
        </p:nvPicPr>
        <p:blipFill>
          <a:blip r:embed="rId5"/>
          <a:stretch>
            <a:fillRect/>
          </a:stretch>
        </p:blipFill>
        <p:spPr>
          <a:xfrm>
            <a:off x="5341620" y="0"/>
            <a:ext cx="5594350" cy="3543300"/>
          </a:xfrm>
          <a:prstGeom prst="rect">
            <a:avLst/>
          </a:prstGeom>
        </p:spPr>
      </p:pic>
      <p:pic>
        <p:nvPicPr>
          <p:cNvPr id="11" name="图片 10"/>
          <p:cNvPicPr>
            <a:picLocks noChangeAspect="1"/>
          </p:cNvPicPr>
          <p:nvPr/>
        </p:nvPicPr>
        <p:blipFill>
          <a:blip r:embed="rId6"/>
          <a:stretch>
            <a:fillRect/>
          </a:stretch>
        </p:blipFill>
        <p:spPr>
          <a:xfrm>
            <a:off x="5135245" y="0"/>
            <a:ext cx="6007100" cy="3581400"/>
          </a:xfrm>
          <a:prstGeom prst="rect">
            <a:avLst/>
          </a:prstGeom>
        </p:spPr>
      </p:pic>
      <p:pic>
        <p:nvPicPr>
          <p:cNvPr id="12" name="图片 11"/>
          <p:cNvPicPr>
            <a:picLocks noChangeAspect="1"/>
          </p:cNvPicPr>
          <p:nvPr/>
        </p:nvPicPr>
        <p:blipFill>
          <a:blip r:embed="rId7"/>
          <a:stretch>
            <a:fillRect/>
          </a:stretch>
        </p:blipFill>
        <p:spPr>
          <a:xfrm>
            <a:off x="5746115" y="0"/>
            <a:ext cx="4312285" cy="37623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nodeType="clickEffect">
                                  <p:stCondLst>
                                    <p:cond delay="0"/>
                                  </p:stCondLst>
                                  <p:childTnLst>
                                    <p:animEffect transition="out" filter="blinds(horizontal)">
                                      <p:cBhvr>
                                        <p:cTn id="14" dur="500"/>
                                        <p:tgtEl>
                                          <p:spTgt spid="9"/>
                                        </p:tgtEl>
                                      </p:cBhvr>
                                    </p:animEffect>
                                    <p:set>
                                      <p:cBhvr>
                                        <p:cTn id="15" dur="1" fill="hold">
                                          <p:stCondLst>
                                            <p:cond delay="499"/>
                                          </p:stCondLst>
                                        </p:cTn>
                                        <p:tgtEl>
                                          <p:spTgt spid="9"/>
                                        </p:tgtEl>
                                        <p:attrNameLst>
                                          <p:attrName>style.visibility</p:attrName>
                                        </p:attrNameLst>
                                      </p:cBhvr>
                                      <p:to>
                                        <p:strVal val="hidden"/>
                                      </p:to>
                                    </p:set>
                                  </p:childTnLst>
                                </p:cTn>
                              </p:par>
                              <p:par>
                                <p:cTn id="16" presetID="3" presetClass="entr" presetSubtype="1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4" fill="hold" nodeType="clickEffect">
                                  <p:stCondLst>
                                    <p:cond delay="0"/>
                                  </p:stCondLst>
                                  <p:childTnLst>
                                    <p:animEffect transition="out" filter="wipe(down)">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par>
                                <p:cTn id="24" presetID="3" presetClass="entr" presetSubtype="1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xit" presetSubtype="10" fill="hold" nodeType="clickEffect">
                                  <p:stCondLst>
                                    <p:cond delay="0"/>
                                  </p:stCondLst>
                                  <p:childTnLst>
                                    <p:animEffect transition="out" filter="blinds(horizontal)">
                                      <p:cBhvr>
                                        <p:cTn id="30" dur="500"/>
                                        <p:tgtEl>
                                          <p:spTgt spid="11"/>
                                        </p:tgtEl>
                                      </p:cBhvr>
                                    </p:animEffect>
                                    <p:set>
                                      <p:cBhvr>
                                        <p:cTn id="31" dur="1" fill="hold">
                                          <p:stCondLst>
                                            <p:cond delay="499"/>
                                          </p:stCondLst>
                                        </p:cTn>
                                        <p:tgtEl>
                                          <p:spTgt spid="11"/>
                                        </p:tgtEl>
                                        <p:attrNameLst>
                                          <p:attrName>style.visibility</p:attrName>
                                        </p:attrNameLst>
                                      </p:cBhvr>
                                      <p:to>
                                        <p:strVal val="hidden"/>
                                      </p:to>
                                    </p:set>
                                  </p:childTnLst>
                                </p:cTn>
                              </p:par>
                              <p:par>
                                <p:cTn id="32" presetID="3" presetClass="entr" presetSubtype="10"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linds(horizontal)">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3" name="图片 2"/>
          <p:cNvPicPr>
            <a:picLocks noChangeAspect="1"/>
          </p:cNvPicPr>
          <p:nvPr/>
        </p:nvPicPr>
        <p:blipFill>
          <a:blip r:embed="rId2"/>
          <a:srcRect l="26997" r="51561" b="17033"/>
          <a:stretch>
            <a:fillRect/>
          </a:stretch>
        </p:blipFill>
        <p:spPr>
          <a:xfrm>
            <a:off x="487680" y="1809115"/>
            <a:ext cx="2961005" cy="4260850"/>
          </a:xfrm>
          <a:prstGeom prst="rect">
            <a:avLst/>
          </a:prstGeom>
        </p:spPr>
      </p:pic>
      <p:sp>
        <p:nvSpPr>
          <p:cNvPr id="4" name="文本框 3"/>
          <p:cNvSpPr txBox="1"/>
          <p:nvPr/>
        </p:nvSpPr>
        <p:spPr>
          <a:xfrm>
            <a:off x="3738880" y="3996690"/>
            <a:ext cx="8453120" cy="2861310"/>
          </a:xfrm>
          <a:prstGeom prst="rect">
            <a:avLst/>
          </a:prstGeom>
          <a:noFill/>
        </p:spPr>
        <p:txBody>
          <a:bodyPr wrap="square" rtlCol="0">
            <a:spAutoFit/>
          </a:bodyPr>
          <a:p>
            <a:r>
              <a:rPr lang="zh-CN" altLang="en-US">
                <a:solidFill>
                  <a:srgbClr val="FF0000"/>
                </a:solidFill>
              </a:rPr>
              <a:t>对抗噪声</a:t>
            </a:r>
            <a:r>
              <a:rPr lang="zh-CN" altLang="en-US"/>
              <a:t>：人类观察者无法察觉但能够在神经网络中诱导错误分类的输入修改。</a:t>
            </a:r>
            <a:endParaRPr lang="zh-CN" altLang="en-US"/>
          </a:p>
          <a:p>
            <a:endParaRPr lang="zh-CN" altLang="en-US"/>
          </a:p>
          <a:p>
            <a:endParaRPr lang="zh-CN" altLang="en-US"/>
          </a:p>
          <a:p>
            <a:r>
              <a:rPr lang="zh-CN" altLang="en-US"/>
              <a:t>结构噪声：我们通过频域修改来模拟结构化的现实世界干扰。</a:t>
            </a:r>
            <a:endParaRPr lang="zh-CN" altLang="en-US"/>
          </a:p>
          <a:p>
            <a:endParaRPr lang="zh-CN" altLang="en-US"/>
          </a:p>
          <a:p>
            <a:endParaRPr lang="zh-CN" altLang="en-US"/>
          </a:p>
          <a:p>
            <a:r>
              <a:rPr lang="zh-CN" altLang="en-US"/>
              <a:t>低频和高频噪声：这两个互补的频率选择性扰动评估不同频段的模型灵敏度。</a:t>
            </a:r>
            <a:endParaRPr lang="zh-CN" altLang="en-US"/>
          </a:p>
          <a:p>
            <a:endParaRPr lang="zh-CN" altLang="en-US"/>
          </a:p>
          <a:p>
            <a:endParaRPr lang="zh-CN" altLang="en-US"/>
          </a:p>
          <a:p>
            <a:r>
              <a:rPr lang="zh-CN" altLang="en-US"/>
              <a:t>高斯噪声：我们应用具有受控方差的元素零均值高斯噪声来模拟随机输入变化。</a:t>
            </a:r>
            <a:endParaRPr lang="zh-CN" altLang="en-US"/>
          </a:p>
        </p:txBody>
      </p:sp>
      <p:sp>
        <p:nvSpPr>
          <p:cNvPr id="5" name="左大括号 4"/>
          <p:cNvSpPr/>
          <p:nvPr/>
        </p:nvSpPr>
        <p:spPr>
          <a:xfrm>
            <a:off x="3481705" y="4138930"/>
            <a:ext cx="266065" cy="2564130"/>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3885565" y="663575"/>
            <a:ext cx="1716405" cy="953135"/>
          </a:xfrm>
          <a:prstGeom prst="rect">
            <a:avLst/>
          </a:prstGeom>
          <a:noFill/>
        </p:spPr>
        <p:txBody>
          <a:bodyPr wrap="square" rtlCol="0">
            <a:spAutoFit/>
          </a:bodyPr>
          <a:p>
            <a:pPr algn="ctr"/>
            <a:r>
              <a:rPr lang="en-US" altLang="zh-CN" sz="2800">
                <a:latin typeface="Times New Roman" panose="02020603050405020304" charset="0"/>
                <a:cs typeface="Times New Roman" panose="02020603050405020304" charset="0"/>
              </a:rPr>
              <a:t>y=Wx</a:t>
            </a:r>
            <a:endParaRPr lang="en-US" altLang="zh-CN" sz="2800">
              <a:latin typeface="Times New Roman" panose="02020603050405020304" charset="0"/>
              <a:cs typeface="Times New Roman" panose="02020603050405020304" charset="0"/>
            </a:endParaRPr>
          </a:p>
          <a:p>
            <a:pPr algn="ctr"/>
            <a:r>
              <a:rPr lang="en-US" altLang="zh-CN" sz="2800">
                <a:latin typeface="Times New Roman" panose="02020603050405020304" charset="0"/>
                <a:cs typeface="Times New Roman" panose="02020603050405020304" charset="0"/>
              </a:rPr>
              <a:t>z=tanh(h)</a:t>
            </a:r>
            <a:endParaRPr lang="en-US" altLang="zh-CN" sz="2800">
              <a:latin typeface="Times New Roman" panose="02020603050405020304" charset="0"/>
              <a:cs typeface="Times New Roman" panose="02020603050405020304" charset="0"/>
            </a:endParaRPr>
          </a:p>
        </p:txBody>
      </p:sp>
      <p:graphicFrame>
        <p:nvGraphicFramePr>
          <p:cNvPr id="16" name="对象 15">
            <a:hlinkClick r:id="" action="ppaction://ole?verb="/>
          </p:cNvPr>
          <p:cNvGraphicFramePr>
            <a:graphicFrameLocks noChangeAspect="1"/>
          </p:cNvGraphicFramePr>
          <p:nvPr/>
        </p:nvGraphicFramePr>
        <p:xfrm>
          <a:off x="3738880" y="2588895"/>
          <a:ext cx="1854200" cy="457200"/>
        </p:xfrm>
        <a:graphic>
          <a:graphicData uri="http://schemas.openxmlformats.org/presentationml/2006/ole">
            <mc:AlternateContent xmlns:mc="http://schemas.openxmlformats.org/markup-compatibility/2006">
              <mc:Choice xmlns:v="urn:schemas-microsoft-com:vml" Requires="v">
                <p:oleObj spid="_x0000_s1026" name="" r:id="rId3" imgW="1854200" imgH="457200" progId="Equation.KSEE3">
                  <p:embed/>
                </p:oleObj>
              </mc:Choice>
              <mc:Fallback>
                <p:oleObj name="" r:id="rId3" imgW="1854200" imgH="457200" progId="Equation.KSEE3">
                  <p:embed/>
                  <p:pic>
                    <p:nvPicPr>
                      <p:cNvPr id="0" name="图片 1025"/>
                      <p:cNvPicPr/>
                      <p:nvPr/>
                    </p:nvPicPr>
                    <p:blipFill>
                      <a:blip r:embed="rId4"/>
                      <a:stretch>
                        <a:fillRect/>
                      </a:stretch>
                    </p:blipFill>
                    <p:spPr>
                      <a:xfrm>
                        <a:off x="3738880" y="2588895"/>
                        <a:ext cx="1854200" cy="45720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4319270" y="3082290"/>
          <a:ext cx="711200" cy="914400"/>
        </p:xfrm>
        <a:graphic>
          <a:graphicData uri="http://schemas.openxmlformats.org/presentationml/2006/ole">
            <mc:AlternateContent xmlns:mc="http://schemas.openxmlformats.org/markup-compatibility/2006">
              <mc:Choice xmlns:v="urn:schemas-microsoft-com:vml" Requires="v">
                <p:oleObj spid="_x0000_s1027" name="" r:id="rId5" imgW="711200" imgH="914400" progId="Equation.KSEE3">
                  <p:embed/>
                </p:oleObj>
              </mc:Choice>
              <mc:Fallback>
                <p:oleObj name="" r:id="rId5" imgW="711200" imgH="914400" progId="Equation.KSEE3">
                  <p:embed/>
                  <p:pic>
                    <p:nvPicPr>
                      <p:cNvPr id="0" name="图片 1026"/>
                      <p:cNvPicPr/>
                      <p:nvPr/>
                    </p:nvPicPr>
                    <p:blipFill>
                      <a:blip r:embed="rId6"/>
                      <a:stretch>
                        <a:fillRect/>
                      </a:stretch>
                    </p:blipFill>
                    <p:spPr>
                      <a:xfrm>
                        <a:off x="4319270" y="3082290"/>
                        <a:ext cx="711200" cy="91440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4268470" y="1533525"/>
          <a:ext cx="967740" cy="426720"/>
        </p:xfrm>
        <a:graphic>
          <a:graphicData uri="http://schemas.openxmlformats.org/presentationml/2006/ole">
            <mc:AlternateContent xmlns:mc="http://schemas.openxmlformats.org/markup-compatibility/2006">
              <mc:Choice xmlns:v="urn:schemas-microsoft-com:vml" Requires="v">
                <p:oleObj spid="_x0000_s1028" name="" r:id="rId7" imgW="634365" imgH="279400" progId="Equation.KSEE3">
                  <p:embed/>
                </p:oleObj>
              </mc:Choice>
              <mc:Fallback>
                <p:oleObj name="" r:id="rId7" imgW="634365" imgH="279400" progId="Equation.KSEE3">
                  <p:embed/>
                  <p:pic>
                    <p:nvPicPr>
                      <p:cNvPr id="0" name="图片 1027"/>
                      <p:cNvPicPr/>
                      <p:nvPr/>
                    </p:nvPicPr>
                    <p:blipFill>
                      <a:blip r:embed="rId8"/>
                      <a:stretch>
                        <a:fillRect/>
                      </a:stretch>
                    </p:blipFill>
                    <p:spPr>
                      <a:xfrm>
                        <a:off x="4268470" y="1533525"/>
                        <a:ext cx="967740" cy="426720"/>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3340735" y="2018030"/>
          <a:ext cx="2755265" cy="413385"/>
        </p:xfrm>
        <a:graphic>
          <a:graphicData uri="http://schemas.openxmlformats.org/presentationml/2006/ole">
            <mc:AlternateContent xmlns:mc="http://schemas.openxmlformats.org/markup-compatibility/2006">
              <mc:Choice xmlns:v="urn:schemas-microsoft-com:vml" Requires="v">
                <p:oleObj spid="_x0000_s1029" name="" r:id="rId9" imgW="1524000" imgH="228600" progId="Equation.KSEE3">
                  <p:embed/>
                </p:oleObj>
              </mc:Choice>
              <mc:Fallback>
                <p:oleObj name="" r:id="rId9" imgW="1524000" imgH="228600" progId="Equation.KSEE3">
                  <p:embed/>
                  <p:pic>
                    <p:nvPicPr>
                      <p:cNvPr id="0" name="图片 1028"/>
                      <p:cNvPicPr/>
                      <p:nvPr/>
                    </p:nvPicPr>
                    <p:blipFill>
                      <a:blip r:embed="rId10"/>
                      <a:stretch>
                        <a:fillRect/>
                      </a:stretch>
                    </p:blipFill>
                    <p:spPr>
                      <a:xfrm>
                        <a:off x="3340735" y="2018030"/>
                        <a:ext cx="2755265" cy="413385"/>
                      </a:xfrm>
                      <a:prstGeom prst="rect">
                        <a:avLst/>
                      </a:prstGeom>
                    </p:spPr>
                  </p:pic>
                </p:oleObj>
              </mc:Fallback>
            </mc:AlternateContent>
          </a:graphicData>
        </a:graphic>
      </p:graphicFrame>
      <p:pic>
        <p:nvPicPr>
          <p:cNvPr id="6" name="图片 5"/>
          <p:cNvPicPr>
            <a:picLocks noChangeAspect="1"/>
          </p:cNvPicPr>
          <p:nvPr/>
        </p:nvPicPr>
        <p:blipFill>
          <a:blip r:embed="rId11"/>
          <a:stretch>
            <a:fillRect/>
          </a:stretch>
        </p:blipFill>
        <p:spPr>
          <a:xfrm>
            <a:off x="6687820" y="562610"/>
            <a:ext cx="1581150" cy="1155700"/>
          </a:xfrm>
          <a:prstGeom prst="rect">
            <a:avLst/>
          </a:prstGeom>
        </p:spPr>
      </p:pic>
      <p:pic>
        <p:nvPicPr>
          <p:cNvPr id="7" name="图片 6"/>
          <p:cNvPicPr>
            <a:picLocks noChangeAspect="1"/>
          </p:cNvPicPr>
          <p:nvPr/>
        </p:nvPicPr>
        <p:blipFill>
          <a:blip r:embed="rId12"/>
          <a:stretch>
            <a:fillRect/>
          </a:stretch>
        </p:blipFill>
        <p:spPr>
          <a:xfrm>
            <a:off x="6687820" y="1616710"/>
            <a:ext cx="1638935" cy="2449830"/>
          </a:xfrm>
          <a:prstGeom prst="rect">
            <a:avLst/>
          </a:prstGeom>
        </p:spPr>
      </p:pic>
      <p:pic>
        <p:nvPicPr>
          <p:cNvPr id="8" name="图片 7"/>
          <p:cNvPicPr>
            <a:picLocks noChangeAspect="1"/>
          </p:cNvPicPr>
          <p:nvPr/>
        </p:nvPicPr>
        <p:blipFill>
          <a:blip r:embed="rId13"/>
          <a:stretch>
            <a:fillRect/>
          </a:stretch>
        </p:blipFill>
        <p:spPr>
          <a:xfrm>
            <a:off x="8846185" y="663575"/>
            <a:ext cx="2203450" cy="419100"/>
          </a:xfrm>
          <a:prstGeom prst="rect">
            <a:avLst/>
          </a:prstGeom>
        </p:spPr>
      </p:pic>
      <p:pic>
        <p:nvPicPr>
          <p:cNvPr id="9" name="图片 8"/>
          <p:cNvPicPr>
            <a:picLocks noChangeAspect="1"/>
          </p:cNvPicPr>
          <p:nvPr/>
        </p:nvPicPr>
        <p:blipFill>
          <a:blip r:embed="rId14"/>
          <a:stretch>
            <a:fillRect/>
          </a:stretch>
        </p:blipFill>
        <p:spPr>
          <a:xfrm>
            <a:off x="8268970" y="1533525"/>
            <a:ext cx="3879850" cy="5080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3" name="图片 2"/>
          <p:cNvPicPr>
            <a:picLocks noChangeAspect="1"/>
          </p:cNvPicPr>
          <p:nvPr/>
        </p:nvPicPr>
        <p:blipFill>
          <a:blip r:embed="rId2"/>
          <a:srcRect l="26997" r="51561" b="17033"/>
          <a:stretch>
            <a:fillRect/>
          </a:stretch>
        </p:blipFill>
        <p:spPr>
          <a:xfrm>
            <a:off x="487680" y="1809115"/>
            <a:ext cx="2961005" cy="4260850"/>
          </a:xfrm>
          <a:prstGeom prst="rect">
            <a:avLst/>
          </a:prstGeom>
        </p:spPr>
      </p:pic>
      <p:sp>
        <p:nvSpPr>
          <p:cNvPr id="4" name="文本框 3"/>
          <p:cNvSpPr txBox="1"/>
          <p:nvPr/>
        </p:nvSpPr>
        <p:spPr>
          <a:xfrm>
            <a:off x="3738880" y="3996690"/>
            <a:ext cx="8453120" cy="2861310"/>
          </a:xfrm>
          <a:prstGeom prst="rect">
            <a:avLst/>
          </a:prstGeom>
          <a:noFill/>
        </p:spPr>
        <p:txBody>
          <a:bodyPr wrap="square" rtlCol="0">
            <a:spAutoFit/>
          </a:bodyPr>
          <a:p>
            <a:r>
              <a:rPr lang="zh-CN" altLang="en-US"/>
              <a:t>对抗噪声：人类观察者无法察觉但能够在神经网络中诱导错误分类的输入修改。</a:t>
            </a:r>
            <a:endParaRPr lang="zh-CN" altLang="en-US"/>
          </a:p>
          <a:p>
            <a:endParaRPr lang="zh-CN" altLang="en-US"/>
          </a:p>
          <a:p>
            <a:endParaRPr lang="zh-CN" altLang="en-US"/>
          </a:p>
          <a:p>
            <a:r>
              <a:rPr lang="zh-CN" altLang="en-US">
                <a:solidFill>
                  <a:srgbClr val="FF0000"/>
                </a:solidFill>
              </a:rPr>
              <a:t>结构噪声</a:t>
            </a:r>
            <a:r>
              <a:rPr lang="zh-CN" altLang="en-US"/>
              <a:t>：我们通过频域修改来模拟结构化的现实世界干扰。</a:t>
            </a:r>
            <a:endParaRPr lang="zh-CN" altLang="en-US"/>
          </a:p>
          <a:p>
            <a:endParaRPr lang="zh-CN" altLang="en-US"/>
          </a:p>
          <a:p>
            <a:endParaRPr lang="zh-CN" altLang="en-US"/>
          </a:p>
          <a:p>
            <a:r>
              <a:rPr lang="zh-CN" altLang="en-US"/>
              <a:t>低频和高频噪声：这两个互补的频率选择性扰动评估不同频段的模型灵敏度。</a:t>
            </a:r>
            <a:endParaRPr lang="zh-CN" altLang="en-US"/>
          </a:p>
          <a:p>
            <a:endParaRPr lang="zh-CN" altLang="en-US"/>
          </a:p>
          <a:p>
            <a:endParaRPr lang="zh-CN" altLang="en-US"/>
          </a:p>
          <a:p>
            <a:r>
              <a:rPr lang="zh-CN" altLang="en-US"/>
              <a:t>高斯噪声：我们应用具有受控方差的元素零均值高斯噪声来模拟随机输入变化。</a:t>
            </a:r>
            <a:endParaRPr lang="zh-CN" altLang="en-US"/>
          </a:p>
        </p:txBody>
      </p:sp>
      <p:sp>
        <p:nvSpPr>
          <p:cNvPr id="5" name="左大括号 4"/>
          <p:cNvSpPr/>
          <p:nvPr/>
        </p:nvSpPr>
        <p:spPr>
          <a:xfrm>
            <a:off x="3481705" y="4138930"/>
            <a:ext cx="266065" cy="2564130"/>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3885565" y="663575"/>
            <a:ext cx="1716405" cy="953135"/>
          </a:xfrm>
          <a:prstGeom prst="rect">
            <a:avLst/>
          </a:prstGeom>
          <a:noFill/>
        </p:spPr>
        <p:txBody>
          <a:bodyPr wrap="square" rtlCol="0">
            <a:spAutoFit/>
          </a:bodyPr>
          <a:p>
            <a:pPr algn="ctr"/>
            <a:r>
              <a:rPr lang="en-US" altLang="zh-CN" sz="2800">
                <a:latin typeface="Times New Roman" panose="02020603050405020304" charset="0"/>
                <a:cs typeface="Times New Roman" panose="02020603050405020304" charset="0"/>
              </a:rPr>
              <a:t>y=Wx</a:t>
            </a:r>
            <a:endParaRPr lang="en-US" altLang="zh-CN" sz="2800">
              <a:latin typeface="Times New Roman" panose="02020603050405020304" charset="0"/>
              <a:cs typeface="Times New Roman" panose="02020603050405020304" charset="0"/>
            </a:endParaRPr>
          </a:p>
          <a:p>
            <a:pPr algn="ctr"/>
            <a:r>
              <a:rPr lang="en-US" altLang="zh-CN" sz="2800">
                <a:latin typeface="Times New Roman" panose="02020603050405020304" charset="0"/>
                <a:cs typeface="Times New Roman" panose="02020603050405020304" charset="0"/>
              </a:rPr>
              <a:t>z=tanh(h)</a:t>
            </a:r>
            <a:endParaRPr lang="en-US" altLang="zh-CN" sz="2800">
              <a:latin typeface="Times New Roman" panose="02020603050405020304" charset="0"/>
              <a:cs typeface="Times New Roman" panose="02020603050405020304" charset="0"/>
            </a:endParaRPr>
          </a:p>
        </p:txBody>
      </p:sp>
      <p:graphicFrame>
        <p:nvGraphicFramePr>
          <p:cNvPr id="16" name="对象 15">
            <a:hlinkClick r:id="" action="ppaction://ole?verb="/>
          </p:cNvPr>
          <p:cNvGraphicFramePr>
            <a:graphicFrameLocks noChangeAspect="1"/>
          </p:cNvGraphicFramePr>
          <p:nvPr/>
        </p:nvGraphicFramePr>
        <p:xfrm>
          <a:off x="3738880" y="2588895"/>
          <a:ext cx="1854200" cy="457200"/>
        </p:xfrm>
        <a:graphic>
          <a:graphicData uri="http://schemas.openxmlformats.org/presentationml/2006/ole">
            <mc:AlternateContent xmlns:mc="http://schemas.openxmlformats.org/markup-compatibility/2006">
              <mc:Choice xmlns:v="urn:schemas-microsoft-com:vml" Requires="v">
                <p:oleObj spid="_x0000_s1026" name="" r:id="rId3" imgW="1854200" imgH="457200" progId="Equation.KSEE3">
                  <p:embed/>
                </p:oleObj>
              </mc:Choice>
              <mc:Fallback>
                <p:oleObj name="" r:id="rId3" imgW="1854200" imgH="457200" progId="Equation.KSEE3">
                  <p:embed/>
                  <p:pic>
                    <p:nvPicPr>
                      <p:cNvPr id="0" name="图片 1025"/>
                      <p:cNvPicPr/>
                      <p:nvPr/>
                    </p:nvPicPr>
                    <p:blipFill>
                      <a:blip r:embed="rId4"/>
                      <a:stretch>
                        <a:fillRect/>
                      </a:stretch>
                    </p:blipFill>
                    <p:spPr>
                      <a:xfrm>
                        <a:off x="3738880" y="2588895"/>
                        <a:ext cx="1854200" cy="45720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4319270" y="3082290"/>
          <a:ext cx="711200" cy="914400"/>
        </p:xfrm>
        <a:graphic>
          <a:graphicData uri="http://schemas.openxmlformats.org/presentationml/2006/ole">
            <mc:AlternateContent xmlns:mc="http://schemas.openxmlformats.org/markup-compatibility/2006">
              <mc:Choice xmlns:v="urn:schemas-microsoft-com:vml" Requires="v">
                <p:oleObj spid="_x0000_s1027" name="" r:id="rId5" imgW="711200" imgH="914400" progId="Equation.KSEE3">
                  <p:embed/>
                </p:oleObj>
              </mc:Choice>
              <mc:Fallback>
                <p:oleObj name="" r:id="rId5" imgW="711200" imgH="914400" progId="Equation.KSEE3">
                  <p:embed/>
                  <p:pic>
                    <p:nvPicPr>
                      <p:cNvPr id="0" name="图片 1026"/>
                      <p:cNvPicPr/>
                      <p:nvPr/>
                    </p:nvPicPr>
                    <p:blipFill>
                      <a:blip r:embed="rId6"/>
                      <a:stretch>
                        <a:fillRect/>
                      </a:stretch>
                    </p:blipFill>
                    <p:spPr>
                      <a:xfrm>
                        <a:off x="4319270" y="3082290"/>
                        <a:ext cx="711200" cy="91440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4268470" y="1533525"/>
          <a:ext cx="967740" cy="426720"/>
        </p:xfrm>
        <a:graphic>
          <a:graphicData uri="http://schemas.openxmlformats.org/presentationml/2006/ole">
            <mc:AlternateContent xmlns:mc="http://schemas.openxmlformats.org/markup-compatibility/2006">
              <mc:Choice xmlns:v="urn:schemas-microsoft-com:vml" Requires="v">
                <p:oleObj spid="_x0000_s1028" name="" r:id="rId7" imgW="634365" imgH="279400" progId="Equation.KSEE3">
                  <p:embed/>
                </p:oleObj>
              </mc:Choice>
              <mc:Fallback>
                <p:oleObj name="" r:id="rId7" imgW="634365" imgH="279400" progId="Equation.KSEE3">
                  <p:embed/>
                  <p:pic>
                    <p:nvPicPr>
                      <p:cNvPr id="0" name="图片 1027"/>
                      <p:cNvPicPr/>
                      <p:nvPr/>
                    </p:nvPicPr>
                    <p:blipFill>
                      <a:blip r:embed="rId8"/>
                      <a:stretch>
                        <a:fillRect/>
                      </a:stretch>
                    </p:blipFill>
                    <p:spPr>
                      <a:xfrm>
                        <a:off x="4268470" y="1533525"/>
                        <a:ext cx="967740" cy="426720"/>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3340735" y="2018030"/>
          <a:ext cx="2755265" cy="413385"/>
        </p:xfrm>
        <a:graphic>
          <a:graphicData uri="http://schemas.openxmlformats.org/presentationml/2006/ole">
            <mc:AlternateContent xmlns:mc="http://schemas.openxmlformats.org/markup-compatibility/2006">
              <mc:Choice xmlns:v="urn:schemas-microsoft-com:vml" Requires="v">
                <p:oleObj spid="_x0000_s1029" name="" r:id="rId9" imgW="1524000" imgH="228600" progId="Equation.KSEE3">
                  <p:embed/>
                </p:oleObj>
              </mc:Choice>
              <mc:Fallback>
                <p:oleObj name="" r:id="rId9" imgW="1524000" imgH="228600" progId="Equation.KSEE3">
                  <p:embed/>
                  <p:pic>
                    <p:nvPicPr>
                      <p:cNvPr id="0" name="图片 1028"/>
                      <p:cNvPicPr/>
                      <p:nvPr/>
                    </p:nvPicPr>
                    <p:blipFill>
                      <a:blip r:embed="rId10"/>
                      <a:stretch>
                        <a:fillRect/>
                      </a:stretch>
                    </p:blipFill>
                    <p:spPr>
                      <a:xfrm>
                        <a:off x="3340735" y="2018030"/>
                        <a:ext cx="2755265" cy="413385"/>
                      </a:xfrm>
                      <a:prstGeom prst="rect">
                        <a:avLst/>
                      </a:prstGeom>
                    </p:spPr>
                  </p:pic>
                </p:oleObj>
              </mc:Fallback>
            </mc:AlternateContent>
          </a:graphicData>
        </a:graphic>
      </p:graphicFrame>
      <p:pic>
        <p:nvPicPr>
          <p:cNvPr id="6" name="图片 5"/>
          <p:cNvPicPr>
            <a:picLocks noChangeAspect="1"/>
          </p:cNvPicPr>
          <p:nvPr/>
        </p:nvPicPr>
        <p:blipFill>
          <a:blip r:embed="rId11"/>
          <a:stretch>
            <a:fillRect/>
          </a:stretch>
        </p:blipFill>
        <p:spPr>
          <a:xfrm>
            <a:off x="7548245" y="1140460"/>
            <a:ext cx="2546350" cy="1212850"/>
          </a:xfrm>
          <a:prstGeom prst="rect">
            <a:avLst/>
          </a:prstGeom>
        </p:spPr>
      </p:pic>
      <p:pic>
        <p:nvPicPr>
          <p:cNvPr id="7" name="图片 6"/>
          <p:cNvPicPr>
            <a:picLocks noChangeAspect="1"/>
          </p:cNvPicPr>
          <p:nvPr/>
        </p:nvPicPr>
        <p:blipFill>
          <a:blip r:embed="rId12"/>
          <a:stretch>
            <a:fillRect/>
          </a:stretch>
        </p:blipFill>
        <p:spPr>
          <a:xfrm>
            <a:off x="6778625" y="2921000"/>
            <a:ext cx="3994150" cy="5080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3" name="图片 2"/>
          <p:cNvPicPr>
            <a:picLocks noChangeAspect="1"/>
          </p:cNvPicPr>
          <p:nvPr/>
        </p:nvPicPr>
        <p:blipFill>
          <a:blip r:embed="rId2"/>
          <a:srcRect l="26997" r="51561" b="17033"/>
          <a:stretch>
            <a:fillRect/>
          </a:stretch>
        </p:blipFill>
        <p:spPr>
          <a:xfrm>
            <a:off x="487680" y="1809115"/>
            <a:ext cx="2961005" cy="4260850"/>
          </a:xfrm>
          <a:prstGeom prst="rect">
            <a:avLst/>
          </a:prstGeom>
        </p:spPr>
      </p:pic>
      <p:sp>
        <p:nvSpPr>
          <p:cNvPr id="4" name="文本框 3"/>
          <p:cNvSpPr txBox="1"/>
          <p:nvPr/>
        </p:nvSpPr>
        <p:spPr>
          <a:xfrm>
            <a:off x="3738880" y="3996690"/>
            <a:ext cx="8453120" cy="2861310"/>
          </a:xfrm>
          <a:prstGeom prst="rect">
            <a:avLst/>
          </a:prstGeom>
          <a:noFill/>
        </p:spPr>
        <p:txBody>
          <a:bodyPr wrap="square" rtlCol="0">
            <a:spAutoFit/>
          </a:bodyPr>
          <a:p>
            <a:r>
              <a:rPr lang="zh-CN" altLang="en-US"/>
              <a:t>对抗噪声：人类观察者无法察觉但能够在神经网络中诱导错误分类的输入修改。</a:t>
            </a:r>
            <a:endParaRPr lang="zh-CN" altLang="en-US"/>
          </a:p>
          <a:p>
            <a:endParaRPr lang="zh-CN" altLang="en-US"/>
          </a:p>
          <a:p>
            <a:endParaRPr lang="zh-CN" altLang="en-US"/>
          </a:p>
          <a:p>
            <a:r>
              <a:rPr lang="zh-CN" altLang="en-US">
                <a:solidFill>
                  <a:schemeClr val="tx1"/>
                </a:solidFill>
              </a:rPr>
              <a:t>结构噪声</a:t>
            </a:r>
            <a:r>
              <a:rPr lang="zh-CN" altLang="en-US"/>
              <a:t>：我们通过频域修改来模拟结构化的现实世界干扰。</a:t>
            </a:r>
            <a:endParaRPr lang="zh-CN" altLang="en-US"/>
          </a:p>
          <a:p>
            <a:endParaRPr lang="zh-CN" altLang="en-US"/>
          </a:p>
          <a:p>
            <a:endParaRPr lang="zh-CN" altLang="en-US"/>
          </a:p>
          <a:p>
            <a:r>
              <a:rPr lang="zh-CN" altLang="en-US">
                <a:solidFill>
                  <a:srgbClr val="FF0000"/>
                </a:solidFill>
              </a:rPr>
              <a:t>低频和高频噪声</a:t>
            </a:r>
            <a:r>
              <a:rPr lang="zh-CN" altLang="en-US"/>
              <a:t>：这两个互补的频率选择性扰动评估不同频段的模型灵敏度。</a:t>
            </a:r>
            <a:endParaRPr lang="zh-CN" altLang="en-US"/>
          </a:p>
          <a:p>
            <a:endParaRPr lang="zh-CN" altLang="en-US"/>
          </a:p>
          <a:p>
            <a:endParaRPr lang="zh-CN" altLang="en-US"/>
          </a:p>
          <a:p>
            <a:r>
              <a:rPr lang="zh-CN" altLang="en-US"/>
              <a:t>高斯噪声：我们应用具有受控方差的元素零均值高斯噪声来模拟随机输入变化。</a:t>
            </a:r>
            <a:endParaRPr lang="zh-CN" altLang="en-US"/>
          </a:p>
        </p:txBody>
      </p:sp>
      <p:sp>
        <p:nvSpPr>
          <p:cNvPr id="5" name="左大括号 4"/>
          <p:cNvSpPr/>
          <p:nvPr/>
        </p:nvSpPr>
        <p:spPr>
          <a:xfrm>
            <a:off x="3481705" y="4138930"/>
            <a:ext cx="266065" cy="2564130"/>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3885565" y="663575"/>
            <a:ext cx="1716405" cy="953135"/>
          </a:xfrm>
          <a:prstGeom prst="rect">
            <a:avLst/>
          </a:prstGeom>
          <a:noFill/>
        </p:spPr>
        <p:txBody>
          <a:bodyPr wrap="square" rtlCol="0">
            <a:spAutoFit/>
          </a:bodyPr>
          <a:p>
            <a:pPr algn="ctr"/>
            <a:r>
              <a:rPr lang="en-US" altLang="zh-CN" sz="2800">
                <a:latin typeface="Times New Roman" panose="02020603050405020304" charset="0"/>
                <a:cs typeface="Times New Roman" panose="02020603050405020304" charset="0"/>
              </a:rPr>
              <a:t>y=Wx</a:t>
            </a:r>
            <a:endParaRPr lang="en-US" altLang="zh-CN" sz="2800">
              <a:latin typeface="Times New Roman" panose="02020603050405020304" charset="0"/>
              <a:cs typeface="Times New Roman" panose="02020603050405020304" charset="0"/>
            </a:endParaRPr>
          </a:p>
          <a:p>
            <a:pPr algn="ctr"/>
            <a:r>
              <a:rPr lang="en-US" altLang="zh-CN" sz="2800">
                <a:latin typeface="Times New Roman" panose="02020603050405020304" charset="0"/>
                <a:cs typeface="Times New Roman" panose="02020603050405020304" charset="0"/>
              </a:rPr>
              <a:t>z=tanh(h)</a:t>
            </a:r>
            <a:endParaRPr lang="en-US" altLang="zh-CN" sz="2800">
              <a:latin typeface="Times New Roman" panose="02020603050405020304" charset="0"/>
              <a:cs typeface="Times New Roman" panose="02020603050405020304" charset="0"/>
            </a:endParaRPr>
          </a:p>
        </p:txBody>
      </p:sp>
      <p:graphicFrame>
        <p:nvGraphicFramePr>
          <p:cNvPr id="16" name="对象 15">
            <a:hlinkClick r:id="" action="ppaction://ole?verb="/>
          </p:cNvPr>
          <p:cNvGraphicFramePr>
            <a:graphicFrameLocks noChangeAspect="1"/>
          </p:cNvGraphicFramePr>
          <p:nvPr/>
        </p:nvGraphicFramePr>
        <p:xfrm>
          <a:off x="3738880" y="2588895"/>
          <a:ext cx="1854200" cy="457200"/>
        </p:xfrm>
        <a:graphic>
          <a:graphicData uri="http://schemas.openxmlformats.org/presentationml/2006/ole">
            <mc:AlternateContent xmlns:mc="http://schemas.openxmlformats.org/markup-compatibility/2006">
              <mc:Choice xmlns:v="urn:schemas-microsoft-com:vml" Requires="v">
                <p:oleObj spid="_x0000_s1026" name="" r:id="rId3" imgW="1854200" imgH="457200" progId="Equation.KSEE3">
                  <p:embed/>
                </p:oleObj>
              </mc:Choice>
              <mc:Fallback>
                <p:oleObj name="" r:id="rId3" imgW="1854200" imgH="457200" progId="Equation.KSEE3">
                  <p:embed/>
                  <p:pic>
                    <p:nvPicPr>
                      <p:cNvPr id="0" name="图片 1025"/>
                      <p:cNvPicPr/>
                      <p:nvPr/>
                    </p:nvPicPr>
                    <p:blipFill>
                      <a:blip r:embed="rId4"/>
                      <a:stretch>
                        <a:fillRect/>
                      </a:stretch>
                    </p:blipFill>
                    <p:spPr>
                      <a:xfrm>
                        <a:off x="3738880" y="2588895"/>
                        <a:ext cx="1854200" cy="45720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4319270" y="3082290"/>
          <a:ext cx="711200" cy="914400"/>
        </p:xfrm>
        <a:graphic>
          <a:graphicData uri="http://schemas.openxmlformats.org/presentationml/2006/ole">
            <mc:AlternateContent xmlns:mc="http://schemas.openxmlformats.org/markup-compatibility/2006">
              <mc:Choice xmlns:v="urn:schemas-microsoft-com:vml" Requires="v">
                <p:oleObj spid="_x0000_s1027" name="" r:id="rId5" imgW="711200" imgH="914400" progId="Equation.KSEE3">
                  <p:embed/>
                </p:oleObj>
              </mc:Choice>
              <mc:Fallback>
                <p:oleObj name="" r:id="rId5" imgW="711200" imgH="914400" progId="Equation.KSEE3">
                  <p:embed/>
                  <p:pic>
                    <p:nvPicPr>
                      <p:cNvPr id="0" name="图片 1026"/>
                      <p:cNvPicPr/>
                      <p:nvPr/>
                    </p:nvPicPr>
                    <p:blipFill>
                      <a:blip r:embed="rId6"/>
                      <a:stretch>
                        <a:fillRect/>
                      </a:stretch>
                    </p:blipFill>
                    <p:spPr>
                      <a:xfrm>
                        <a:off x="4319270" y="3082290"/>
                        <a:ext cx="711200" cy="91440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4268470" y="1533525"/>
          <a:ext cx="967740" cy="426720"/>
        </p:xfrm>
        <a:graphic>
          <a:graphicData uri="http://schemas.openxmlformats.org/presentationml/2006/ole">
            <mc:AlternateContent xmlns:mc="http://schemas.openxmlformats.org/markup-compatibility/2006">
              <mc:Choice xmlns:v="urn:schemas-microsoft-com:vml" Requires="v">
                <p:oleObj spid="_x0000_s1028" name="" r:id="rId7" imgW="634365" imgH="279400" progId="Equation.KSEE3">
                  <p:embed/>
                </p:oleObj>
              </mc:Choice>
              <mc:Fallback>
                <p:oleObj name="" r:id="rId7" imgW="634365" imgH="279400" progId="Equation.KSEE3">
                  <p:embed/>
                  <p:pic>
                    <p:nvPicPr>
                      <p:cNvPr id="0" name="图片 1027"/>
                      <p:cNvPicPr/>
                      <p:nvPr/>
                    </p:nvPicPr>
                    <p:blipFill>
                      <a:blip r:embed="rId8"/>
                      <a:stretch>
                        <a:fillRect/>
                      </a:stretch>
                    </p:blipFill>
                    <p:spPr>
                      <a:xfrm>
                        <a:off x="4268470" y="1533525"/>
                        <a:ext cx="967740" cy="426720"/>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3340735" y="2018030"/>
          <a:ext cx="2755265" cy="413385"/>
        </p:xfrm>
        <a:graphic>
          <a:graphicData uri="http://schemas.openxmlformats.org/presentationml/2006/ole">
            <mc:AlternateContent xmlns:mc="http://schemas.openxmlformats.org/markup-compatibility/2006">
              <mc:Choice xmlns:v="urn:schemas-microsoft-com:vml" Requires="v">
                <p:oleObj spid="_x0000_s1029" name="" r:id="rId9" imgW="1524000" imgH="228600" progId="Equation.KSEE3">
                  <p:embed/>
                </p:oleObj>
              </mc:Choice>
              <mc:Fallback>
                <p:oleObj name="" r:id="rId9" imgW="1524000" imgH="228600" progId="Equation.KSEE3">
                  <p:embed/>
                  <p:pic>
                    <p:nvPicPr>
                      <p:cNvPr id="0" name="图片 1028"/>
                      <p:cNvPicPr/>
                      <p:nvPr/>
                    </p:nvPicPr>
                    <p:blipFill>
                      <a:blip r:embed="rId10"/>
                      <a:stretch>
                        <a:fillRect/>
                      </a:stretch>
                    </p:blipFill>
                    <p:spPr>
                      <a:xfrm>
                        <a:off x="3340735" y="2018030"/>
                        <a:ext cx="2755265" cy="413385"/>
                      </a:xfrm>
                      <a:prstGeom prst="rect">
                        <a:avLst/>
                      </a:prstGeom>
                    </p:spPr>
                  </p:pic>
                </p:oleObj>
              </mc:Fallback>
            </mc:AlternateContent>
          </a:graphicData>
        </a:graphic>
      </p:graphicFrame>
      <p:pic>
        <p:nvPicPr>
          <p:cNvPr id="6" name="图片 5"/>
          <p:cNvPicPr>
            <a:picLocks noChangeAspect="1"/>
          </p:cNvPicPr>
          <p:nvPr/>
        </p:nvPicPr>
        <p:blipFill>
          <a:blip r:embed="rId11"/>
          <a:stretch>
            <a:fillRect/>
          </a:stretch>
        </p:blipFill>
        <p:spPr>
          <a:xfrm>
            <a:off x="7423150" y="245110"/>
            <a:ext cx="2654300" cy="1263650"/>
          </a:xfrm>
          <a:prstGeom prst="rect">
            <a:avLst/>
          </a:prstGeom>
        </p:spPr>
      </p:pic>
      <p:pic>
        <p:nvPicPr>
          <p:cNvPr id="7" name="图片 6"/>
          <p:cNvPicPr>
            <a:picLocks noChangeAspect="1"/>
          </p:cNvPicPr>
          <p:nvPr/>
        </p:nvPicPr>
        <p:blipFill>
          <a:blip r:embed="rId12"/>
          <a:stretch>
            <a:fillRect/>
          </a:stretch>
        </p:blipFill>
        <p:spPr>
          <a:xfrm>
            <a:off x="6791325" y="1535430"/>
            <a:ext cx="3917950" cy="482600"/>
          </a:xfrm>
          <a:prstGeom prst="rect">
            <a:avLst/>
          </a:prstGeom>
        </p:spPr>
      </p:pic>
      <p:pic>
        <p:nvPicPr>
          <p:cNvPr id="8" name="图片 7"/>
          <p:cNvPicPr>
            <a:picLocks noChangeAspect="1"/>
          </p:cNvPicPr>
          <p:nvPr/>
        </p:nvPicPr>
        <p:blipFill>
          <a:blip r:embed="rId13"/>
          <a:stretch>
            <a:fillRect/>
          </a:stretch>
        </p:blipFill>
        <p:spPr>
          <a:xfrm>
            <a:off x="7484110" y="2188845"/>
            <a:ext cx="2628900" cy="1257300"/>
          </a:xfrm>
          <a:prstGeom prst="rect">
            <a:avLst/>
          </a:prstGeom>
        </p:spPr>
      </p:pic>
      <p:pic>
        <p:nvPicPr>
          <p:cNvPr id="9" name="图片 8"/>
          <p:cNvPicPr>
            <a:picLocks noChangeAspect="1"/>
          </p:cNvPicPr>
          <p:nvPr/>
        </p:nvPicPr>
        <p:blipFill>
          <a:blip r:embed="rId14"/>
          <a:stretch>
            <a:fillRect/>
          </a:stretch>
        </p:blipFill>
        <p:spPr>
          <a:xfrm>
            <a:off x="6917690" y="3470910"/>
            <a:ext cx="3886200" cy="50165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3" name="图片 2"/>
          <p:cNvPicPr>
            <a:picLocks noChangeAspect="1"/>
          </p:cNvPicPr>
          <p:nvPr/>
        </p:nvPicPr>
        <p:blipFill>
          <a:blip r:embed="rId2"/>
          <a:srcRect l="26997" r="51561" b="17033"/>
          <a:stretch>
            <a:fillRect/>
          </a:stretch>
        </p:blipFill>
        <p:spPr>
          <a:xfrm>
            <a:off x="487680" y="1809115"/>
            <a:ext cx="2961005" cy="4260850"/>
          </a:xfrm>
          <a:prstGeom prst="rect">
            <a:avLst/>
          </a:prstGeom>
        </p:spPr>
      </p:pic>
      <p:sp>
        <p:nvSpPr>
          <p:cNvPr id="4" name="文本框 3"/>
          <p:cNvSpPr txBox="1"/>
          <p:nvPr/>
        </p:nvSpPr>
        <p:spPr>
          <a:xfrm>
            <a:off x="3738880" y="3996690"/>
            <a:ext cx="8453120" cy="2861310"/>
          </a:xfrm>
          <a:prstGeom prst="rect">
            <a:avLst/>
          </a:prstGeom>
          <a:noFill/>
        </p:spPr>
        <p:txBody>
          <a:bodyPr wrap="square" rtlCol="0">
            <a:spAutoFit/>
          </a:bodyPr>
          <a:p>
            <a:r>
              <a:rPr lang="zh-CN" altLang="en-US"/>
              <a:t>对抗噪声：人类观察者无法察觉但能够在神经网络中诱导错误分类的输入修改。</a:t>
            </a:r>
            <a:endParaRPr lang="zh-CN" altLang="en-US"/>
          </a:p>
          <a:p>
            <a:endParaRPr lang="zh-CN" altLang="en-US"/>
          </a:p>
          <a:p>
            <a:endParaRPr lang="zh-CN" altLang="en-US"/>
          </a:p>
          <a:p>
            <a:r>
              <a:rPr lang="zh-CN" altLang="en-US"/>
              <a:t>结构噪声：我们通过频域修改来模拟结构化的现实世界干扰。</a:t>
            </a:r>
            <a:endParaRPr lang="zh-CN" altLang="en-US"/>
          </a:p>
          <a:p>
            <a:endParaRPr lang="zh-CN" altLang="en-US"/>
          </a:p>
          <a:p>
            <a:endParaRPr lang="zh-CN" altLang="en-US"/>
          </a:p>
          <a:p>
            <a:r>
              <a:rPr lang="zh-CN" altLang="en-US"/>
              <a:t>低频和高频噪声：这两个互补的频率选择性扰动评估不同频段的模型灵敏度。</a:t>
            </a:r>
            <a:endParaRPr lang="zh-CN" altLang="en-US"/>
          </a:p>
          <a:p>
            <a:endParaRPr lang="zh-CN" altLang="en-US"/>
          </a:p>
          <a:p>
            <a:endParaRPr lang="zh-CN" altLang="en-US"/>
          </a:p>
          <a:p>
            <a:r>
              <a:rPr lang="zh-CN" altLang="en-US">
                <a:solidFill>
                  <a:srgbClr val="FF0000"/>
                </a:solidFill>
              </a:rPr>
              <a:t>高斯噪声</a:t>
            </a:r>
            <a:r>
              <a:rPr lang="zh-CN" altLang="en-US"/>
              <a:t>：我们应用具有受控方差的元素零均值高斯噪声来模拟随机输入变化。</a:t>
            </a:r>
            <a:endParaRPr lang="zh-CN" altLang="en-US"/>
          </a:p>
        </p:txBody>
      </p:sp>
      <p:sp>
        <p:nvSpPr>
          <p:cNvPr id="5" name="左大括号 4"/>
          <p:cNvSpPr/>
          <p:nvPr/>
        </p:nvSpPr>
        <p:spPr>
          <a:xfrm>
            <a:off x="3481705" y="4138930"/>
            <a:ext cx="266065" cy="2564130"/>
          </a:xfrm>
          <a:prstGeom prst="leftBrac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3885565" y="663575"/>
            <a:ext cx="1716405" cy="953135"/>
          </a:xfrm>
          <a:prstGeom prst="rect">
            <a:avLst/>
          </a:prstGeom>
          <a:noFill/>
        </p:spPr>
        <p:txBody>
          <a:bodyPr wrap="square" rtlCol="0">
            <a:spAutoFit/>
          </a:bodyPr>
          <a:p>
            <a:pPr algn="ctr"/>
            <a:r>
              <a:rPr lang="en-US" altLang="zh-CN" sz="2800">
                <a:latin typeface="Times New Roman" panose="02020603050405020304" charset="0"/>
                <a:cs typeface="Times New Roman" panose="02020603050405020304" charset="0"/>
              </a:rPr>
              <a:t>y=Wx</a:t>
            </a:r>
            <a:endParaRPr lang="en-US" altLang="zh-CN" sz="2800">
              <a:latin typeface="Times New Roman" panose="02020603050405020304" charset="0"/>
              <a:cs typeface="Times New Roman" panose="02020603050405020304" charset="0"/>
            </a:endParaRPr>
          </a:p>
          <a:p>
            <a:pPr algn="ctr"/>
            <a:r>
              <a:rPr lang="en-US" altLang="zh-CN" sz="2800">
                <a:latin typeface="Times New Roman" panose="02020603050405020304" charset="0"/>
                <a:cs typeface="Times New Roman" panose="02020603050405020304" charset="0"/>
              </a:rPr>
              <a:t>z=tanh(h)</a:t>
            </a:r>
            <a:endParaRPr lang="en-US" altLang="zh-CN" sz="2800">
              <a:latin typeface="Times New Roman" panose="02020603050405020304" charset="0"/>
              <a:cs typeface="Times New Roman" panose="02020603050405020304" charset="0"/>
            </a:endParaRPr>
          </a:p>
        </p:txBody>
      </p:sp>
      <p:graphicFrame>
        <p:nvGraphicFramePr>
          <p:cNvPr id="16" name="对象 15">
            <a:hlinkClick r:id="" action="ppaction://ole?verb="/>
          </p:cNvPr>
          <p:cNvGraphicFramePr>
            <a:graphicFrameLocks noChangeAspect="1"/>
          </p:cNvGraphicFramePr>
          <p:nvPr/>
        </p:nvGraphicFramePr>
        <p:xfrm>
          <a:off x="3738880" y="2588895"/>
          <a:ext cx="1854200" cy="457200"/>
        </p:xfrm>
        <a:graphic>
          <a:graphicData uri="http://schemas.openxmlformats.org/presentationml/2006/ole">
            <mc:AlternateContent xmlns:mc="http://schemas.openxmlformats.org/markup-compatibility/2006">
              <mc:Choice xmlns:v="urn:schemas-microsoft-com:vml" Requires="v">
                <p:oleObj spid="_x0000_s1026" name="" r:id="rId3" imgW="1854200" imgH="457200" progId="Equation.KSEE3">
                  <p:embed/>
                </p:oleObj>
              </mc:Choice>
              <mc:Fallback>
                <p:oleObj name="" r:id="rId3" imgW="1854200" imgH="457200" progId="Equation.KSEE3">
                  <p:embed/>
                  <p:pic>
                    <p:nvPicPr>
                      <p:cNvPr id="0" name="图片 1025"/>
                      <p:cNvPicPr/>
                      <p:nvPr/>
                    </p:nvPicPr>
                    <p:blipFill>
                      <a:blip r:embed="rId4"/>
                      <a:stretch>
                        <a:fillRect/>
                      </a:stretch>
                    </p:blipFill>
                    <p:spPr>
                      <a:xfrm>
                        <a:off x="3738880" y="2588895"/>
                        <a:ext cx="1854200" cy="45720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4319270" y="3082290"/>
          <a:ext cx="711200" cy="914400"/>
        </p:xfrm>
        <a:graphic>
          <a:graphicData uri="http://schemas.openxmlformats.org/presentationml/2006/ole">
            <mc:AlternateContent xmlns:mc="http://schemas.openxmlformats.org/markup-compatibility/2006">
              <mc:Choice xmlns:v="urn:schemas-microsoft-com:vml" Requires="v">
                <p:oleObj spid="_x0000_s1027" name="" r:id="rId5" imgW="711200" imgH="914400" progId="Equation.KSEE3">
                  <p:embed/>
                </p:oleObj>
              </mc:Choice>
              <mc:Fallback>
                <p:oleObj name="" r:id="rId5" imgW="711200" imgH="914400" progId="Equation.KSEE3">
                  <p:embed/>
                  <p:pic>
                    <p:nvPicPr>
                      <p:cNvPr id="0" name="图片 1026"/>
                      <p:cNvPicPr/>
                      <p:nvPr/>
                    </p:nvPicPr>
                    <p:blipFill>
                      <a:blip r:embed="rId6"/>
                      <a:stretch>
                        <a:fillRect/>
                      </a:stretch>
                    </p:blipFill>
                    <p:spPr>
                      <a:xfrm>
                        <a:off x="4319270" y="3082290"/>
                        <a:ext cx="711200" cy="91440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4268470" y="1533525"/>
          <a:ext cx="967740" cy="426720"/>
        </p:xfrm>
        <a:graphic>
          <a:graphicData uri="http://schemas.openxmlformats.org/presentationml/2006/ole">
            <mc:AlternateContent xmlns:mc="http://schemas.openxmlformats.org/markup-compatibility/2006">
              <mc:Choice xmlns:v="urn:schemas-microsoft-com:vml" Requires="v">
                <p:oleObj spid="_x0000_s1028" name="" r:id="rId7" imgW="634365" imgH="279400" progId="Equation.KSEE3">
                  <p:embed/>
                </p:oleObj>
              </mc:Choice>
              <mc:Fallback>
                <p:oleObj name="" r:id="rId7" imgW="634365" imgH="279400" progId="Equation.KSEE3">
                  <p:embed/>
                  <p:pic>
                    <p:nvPicPr>
                      <p:cNvPr id="0" name="图片 1027"/>
                      <p:cNvPicPr/>
                      <p:nvPr/>
                    </p:nvPicPr>
                    <p:blipFill>
                      <a:blip r:embed="rId8"/>
                      <a:stretch>
                        <a:fillRect/>
                      </a:stretch>
                    </p:blipFill>
                    <p:spPr>
                      <a:xfrm>
                        <a:off x="4268470" y="1533525"/>
                        <a:ext cx="967740" cy="426720"/>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3340735" y="2018030"/>
          <a:ext cx="2755265" cy="413385"/>
        </p:xfrm>
        <a:graphic>
          <a:graphicData uri="http://schemas.openxmlformats.org/presentationml/2006/ole">
            <mc:AlternateContent xmlns:mc="http://schemas.openxmlformats.org/markup-compatibility/2006">
              <mc:Choice xmlns:v="urn:schemas-microsoft-com:vml" Requires="v">
                <p:oleObj spid="_x0000_s1029" name="" r:id="rId9" imgW="1524000" imgH="228600" progId="Equation.KSEE3">
                  <p:embed/>
                </p:oleObj>
              </mc:Choice>
              <mc:Fallback>
                <p:oleObj name="" r:id="rId9" imgW="1524000" imgH="228600" progId="Equation.KSEE3">
                  <p:embed/>
                  <p:pic>
                    <p:nvPicPr>
                      <p:cNvPr id="0" name="图片 1028"/>
                      <p:cNvPicPr/>
                      <p:nvPr/>
                    </p:nvPicPr>
                    <p:blipFill>
                      <a:blip r:embed="rId10"/>
                      <a:stretch>
                        <a:fillRect/>
                      </a:stretch>
                    </p:blipFill>
                    <p:spPr>
                      <a:xfrm>
                        <a:off x="3340735" y="2018030"/>
                        <a:ext cx="2755265" cy="413385"/>
                      </a:xfrm>
                      <a:prstGeom prst="rect">
                        <a:avLst/>
                      </a:prstGeom>
                    </p:spPr>
                  </p:pic>
                </p:oleObj>
              </mc:Fallback>
            </mc:AlternateContent>
          </a:graphicData>
        </a:graphic>
      </p:graphicFrame>
      <p:pic>
        <p:nvPicPr>
          <p:cNvPr id="20" name="图片 19"/>
          <p:cNvPicPr>
            <a:picLocks noChangeAspect="1"/>
          </p:cNvPicPr>
          <p:nvPr/>
        </p:nvPicPr>
        <p:blipFill>
          <a:blip r:embed="rId11"/>
          <a:stretch>
            <a:fillRect/>
          </a:stretch>
        </p:blipFill>
        <p:spPr>
          <a:xfrm>
            <a:off x="6223000" y="461645"/>
            <a:ext cx="2063750" cy="2967355"/>
          </a:xfrm>
          <a:prstGeom prst="rect">
            <a:avLst/>
          </a:prstGeom>
        </p:spPr>
      </p:pic>
      <p:pic>
        <p:nvPicPr>
          <p:cNvPr id="21" name="图片 20"/>
          <p:cNvPicPr>
            <a:picLocks noChangeAspect="1"/>
          </p:cNvPicPr>
          <p:nvPr/>
        </p:nvPicPr>
        <p:blipFill>
          <a:blip r:embed="rId12"/>
          <a:stretch>
            <a:fillRect/>
          </a:stretch>
        </p:blipFill>
        <p:spPr>
          <a:xfrm>
            <a:off x="5901055" y="3469640"/>
            <a:ext cx="2711450" cy="527050"/>
          </a:xfrm>
          <a:prstGeom prst="rect">
            <a:avLst/>
          </a:prstGeom>
        </p:spPr>
      </p:pic>
      <p:pic>
        <p:nvPicPr>
          <p:cNvPr id="22" name="图片 21"/>
          <p:cNvPicPr>
            <a:picLocks noChangeAspect="1"/>
          </p:cNvPicPr>
          <p:nvPr/>
        </p:nvPicPr>
        <p:blipFill>
          <a:blip r:embed="rId13"/>
          <a:stretch>
            <a:fillRect/>
          </a:stretch>
        </p:blipFill>
        <p:spPr>
          <a:xfrm>
            <a:off x="8197850" y="2431415"/>
            <a:ext cx="3994150" cy="52705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Approach</a:t>
            </a:r>
            <a:endParaRPr lang="en-US" altLang="zh-CN" sz="2000" dirty="0">
              <a:latin typeface="+mj-ea"/>
              <a:ea typeface="+mj-ea"/>
            </a:endParaRPr>
          </a:p>
        </p:txBody>
      </p:sp>
      <p:pic>
        <p:nvPicPr>
          <p:cNvPr id="3" name="图片 2"/>
          <p:cNvPicPr>
            <a:picLocks noChangeAspect="1"/>
          </p:cNvPicPr>
          <p:nvPr/>
        </p:nvPicPr>
        <p:blipFill>
          <a:blip r:embed="rId2"/>
          <a:srcRect l="49917" r="502" b="14378"/>
          <a:stretch>
            <a:fillRect/>
          </a:stretch>
        </p:blipFill>
        <p:spPr>
          <a:xfrm>
            <a:off x="5449570" y="1674495"/>
            <a:ext cx="6502400" cy="4175125"/>
          </a:xfrm>
          <a:prstGeom prst="rect">
            <a:avLst/>
          </a:prstGeom>
        </p:spPr>
      </p:pic>
      <p:pic>
        <p:nvPicPr>
          <p:cNvPr id="4" name="图片 3"/>
          <p:cNvPicPr>
            <a:picLocks noChangeAspect="1"/>
          </p:cNvPicPr>
          <p:nvPr/>
        </p:nvPicPr>
        <p:blipFill>
          <a:blip r:embed="rId3"/>
          <a:stretch>
            <a:fillRect/>
          </a:stretch>
        </p:blipFill>
        <p:spPr>
          <a:xfrm>
            <a:off x="180975" y="1961515"/>
            <a:ext cx="5268595" cy="47288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实验设置</a:t>
            </a:r>
            <a:endParaRPr lang="zh-CN" altLang="en-US" sz="2000" dirty="0">
              <a:latin typeface="+mj-ea"/>
              <a:ea typeface="+mj-ea"/>
            </a:endParaRPr>
          </a:p>
        </p:txBody>
      </p:sp>
      <p:sp>
        <p:nvSpPr>
          <p:cNvPr id="7" name="文本框 6"/>
          <p:cNvSpPr txBox="1"/>
          <p:nvPr/>
        </p:nvSpPr>
        <p:spPr>
          <a:xfrm>
            <a:off x="350982" y="2096655"/>
            <a:ext cx="11305309" cy="2306955"/>
          </a:xfrm>
          <a:prstGeom prst="rect">
            <a:avLst/>
          </a:prstGeom>
          <a:noFill/>
        </p:spPr>
        <p:txBody>
          <a:bodyPr wrap="square">
            <a:spAutoFit/>
          </a:bodyPr>
          <a:lstStyle/>
          <a:p>
            <a:pPr algn="l"/>
            <a:r>
              <a:rPr lang="zh-CN" altLang="en-US" sz="2400" b="1" i="0" dirty="0">
                <a:solidFill>
                  <a:srgbClr val="0F1728"/>
                </a:solidFill>
                <a:effectLst/>
                <a:highlight>
                  <a:srgbClr val="FFFFFF"/>
                </a:highlight>
                <a:latin typeface="-apple-system"/>
              </a:rPr>
              <a:t>研究问题：</a:t>
            </a:r>
            <a:endParaRPr lang="en-US" altLang="zh-CN" sz="2400" b="1" i="0" dirty="0">
              <a:solidFill>
                <a:srgbClr val="0F1728"/>
              </a:solidFill>
              <a:effectLst/>
              <a:highlight>
                <a:srgbClr val="FFFFFF"/>
              </a:highlight>
              <a:latin typeface="-apple-system"/>
            </a:endParaRPr>
          </a:p>
          <a:p>
            <a:pPr algn="l"/>
            <a:endParaRPr lang="en-US" altLang="zh-CN" sz="2000" b="0" i="0" dirty="0">
              <a:solidFill>
                <a:srgbClr val="0F1728"/>
              </a:solidFill>
              <a:effectLst/>
              <a:highlight>
                <a:srgbClr val="FFFFFF"/>
              </a:highlight>
              <a:latin typeface="+mn-ea"/>
              <a:ea typeface="+mn-ea"/>
            </a:endParaRPr>
          </a:p>
          <a:p>
            <a:r>
              <a:rPr lang="en-US" altLang="zh-CN" sz="2000" dirty="0">
                <a:effectLst/>
                <a:latin typeface="+mn-ea"/>
                <a:ea typeface="+mn-ea"/>
              </a:rPr>
              <a:t>• RQ1</a:t>
            </a:r>
            <a:r>
              <a:rPr lang="zh-CN" altLang="en-US" sz="2000" dirty="0">
                <a:effectLst/>
                <a:latin typeface="+mn-ea"/>
                <a:ea typeface="+mn-ea"/>
              </a:rPr>
              <a:t>：与现有方法相比，</a:t>
            </a:r>
            <a:r>
              <a:rPr lang="en-US" altLang="zh-CN" sz="2000" dirty="0">
                <a:effectLst/>
                <a:latin typeface="+mn-ea"/>
                <a:ea typeface="+mn-ea"/>
              </a:rPr>
              <a:t>TENSORGUARD </a:t>
            </a:r>
            <a:r>
              <a:rPr lang="zh-CN" altLang="en-US" sz="2000" dirty="0">
                <a:effectLst/>
                <a:latin typeface="+mn-ea"/>
                <a:ea typeface="+mn-ea"/>
              </a:rPr>
              <a:t>的性能如何？</a:t>
            </a:r>
            <a:endParaRPr lang="zh-CN" altLang="en-US" sz="2000" dirty="0">
              <a:effectLst/>
              <a:latin typeface="+mn-ea"/>
              <a:ea typeface="+mn-ea"/>
            </a:endParaRPr>
          </a:p>
          <a:p>
            <a:endParaRPr lang="zh-CN" altLang="en-US" sz="2000" dirty="0">
              <a:effectLst/>
              <a:latin typeface="+mn-ea"/>
              <a:ea typeface="+mn-ea"/>
            </a:endParaRPr>
          </a:p>
          <a:p>
            <a:r>
              <a:rPr lang="en-US" altLang="zh-CN" sz="2000" dirty="0">
                <a:effectLst/>
                <a:latin typeface="+mn-ea"/>
                <a:ea typeface="+mn-ea"/>
              </a:rPr>
              <a:t>• RQ2</a:t>
            </a:r>
            <a:r>
              <a:rPr lang="zh-CN" altLang="en-US" sz="2000" dirty="0">
                <a:effectLst/>
                <a:latin typeface="+mn-ea"/>
                <a:ea typeface="+mn-ea"/>
              </a:rPr>
              <a:t>：随机扰动策略是否提供卓越的梯度判别性？</a:t>
            </a:r>
            <a:endParaRPr lang="zh-CN" altLang="en-US" sz="2000" dirty="0">
              <a:effectLst/>
              <a:latin typeface="+mn-ea"/>
              <a:ea typeface="+mn-ea"/>
            </a:endParaRPr>
          </a:p>
          <a:p>
            <a:endParaRPr lang="zh-CN" altLang="en-US" sz="2000" dirty="0">
              <a:effectLst/>
              <a:latin typeface="+mn-ea"/>
              <a:ea typeface="+mn-ea"/>
            </a:endParaRPr>
          </a:p>
          <a:p>
            <a:r>
              <a:rPr lang="en-US" altLang="zh-CN" sz="2000" dirty="0">
                <a:effectLst/>
                <a:latin typeface="+mn-ea"/>
                <a:ea typeface="+mn-ea"/>
              </a:rPr>
              <a:t>• RQ3</a:t>
            </a:r>
            <a:r>
              <a:rPr lang="zh-CN" altLang="en-US" sz="2000" dirty="0">
                <a:effectLst/>
                <a:latin typeface="+mn-ea"/>
                <a:ea typeface="+mn-ea"/>
              </a:rPr>
              <a:t>：不同的聚类策略对</a:t>
            </a:r>
            <a:r>
              <a:rPr lang="en-US" altLang="zh-CN" sz="2000" dirty="0">
                <a:effectLst/>
                <a:latin typeface="+mn-ea"/>
                <a:ea typeface="+mn-ea"/>
              </a:rPr>
              <a:t>LLM</a:t>
            </a:r>
            <a:r>
              <a:rPr lang="zh-CN" altLang="en-US" sz="2000" dirty="0">
                <a:effectLst/>
                <a:latin typeface="+mn-ea"/>
                <a:ea typeface="+mn-ea"/>
              </a:rPr>
              <a:t>相似性检测精度有何影响？</a:t>
            </a:r>
            <a:endParaRPr lang="zh-CN" altLang="en-US" sz="2000" dirty="0">
              <a:effectLst/>
              <a:latin typeface="+mn-ea"/>
              <a:ea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实验设置</a:t>
            </a:r>
            <a:endParaRPr lang="zh-CN" altLang="en-US" sz="2000" dirty="0">
              <a:latin typeface="+mj-ea"/>
              <a:ea typeface="+mj-ea"/>
            </a:endParaRPr>
          </a:p>
        </p:txBody>
      </p:sp>
      <p:sp>
        <p:nvSpPr>
          <p:cNvPr id="7" name="文本框 6"/>
          <p:cNvSpPr txBox="1"/>
          <p:nvPr/>
        </p:nvSpPr>
        <p:spPr>
          <a:xfrm>
            <a:off x="350982" y="2096655"/>
            <a:ext cx="11305309" cy="2538095"/>
          </a:xfrm>
          <a:prstGeom prst="rect">
            <a:avLst/>
          </a:prstGeom>
          <a:noFill/>
        </p:spPr>
        <p:txBody>
          <a:bodyPr wrap="square">
            <a:spAutoFit/>
          </a:bodyPr>
          <a:lstStyle/>
          <a:p>
            <a:pPr algn="l"/>
            <a:r>
              <a:rPr lang="zh-CN" altLang="en-US" sz="2400" b="1" dirty="0">
                <a:solidFill>
                  <a:srgbClr val="0F1728"/>
                </a:solidFill>
                <a:highlight>
                  <a:srgbClr val="FFFFFF"/>
                </a:highlight>
                <a:latin typeface="微软雅黑" panose="020B0503020204020204" pitchFamily="34" charset="-122"/>
                <a:cs typeface="微软雅黑" panose="020B0503020204020204" pitchFamily="34" charset="-122"/>
              </a:rPr>
              <a:t>数据集：</a:t>
            </a:r>
            <a:endParaRPr lang="en-US" altLang="zh-CN" sz="2400" b="1" dirty="0">
              <a:solidFill>
                <a:srgbClr val="0F1728"/>
              </a:solidFill>
              <a:highlight>
                <a:srgbClr val="FFFFFF"/>
              </a:highlight>
              <a:latin typeface="微软雅黑" panose="020B0503020204020204" pitchFamily="34" charset="-122"/>
              <a:cs typeface="微软雅黑" panose="020B0503020204020204" pitchFamily="34" charset="-122"/>
            </a:endParaRPr>
          </a:p>
          <a:p>
            <a:pPr>
              <a:lnSpc>
                <a:spcPct val="150000"/>
              </a:lnSpc>
            </a:pPr>
            <a:r>
              <a:rPr lang="en-US" altLang="zh-CN" dirty="0">
                <a:effectLst/>
                <a:latin typeface="微软雅黑" panose="020B0503020204020204" pitchFamily="34" charset="-122"/>
                <a:cs typeface="微软雅黑" panose="020B0503020204020204" pitchFamily="34" charset="-122"/>
              </a:rPr>
              <a:t>	</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为了构建具有代表性的评估数据集，我们从开源社区中广泛采用的主要供应商中选择</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LLM</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。我们的数据集包含来自五个著名家族的八个基础模型：</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Meta </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的</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Llama3.1-8B</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和</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Llama3.2-1B</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和</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Llama3.2-3B</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、阿里巴巴的</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Qwen2.53B-Instruct </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和</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Qwen2.5-7B-Instruct</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Microsoft </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的</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Phi4</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、谷歌的</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Gemma3-4B-it </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和</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Mistral AI </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的</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Mistral7B-v0.1</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。对于每个基础模型，我们收集了</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6-7 </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个经过不同修改程序的变体，包括</a:t>
            </a:r>
            <a:r>
              <a:rPr lang="en-US" altLang="zh-CN" b="1" i="0" dirty="0">
                <a:solidFill>
                  <a:srgbClr val="0F1728"/>
                </a:solidFill>
                <a:effectLst/>
                <a:highlight>
                  <a:srgbClr val="FFFFFF"/>
                </a:highlight>
                <a:latin typeface="微软雅黑" panose="020B0503020204020204" pitchFamily="34" charset="-122"/>
                <a:cs typeface="微软雅黑" panose="020B0503020204020204" pitchFamily="34" charset="-122"/>
              </a:rPr>
              <a:t> LoRA </a:t>
            </a:r>
            <a:r>
              <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rPr>
              <a:t>微调、适配器调优和全参数微调。</a:t>
            </a:r>
            <a:endParaRPr lang="zh-CN" altLang="en-US" b="1" i="0" dirty="0">
              <a:solidFill>
                <a:srgbClr val="0F1728"/>
              </a:solidFill>
              <a:effectLst/>
              <a:highlight>
                <a:srgbClr val="FFFFFF"/>
              </a:highlight>
              <a:latin typeface="微软雅黑" panose="020B0503020204020204" pitchFamily="34" charset="-122"/>
              <a:cs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实验结果</a:t>
            </a:r>
            <a:endParaRPr lang="zh-CN" altLang="en-US" sz="2000" dirty="0">
              <a:latin typeface="+mj-ea"/>
              <a:ea typeface="+mj-ea"/>
            </a:endParaRPr>
          </a:p>
        </p:txBody>
      </p:sp>
      <p:sp>
        <p:nvSpPr>
          <p:cNvPr id="8" name="文本框 7"/>
          <p:cNvSpPr txBox="1"/>
          <p:nvPr/>
        </p:nvSpPr>
        <p:spPr>
          <a:xfrm>
            <a:off x="959204" y="1943100"/>
            <a:ext cx="9985021" cy="368300"/>
          </a:xfrm>
          <a:prstGeom prst="rect">
            <a:avLst/>
          </a:prstGeom>
          <a:noFill/>
        </p:spPr>
        <p:txBody>
          <a:bodyPr wrap="square" rtlCol="0">
            <a:spAutoFit/>
          </a:bodyPr>
          <a:lstStyle/>
          <a:p>
            <a:r>
              <a:rPr lang="en-US" altLang="zh-CN" sz="1800" b="1" dirty="0">
                <a:effectLst/>
                <a:latin typeface="+mn-ea"/>
                <a:ea typeface="+mn-ea"/>
              </a:rPr>
              <a:t>RQ1</a:t>
            </a:r>
            <a:r>
              <a:rPr lang="zh-CN" altLang="en-US" sz="1800" b="1" dirty="0">
                <a:effectLst/>
                <a:latin typeface="+mn-ea"/>
                <a:ea typeface="+mn-ea"/>
              </a:rPr>
              <a:t>：</a:t>
            </a:r>
            <a:r>
              <a:rPr lang="zh-CN" altLang="en-US" sz="1800" dirty="0">
                <a:effectLst/>
                <a:latin typeface="+mn-ea"/>
                <a:ea typeface="+mn-ea"/>
                <a:sym typeface="+mn-ea"/>
              </a:rPr>
              <a:t>与现有方法相比，</a:t>
            </a:r>
            <a:r>
              <a:rPr lang="en-US" altLang="zh-CN" sz="1800" dirty="0">
                <a:effectLst/>
                <a:latin typeface="+mn-ea"/>
                <a:ea typeface="+mn-ea"/>
                <a:sym typeface="+mn-ea"/>
              </a:rPr>
              <a:t>TENSORGUARD </a:t>
            </a:r>
            <a:r>
              <a:rPr lang="zh-CN" altLang="en-US" sz="1800" dirty="0">
                <a:effectLst/>
                <a:latin typeface="+mn-ea"/>
                <a:ea typeface="+mn-ea"/>
                <a:sym typeface="+mn-ea"/>
              </a:rPr>
              <a:t>的性能如何？</a:t>
            </a:r>
            <a:endParaRPr lang="en-US" altLang="zh-CN" sz="1800" dirty="0">
              <a:effectLst/>
              <a:latin typeface="+mn-ea"/>
              <a:ea typeface="+mn-ea"/>
            </a:endParaRPr>
          </a:p>
        </p:txBody>
      </p:sp>
      <p:pic>
        <p:nvPicPr>
          <p:cNvPr id="3" name="图片 2"/>
          <p:cNvPicPr>
            <a:picLocks noChangeAspect="1"/>
          </p:cNvPicPr>
          <p:nvPr/>
        </p:nvPicPr>
        <p:blipFill>
          <a:blip r:embed="rId2"/>
          <a:stretch>
            <a:fillRect/>
          </a:stretch>
        </p:blipFill>
        <p:spPr>
          <a:xfrm>
            <a:off x="0" y="3169285"/>
            <a:ext cx="6750050" cy="2470150"/>
          </a:xfrm>
          <a:prstGeom prst="rect">
            <a:avLst/>
          </a:prstGeom>
        </p:spPr>
      </p:pic>
      <p:pic>
        <p:nvPicPr>
          <p:cNvPr id="4" name="图片 3"/>
          <p:cNvPicPr>
            <a:picLocks noChangeAspect="1"/>
          </p:cNvPicPr>
          <p:nvPr/>
        </p:nvPicPr>
        <p:blipFill>
          <a:blip r:embed="rId3"/>
          <a:stretch>
            <a:fillRect/>
          </a:stretch>
        </p:blipFill>
        <p:spPr>
          <a:xfrm>
            <a:off x="6750685" y="1975485"/>
            <a:ext cx="5441315" cy="48825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实验结果</a:t>
            </a:r>
            <a:endParaRPr lang="zh-CN" altLang="en-US" sz="2000" dirty="0">
              <a:latin typeface="+mj-ea"/>
              <a:ea typeface="+mj-ea"/>
            </a:endParaRPr>
          </a:p>
        </p:txBody>
      </p:sp>
      <p:sp>
        <p:nvSpPr>
          <p:cNvPr id="8" name="文本框 7"/>
          <p:cNvSpPr txBox="1"/>
          <p:nvPr/>
        </p:nvSpPr>
        <p:spPr>
          <a:xfrm>
            <a:off x="960792" y="1766563"/>
            <a:ext cx="9985021" cy="368300"/>
          </a:xfrm>
          <a:prstGeom prst="rect">
            <a:avLst/>
          </a:prstGeom>
          <a:noFill/>
        </p:spPr>
        <p:txBody>
          <a:bodyPr wrap="square" rtlCol="0">
            <a:spAutoFit/>
          </a:bodyPr>
          <a:lstStyle/>
          <a:p>
            <a:r>
              <a:rPr lang="en-US" altLang="zh-CN" sz="1800" b="1" dirty="0">
                <a:effectLst/>
                <a:latin typeface="+mn-ea"/>
                <a:ea typeface="+mn-ea"/>
              </a:rPr>
              <a:t>RQ2</a:t>
            </a:r>
            <a:r>
              <a:rPr lang="zh-CN" altLang="en-US" sz="1800" b="1" dirty="0">
                <a:effectLst/>
                <a:latin typeface="+mn-ea"/>
                <a:ea typeface="+mn-ea"/>
              </a:rPr>
              <a:t>：</a:t>
            </a:r>
            <a:r>
              <a:rPr lang="zh-CN" altLang="en-US" sz="1800" dirty="0">
                <a:effectLst/>
                <a:latin typeface="+mn-ea"/>
                <a:ea typeface="+mn-ea"/>
                <a:sym typeface="+mn-ea"/>
              </a:rPr>
              <a:t>随机扰动策略是否提供卓越的梯度判别性？</a:t>
            </a:r>
            <a:endParaRPr lang="en-US" altLang="zh-CN" sz="1800" dirty="0">
              <a:effectLst/>
              <a:latin typeface="+mn-ea"/>
              <a:ea typeface="+mn-ea"/>
            </a:endParaRPr>
          </a:p>
        </p:txBody>
      </p:sp>
      <p:pic>
        <p:nvPicPr>
          <p:cNvPr id="3" name="图片 2"/>
          <p:cNvPicPr>
            <a:picLocks noChangeAspect="1"/>
          </p:cNvPicPr>
          <p:nvPr/>
        </p:nvPicPr>
        <p:blipFill>
          <a:blip r:embed="rId2"/>
          <a:stretch>
            <a:fillRect/>
          </a:stretch>
        </p:blipFill>
        <p:spPr>
          <a:xfrm>
            <a:off x="1750695" y="2053590"/>
            <a:ext cx="8405495" cy="48037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1"/>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实验结果</a:t>
            </a:r>
            <a:endParaRPr lang="zh-CN" altLang="en-US" sz="2000" dirty="0">
              <a:latin typeface="+mj-ea"/>
              <a:ea typeface="+mj-ea"/>
            </a:endParaRPr>
          </a:p>
        </p:txBody>
      </p:sp>
      <p:sp>
        <p:nvSpPr>
          <p:cNvPr id="8" name="文本框 7"/>
          <p:cNvSpPr txBox="1"/>
          <p:nvPr/>
        </p:nvSpPr>
        <p:spPr>
          <a:xfrm>
            <a:off x="959204" y="1943100"/>
            <a:ext cx="9985021" cy="368300"/>
          </a:xfrm>
          <a:prstGeom prst="rect">
            <a:avLst/>
          </a:prstGeom>
          <a:noFill/>
        </p:spPr>
        <p:txBody>
          <a:bodyPr wrap="square" rtlCol="0">
            <a:spAutoFit/>
          </a:bodyPr>
          <a:lstStyle/>
          <a:p>
            <a:r>
              <a:rPr lang="en-US" altLang="zh-CN" sz="1800" b="1" dirty="0">
                <a:effectLst/>
                <a:latin typeface="+mn-ea"/>
                <a:ea typeface="+mn-ea"/>
              </a:rPr>
              <a:t>RQ3</a:t>
            </a:r>
            <a:r>
              <a:rPr lang="zh-CN" altLang="en-US" sz="1800" b="1" dirty="0">
                <a:effectLst/>
                <a:latin typeface="+mn-ea"/>
                <a:ea typeface="+mn-ea"/>
              </a:rPr>
              <a:t>：</a:t>
            </a:r>
            <a:r>
              <a:rPr lang="zh-CN" altLang="en-US" sz="1800" dirty="0">
                <a:effectLst/>
                <a:latin typeface="+mn-ea"/>
                <a:ea typeface="+mn-ea"/>
                <a:sym typeface="+mn-ea"/>
              </a:rPr>
              <a:t>不同的聚类策略对</a:t>
            </a:r>
            <a:r>
              <a:rPr lang="en-US" altLang="zh-CN" sz="1800" dirty="0">
                <a:effectLst/>
                <a:latin typeface="+mn-ea"/>
                <a:ea typeface="+mn-ea"/>
                <a:sym typeface="+mn-ea"/>
              </a:rPr>
              <a:t>LLM</a:t>
            </a:r>
            <a:r>
              <a:rPr lang="zh-CN" altLang="en-US" sz="1800" dirty="0">
                <a:effectLst/>
                <a:latin typeface="+mn-ea"/>
                <a:ea typeface="+mn-ea"/>
                <a:sym typeface="+mn-ea"/>
              </a:rPr>
              <a:t>相似性检测精度有何影响？</a:t>
            </a:r>
            <a:endParaRPr lang="en-US" altLang="zh-CN" sz="1800" dirty="0">
              <a:effectLst/>
              <a:latin typeface="+mn-ea"/>
              <a:ea typeface="+mn-ea"/>
            </a:endParaRPr>
          </a:p>
        </p:txBody>
      </p:sp>
      <p:pic>
        <p:nvPicPr>
          <p:cNvPr id="3" name="图片 2"/>
          <p:cNvPicPr>
            <a:picLocks noChangeAspect="1"/>
          </p:cNvPicPr>
          <p:nvPr/>
        </p:nvPicPr>
        <p:blipFill>
          <a:blip r:embed="rId2"/>
          <a:stretch>
            <a:fillRect/>
          </a:stretch>
        </p:blipFill>
        <p:spPr>
          <a:xfrm>
            <a:off x="1052195" y="2311400"/>
            <a:ext cx="9469120" cy="4545965"/>
          </a:xfrm>
          <a:prstGeom prst="rect">
            <a:avLst/>
          </a:prstGeom>
        </p:spPr>
      </p:pic>
      <p:pic>
        <p:nvPicPr>
          <p:cNvPr id="4" name="图片 3"/>
          <p:cNvPicPr>
            <a:picLocks noChangeAspect="1"/>
          </p:cNvPicPr>
          <p:nvPr/>
        </p:nvPicPr>
        <p:blipFill>
          <a:blip r:embed="rId3"/>
          <a:stretch>
            <a:fillRect/>
          </a:stretch>
        </p:blipFill>
        <p:spPr>
          <a:xfrm>
            <a:off x="6788150" y="292100"/>
            <a:ext cx="4730750" cy="1651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445135" y="358775"/>
            <a:ext cx="4924425" cy="1061085"/>
          </a:xfrm>
          <a:prstGeom prst="rect">
            <a:avLst/>
          </a:prstGeom>
        </p:spPr>
      </p:pic>
      <p:pic>
        <p:nvPicPr>
          <p:cNvPr id="5" name="图片 4"/>
          <p:cNvPicPr>
            <a:picLocks noChangeAspect="1"/>
          </p:cNvPicPr>
          <p:nvPr/>
        </p:nvPicPr>
        <p:blipFill>
          <a:blip r:embed="rId2"/>
          <a:stretch>
            <a:fillRect/>
          </a:stretch>
        </p:blipFill>
        <p:spPr>
          <a:xfrm>
            <a:off x="1659890" y="1419860"/>
            <a:ext cx="2494280" cy="2423795"/>
          </a:xfrm>
          <a:prstGeom prst="rect">
            <a:avLst/>
          </a:prstGeom>
        </p:spPr>
      </p:pic>
      <p:pic>
        <p:nvPicPr>
          <p:cNvPr id="6" name="图片 5"/>
          <p:cNvPicPr>
            <a:picLocks noChangeAspect="1"/>
          </p:cNvPicPr>
          <p:nvPr/>
        </p:nvPicPr>
        <p:blipFill>
          <a:blip r:embed="rId3"/>
          <a:stretch>
            <a:fillRect/>
          </a:stretch>
        </p:blipFill>
        <p:spPr>
          <a:xfrm>
            <a:off x="445135" y="3843655"/>
            <a:ext cx="4945380" cy="2150745"/>
          </a:xfrm>
          <a:prstGeom prst="rect">
            <a:avLst/>
          </a:prstGeom>
        </p:spPr>
      </p:pic>
      <p:pic>
        <p:nvPicPr>
          <p:cNvPr id="7" name="图片 6"/>
          <p:cNvPicPr>
            <a:picLocks noChangeAspect="1"/>
          </p:cNvPicPr>
          <p:nvPr/>
        </p:nvPicPr>
        <p:blipFill>
          <a:blip r:embed="rId4"/>
          <a:stretch>
            <a:fillRect/>
          </a:stretch>
        </p:blipFill>
        <p:spPr>
          <a:xfrm>
            <a:off x="1390015" y="5994400"/>
            <a:ext cx="2875280" cy="857885"/>
          </a:xfrm>
          <a:prstGeom prst="rect">
            <a:avLst/>
          </a:prstGeom>
        </p:spPr>
      </p:pic>
    </p:spTree>
  </p:cSld>
  <p:clrMapOvr>
    <a:masterClrMapping/>
  </p:clrMapOvr>
</p:sld>
</file>

<file path=ppt/tags/tag1.xml><?xml version="1.0" encoding="utf-8"?>
<p:tagLst xmlns:p="http://schemas.openxmlformats.org/presentationml/2006/main">
  <p:tag name="KSO_WPP_MARK_KEY" val="288b28c3-2d40-4800-8a34-438d5a85827e"/>
  <p:tag name="COMMONDATA" val="eyJoZGlkIjoiOWUwOWY1OThjOTBmY2I1M2U5OGEyOWE4OWU3MTI0MDIifQ=="/>
</p:tagLst>
</file>

<file path=ppt/theme/theme1.xml><?xml version="1.0" encoding="utf-8"?>
<a:theme xmlns:a="http://schemas.openxmlformats.org/drawingml/2006/main" name="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邹龙强_232050357_组会论文1ppt</Template>
  <TotalTime>0</TotalTime>
  <Words>2010</Words>
  <Application>WPS 演示</Application>
  <PresentationFormat>宽屏</PresentationFormat>
  <Paragraphs>137</Paragraphs>
  <Slides>17</Slides>
  <Notes>22</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16</vt:i4>
      </vt:variant>
      <vt:variant>
        <vt:lpstr>幻灯片标题</vt:lpstr>
      </vt:variant>
      <vt:variant>
        <vt:i4>17</vt:i4>
      </vt:variant>
    </vt:vector>
  </HeadingPairs>
  <TitlesOfParts>
    <vt:vector size="48" baseType="lpstr">
      <vt:lpstr>Arial</vt:lpstr>
      <vt:lpstr>宋体</vt:lpstr>
      <vt:lpstr>Wingdings</vt:lpstr>
      <vt:lpstr>微软雅黑</vt:lpstr>
      <vt:lpstr>Arial</vt:lpstr>
      <vt:lpstr>Calibri</vt:lpstr>
      <vt:lpstr>-apple-system</vt:lpstr>
      <vt:lpstr>Segoe Print</vt:lpstr>
      <vt:lpstr>Arial Unicode MS</vt:lpstr>
      <vt:lpstr>等线</vt:lpstr>
      <vt:lpstr>Be Happy</vt:lpstr>
      <vt:lpstr>Times New Roman</vt:lpstr>
      <vt:lpstr>Cambria Math</vt:lpstr>
      <vt:lpstr>Office 主题</vt:lpstr>
      <vt:lpstr>1_Office 主题</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龙强 邹</dc:creator>
  <cp:lastModifiedBy>潘显聪</cp:lastModifiedBy>
  <cp:revision>23</cp:revision>
  <dcterms:created xsi:type="dcterms:W3CDTF">2025-04-01T11:41:00Z</dcterms:created>
  <dcterms:modified xsi:type="dcterms:W3CDTF">2026-01-22T06:34:55Z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7BAD5731316B4035BF2F338FD8F1DE70_13</vt:lpwstr>
  </property>
</Properties>
</file>