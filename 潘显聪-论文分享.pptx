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webp" ContentType="image/webp"/>
  <Override PartName="/ppt/media/image12.webp" ContentType="image/webp"/>
  <Override PartName="/ppt/media/image14.webp" ContentType="image/webp"/>
  <Override PartName="/ppt/media/image15.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590" r:id="rId6"/>
    <p:sldId id="661" r:id="rId7"/>
    <p:sldId id="662" r:id="rId8"/>
    <p:sldId id="671" r:id="rId9"/>
    <p:sldId id="651" r:id="rId10"/>
    <p:sldId id="670" r:id="rId11"/>
    <p:sldId id="663" r:id="rId12"/>
    <p:sldId id="664" r:id="rId13"/>
    <p:sldId id="672" r:id="rId14"/>
    <p:sldId id="673" r:id="rId15"/>
    <p:sldId id="674" r:id="rId16"/>
    <p:sldId id="675" r:id="rId17"/>
    <p:sldId id="676" r:id="rId18"/>
    <p:sldId id="621" r:id="rId19"/>
    <p:sldId id="665" r:id="rId20"/>
    <p:sldId id="622" r:id="rId21"/>
    <p:sldId id="669" r:id="rId22"/>
    <p:sldId id="658" r:id="rId23"/>
    <p:sldId id="667" r:id="rId24"/>
    <p:sldId id="624" r:id="rId25"/>
    <p:sldId id="488" r:id="rId26"/>
  </p:sldIdLst>
  <p:sldSz cx="12192000" cy="6858000"/>
  <p:notesSz cx="6858000" cy="9144000"/>
  <p:custDataLst>
    <p:tags r:id="rId3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B1CD"/>
    <a:srgbClr val="5E80B0"/>
    <a:srgbClr val="4B64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2" autoAdjust="0"/>
    <p:restoredTop sz="70028" autoAdjust="0"/>
  </p:normalViewPr>
  <p:slideViewPr>
    <p:cSldViewPr snapToGrid="0">
      <p:cViewPr varScale="1">
        <p:scale>
          <a:sx n="69" d="100"/>
          <a:sy n="69" d="100"/>
        </p:scale>
        <p:origin x="700" y="44"/>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D0F8ECEB-50C7-416D-85EF-F5F0A518624A}"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19DB41B2-D34F-4BDF-B05A-F471250DBA14}"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智能合约，是一段写在区块链上的代码，一旦某个事件触发合约中的条款，代码即自动执行。也就是说，满足条件就执行，不需要人为操控。</a:t>
            </a:r>
            <a:r>
              <a:rPr lang="zh-CN" altLang="en-US" dirty="0">
                <a:effectLst/>
              </a:rPr>
              <a:t>智能合约被编译成字节码后，将被部署到区块链上，并根据预定义的程序逻辑执行。部署后，智能合约无法修改。智能合约可以提供方法供其他方调用，并发出事件通知其他应用程序。</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r>
              <a:rPr lang="zh-CN" altLang="en-US" b="0" i="0" dirty="0">
                <a:solidFill>
                  <a:srgbClr val="000000"/>
                </a:solidFill>
                <a:effectLst/>
                <a:latin typeface="微软雅黑" panose="020B0503020204020204" pitchFamily="34" charset="-122"/>
                <a:ea typeface="微软雅黑" panose="020B0503020204020204" pitchFamily="34" charset="-122"/>
              </a:rPr>
              <a:t>在可计算性理论里，如果一系列操作数据的规则（如指令集、编程语言、细胞自动机）按照一定的顺序可以计算出结果，被称为图灵完备。</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endParaRPr lang="en-US" altLang="zh-CN" b="0" i="0" dirty="0">
              <a:solidFill>
                <a:srgbClr val="000000"/>
              </a:solidFill>
              <a:effectLst/>
              <a:latin typeface="微软雅黑" panose="020B0503020204020204" pitchFamily="34" charset="-122"/>
              <a:ea typeface="微软雅黑" panose="020B0503020204020204" pitchFamily="34" charset="-122"/>
            </a:endParaRPr>
          </a:p>
          <a:p>
            <a:endParaRPr lang="en-US" altLang="zh-CN"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C1</a:t>
            </a:r>
            <a:r>
              <a:rPr lang="zh-CN" altLang="en-US" dirty="0">
                <a:effectLst/>
              </a:rPr>
              <a:t>：合约的数据结构成员众多，它们在以太坊虚拟机（</a:t>
            </a:r>
            <a:r>
              <a:rPr lang="en-US" altLang="zh-CN" dirty="0">
                <a:effectLst/>
              </a:rPr>
              <a:t>EVM</a:t>
            </a:r>
            <a:r>
              <a:rPr lang="zh-CN" altLang="en-US" dirty="0">
                <a:effectLst/>
              </a:rPr>
              <a:t>）中的索引方式不同，这不利于用户轻松识别某个元素为核心节点。因此，我们将智能合约提升为带有丰富合约属性的中间表示（</a:t>
            </a:r>
            <a:r>
              <a:rPr lang="en-US" altLang="zh-CN" dirty="0">
                <a:effectLst/>
              </a:rPr>
              <a:t>IR</a:t>
            </a:r>
            <a:r>
              <a:rPr lang="zh-CN" altLang="en-US" dirty="0">
                <a:effectLst/>
              </a:rPr>
              <a:t>）（</a:t>
            </a:r>
            <a:r>
              <a:rPr lang="en-US" altLang="zh-CN" dirty="0">
                <a:effectLst/>
              </a:rPr>
              <a:t>§4.2</a:t>
            </a:r>
            <a:r>
              <a:rPr lang="zh-CN" altLang="en-US" dirty="0">
                <a:effectLst/>
              </a:rPr>
              <a:t>），以便用户使用限制合约属性的正式规则来指定核心节点（</a:t>
            </a:r>
            <a:r>
              <a:rPr lang="en-US" altLang="zh-CN" dirty="0">
                <a:effectLst/>
              </a:rPr>
              <a:t>§4.3</a:t>
            </a:r>
            <a:r>
              <a:rPr lang="zh-CN" altLang="en-US" dirty="0">
                <a:effectLst/>
              </a:rPr>
              <a:t>）。</a:t>
            </a:r>
            <a:r>
              <a:rPr lang="en-US" altLang="zh-CN" dirty="0">
                <a:effectLst/>
              </a:rPr>
              <a:t>C2</a:t>
            </a:r>
            <a:r>
              <a:rPr lang="zh-CN" altLang="en-US" dirty="0">
                <a:effectLst/>
              </a:rPr>
              <a:t>：复杂的异构图需要精确的学习模型来减少与漏洞无关的良性节点的干扰。因此，我们设计了一个包含节点级别和路径级别两层注意力机制的图神经网络，以便更多地关注非良性节点（</a:t>
            </a:r>
            <a:r>
              <a:rPr lang="en-US" altLang="zh-CN" dirty="0">
                <a:effectLst/>
              </a:rPr>
              <a:t>§4.4</a:t>
            </a:r>
            <a:r>
              <a:rPr lang="zh-CN" altLang="en-US" dirty="0">
                <a:effectLst/>
              </a:rPr>
              <a:t>）。</a:t>
            </a:r>
            <a:endParaRPr lang="zh-CN" altLang="en-US" dirty="0"/>
          </a:p>
          <a:p>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用户可以通过调用含有漏洞的</a:t>
            </a:r>
            <a:r>
              <a:rPr lang="en-US" altLang="zh-CN" dirty="0"/>
              <a:t>withdraw()</a:t>
            </a:r>
            <a:r>
              <a:rPr lang="zh-CN" altLang="en-US" dirty="0"/>
              <a:t>函数来提取以太币。攻击者合约可以利用此漏洞从受害者合约中窃取资金。首先，攻击者调用受害者合约的</a:t>
            </a:r>
            <a:r>
              <a:rPr lang="en-US" altLang="zh-CN" dirty="0"/>
              <a:t>withdraw()</a:t>
            </a:r>
            <a:r>
              <a:rPr lang="zh-CN" altLang="en-US" dirty="0"/>
              <a:t>函数以提取以太币（步骤</a:t>
            </a:r>
            <a:r>
              <a:rPr lang="en-US" altLang="zh-CN" dirty="0"/>
              <a:t>1</a:t>
            </a:r>
            <a:r>
              <a:rPr lang="zh-CN" altLang="en-US" dirty="0"/>
              <a:t>）。受害者合约使用</a:t>
            </a:r>
            <a:r>
              <a:rPr lang="en-US" altLang="zh-CN" dirty="0" err="1"/>
              <a:t>call.value</a:t>
            </a:r>
            <a:r>
              <a:rPr lang="en-US" altLang="zh-CN" dirty="0"/>
              <a:t>()</a:t>
            </a:r>
            <a:r>
              <a:rPr lang="zh-CN" altLang="en-US" dirty="0"/>
              <a:t>向攻击者发送以太币（步骤</a:t>
            </a:r>
            <a:r>
              <a:rPr lang="en-US" altLang="zh-CN" dirty="0"/>
              <a:t>2</a:t>
            </a:r>
            <a:r>
              <a:rPr lang="zh-CN" altLang="en-US" dirty="0"/>
              <a:t>）。与预期不同，</a:t>
            </a:r>
            <a:r>
              <a:rPr lang="en-US" altLang="zh-CN" dirty="0" err="1"/>
              <a:t>call.value</a:t>
            </a:r>
            <a:r>
              <a:rPr lang="en-US" altLang="zh-CN" dirty="0"/>
              <a:t>()</a:t>
            </a:r>
            <a:r>
              <a:rPr lang="zh-CN" altLang="en-US" dirty="0"/>
              <a:t>触发了攻击者合约的回退函数（步骤</a:t>
            </a:r>
            <a:r>
              <a:rPr lang="en-US" altLang="zh-CN" dirty="0"/>
              <a:t>3</a:t>
            </a:r>
            <a:r>
              <a:rPr lang="zh-CN" altLang="en-US" dirty="0"/>
              <a:t>）。在此回退函数中，攻击者再次调用</a:t>
            </a:r>
            <a:r>
              <a:rPr lang="en-US" altLang="zh-CN" dirty="0"/>
              <a:t>withdraw()</a:t>
            </a:r>
            <a:r>
              <a:rPr lang="zh-CN" altLang="en-US" dirty="0"/>
              <a:t>函数（步骤</a:t>
            </a:r>
            <a:r>
              <a:rPr lang="en-US" altLang="zh-CN" dirty="0"/>
              <a:t>4</a:t>
            </a:r>
            <a:r>
              <a:rPr lang="zh-CN" altLang="en-US" dirty="0"/>
              <a:t>）。这个过程将持续循环，直到受害者合约中的以太币耗尽。</a:t>
            </a:r>
            <a:endParaRPr lang="en-US" altLang="zh-CN" dirty="0"/>
          </a:p>
          <a:p>
            <a:endParaRPr lang="zh-CN" altLang="en-US" dirty="0"/>
          </a:p>
          <a:p>
            <a:r>
              <a:rPr lang="zh-CN" altLang="en-US" dirty="0"/>
              <a:t>图</a:t>
            </a:r>
            <a:r>
              <a:rPr lang="en-US" altLang="zh-CN" dirty="0"/>
              <a:t>2</a:t>
            </a:r>
            <a:r>
              <a:rPr lang="zh-CN" altLang="en-US" dirty="0"/>
              <a:t>显示了一个时间戳依赖性漏洞。该合约使用回退方法（第</a:t>
            </a:r>
            <a:r>
              <a:rPr lang="en-US" altLang="zh-CN" dirty="0"/>
              <a:t>3</a:t>
            </a:r>
            <a:r>
              <a:rPr lang="zh-CN" altLang="en-US" dirty="0"/>
              <a:t>行）创建了一个彩票游戏，每个区块允许一名玩家下注</a:t>
            </a:r>
            <a:r>
              <a:rPr lang="en-US" altLang="zh-CN" dirty="0"/>
              <a:t>1</a:t>
            </a:r>
            <a:r>
              <a:rPr lang="zh-CN" altLang="en-US" dirty="0"/>
              <a:t>个以太币参与。根据第</a:t>
            </a:r>
            <a:r>
              <a:rPr lang="en-US" altLang="zh-CN" dirty="0"/>
              <a:t>7</a:t>
            </a:r>
            <a:r>
              <a:rPr lang="zh-CN" altLang="en-US" dirty="0"/>
              <a:t>行的逻辑，玩家有</a:t>
            </a:r>
            <a:r>
              <a:rPr lang="en-US" altLang="zh-CN" dirty="0"/>
              <a:t>1/15</a:t>
            </a:r>
            <a:r>
              <a:rPr lang="zh-CN" altLang="en-US" dirty="0"/>
              <a:t>的机会赢得彩票。然而，挖矿者可以自由地在</a:t>
            </a:r>
            <a:r>
              <a:rPr lang="en-US" altLang="zh-CN" dirty="0"/>
              <a:t>900</a:t>
            </a:r>
            <a:r>
              <a:rPr lang="zh-CN" altLang="en-US" dirty="0"/>
              <a:t>秒的时间间隔内设置时间戳。因此，如果合约中有足够的以太币，挖矿者就有动机选择一个区块，其区块时间戳</a:t>
            </a:r>
            <a:r>
              <a:rPr lang="en-US" altLang="zh-CN" dirty="0"/>
              <a:t>%15=0</a:t>
            </a:r>
            <a:r>
              <a:rPr lang="zh-CN" altLang="en-US" dirty="0"/>
              <a:t>，以赢得锁定以太币的奖励。</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在图</a:t>
            </a:r>
            <a:r>
              <a:rPr lang="en-US" altLang="zh-CN" dirty="0">
                <a:effectLst/>
              </a:rPr>
              <a:t>4</a:t>
            </a:r>
            <a:r>
              <a:rPr lang="zh-CN" altLang="en-US" dirty="0">
                <a:effectLst/>
              </a:rPr>
              <a:t>中，攻击者合约可以通过利用攻击函数（第</a:t>
            </a:r>
            <a:r>
              <a:rPr lang="en-US" altLang="zh-CN" dirty="0">
                <a:effectLst/>
              </a:rPr>
              <a:t>7</a:t>
            </a:r>
            <a:r>
              <a:rPr lang="zh-CN" altLang="en-US" dirty="0">
                <a:effectLst/>
              </a:rPr>
              <a:t>行）使权限检查失败。通过使用这种方法，任何人都可以执行发送货币函数（第</a:t>
            </a:r>
            <a:r>
              <a:rPr lang="en-US" altLang="zh-CN" dirty="0">
                <a:effectLst/>
              </a:rPr>
              <a:t>3</a:t>
            </a:r>
            <a:r>
              <a:rPr lang="zh-CN" altLang="en-US" dirty="0">
                <a:effectLst/>
              </a:rPr>
              <a:t>行），并提取合约中的以太币。</a:t>
            </a:r>
            <a:endParaRPr lang="en-US" altLang="zh-CN" dirty="0"/>
          </a:p>
          <a:p>
            <a:endParaRPr lang="zh-CN" altLang="en-US" dirty="0"/>
          </a:p>
          <a:p>
            <a:r>
              <a:rPr lang="zh-CN" altLang="en-US" dirty="0"/>
              <a:t>在图</a:t>
            </a:r>
            <a:r>
              <a:rPr lang="en-US" altLang="zh-CN" dirty="0"/>
              <a:t>3</a:t>
            </a:r>
            <a:r>
              <a:rPr lang="zh-CN" altLang="en-US" dirty="0"/>
              <a:t>中，攻击者可以通过增加成员的长度恶意增加循环迭代的次数，从而导致因</a:t>
            </a:r>
            <a:r>
              <a:rPr lang="en-US" altLang="zh-CN" dirty="0"/>
              <a:t>gas</a:t>
            </a:r>
            <a:r>
              <a:rPr lang="zh-CN" altLang="en-US" dirty="0"/>
              <a:t>耗尽而出现的错误。一旦发生</a:t>
            </a:r>
            <a:r>
              <a:rPr lang="en-US" altLang="zh-CN" dirty="0"/>
              <a:t>gas</a:t>
            </a:r>
            <a:r>
              <a:rPr lang="zh-CN" altLang="en-US" dirty="0"/>
              <a:t>耗尽错误，这个函数就无法再工作，因为没有办法减少循环迭代。</a:t>
            </a:r>
            <a:endParaRPr lang="zh-CN" altLang="en-US" dirty="0"/>
          </a:p>
          <a:p>
            <a:endParaRPr lang="zh-CN" altLang="en-US" dirty="0">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图片展示了 </a:t>
            </a:r>
            <a:r>
              <a:rPr lang="en-US" altLang="zh-CN" dirty="0" err="1">
                <a:effectLst/>
              </a:rPr>
              <a:t>SCVHunter</a:t>
            </a:r>
            <a:r>
              <a:rPr lang="en-US" altLang="zh-CN" dirty="0">
                <a:effectLst/>
              </a:rPr>
              <a:t> </a:t>
            </a:r>
            <a:r>
              <a:rPr lang="zh-CN" altLang="en-US" dirty="0">
                <a:effectLst/>
              </a:rPr>
              <a:t>的整体设计，它由三个主要模块组成：</a:t>
            </a:r>
            <a:r>
              <a:rPr lang="en-US" altLang="zh-CN" dirty="0">
                <a:effectLst/>
              </a:rPr>
              <a:t>IR </a:t>
            </a:r>
            <a:r>
              <a:rPr lang="zh-CN" altLang="en-US" dirty="0">
                <a:effectLst/>
              </a:rPr>
              <a:t>转换器、合约图生成器和漏洞检测器。</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IR </a:t>
            </a:r>
            <a:r>
              <a:rPr lang="zh-CN" altLang="en-US" dirty="0">
                <a:effectLst/>
              </a:rPr>
              <a:t>转换器将智能合约源代码转换为 </a:t>
            </a:r>
            <a:r>
              <a:rPr lang="en-US" altLang="zh-CN" dirty="0">
                <a:effectLst/>
              </a:rPr>
              <a:t>CGIR</a:t>
            </a:r>
            <a:r>
              <a:rPr lang="zh-CN" altLang="en-US" dirty="0">
                <a:effectLst/>
              </a:rPr>
              <a:t>，这是一种语义属性丰富的中间表示形式，适合我们的图构建方法。合约图生成器基于 </a:t>
            </a:r>
            <a:r>
              <a:rPr lang="en-US" altLang="zh-CN" dirty="0">
                <a:effectLst/>
              </a:rPr>
              <a:t>CGIR</a:t>
            </a:r>
            <a:r>
              <a:rPr lang="zh-CN" altLang="en-US" dirty="0">
                <a:effectLst/>
              </a:rPr>
              <a:t>，使用用户指定的核心节点选择规则构建智能合约异构图。最后，漏洞检测器处理图特征并输出最终的检测结果。</a:t>
            </a:r>
            <a:endParaRPr lang="zh-CN" altLang="en-US" dirty="0">
              <a:effectLst/>
            </a:endParaRPr>
          </a:p>
          <a:p>
            <a:endParaRPr lang="zh-CN" altLang="en-US" dirty="0">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Solidity</a:t>
            </a:r>
            <a:r>
              <a:rPr lang="zh-CN" altLang="en-US" dirty="0">
                <a:effectLst/>
              </a:rPr>
              <a:t>允许通过解引用来操作映射、数组和结构，因此以往的工作使用特定的变量类型来存储解引用的结果。不同于他们，我们的</a:t>
            </a:r>
            <a:r>
              <a:rPr lang="en-US" altLang="zh-CN" dirty="0">
                <a:effectLst/>
              </a:rPr>
              <a:t>CGIR</a:t>
            </a:r>
            <a:r>
              <a:rPr lang="zh-CN" altLang="en-US" dirty="0">
                <a:effectLst/>
              </a:rPr>
              <a:t>将这三种类型的数据提升为独立的整体，以便在构建</a:t>
            </a:r>
            <a:r>
              <a:rPr lang="en-US" altLang="zh-CN" dirty="0">
                <a:effectLst/>
              </a:rPr>
              <a:t>CSG</a:t>
            </a:r>
            <a:r>
              <a:rPr lang="zh-CN" altLang="en-US" dirty="0">
                <a:effectLst/>
              </a:rPr>
              <a:t>时可以将它们视为节点。</a:t>
            </a:r>
            <a:endParaRPr lang="zh-CN" altLang="en-US" dirty="0"/>
          </a:p>
          <a:p>
            <a:endParaRPr lang="en-US" altLang="zh-CN"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基本类型注释涵盖了六种基本类型（即地址、布尔值、字符串、整数、无符号整数、字节）以及</a:t>
            </a:r>
            <a:r>
              <a:rPr lang="en-US" altLang="zh-CN" dirty="0">
                <a:effectLst/>
              </a:rPr>
              <a:t>Solidity</a:t>
            </a:r>
            <a:r>
              <a:rPr lang="zh-CN" altLang="en-US" dirty="0">
                <a:effectLst/>
              </a:rPr>
              <a:t>目前完全支持的映射、结构和数组类型。具体来说，</a:t>
            </a:r>
            <a:r>
              <a:rPr lang="en-US" altLang="zh-CN" dirty="0">
                <a:effectLst/>
              </a:rPr>
              <a:t>Solidity </a:t>
            </a:r>
            <a:r>
              <a:rPr lang="zh-CN" altLang="en-US" dirty="0">
                <a:effectLst/>
              </a:rPr>
              <a:t>包含 </a:t>
            </a:r>
            <a:r>
              <a:rPr lang="en-US" altLang="zh-CN" dirty="0">
                <a:effectLst/>
              </a:rPr>
              <a:t>13 </a:t>
            </a:r>
            <a:r>
              <a:rPr lang="zh-CN" altLang="en-US" dirty="0">
                <a:effectLst/>
              </a:rPr>
              <a:t>个内置于全局命名空间的变量，用于描述区块和交易的属性，但其中一些变量可能会导致漏洞（例如 </a:t>
            </a:r>
            <a:r>
              <a:rPr lang="en-US" altLang="zh-CN" dirty="0" err="1">
                <a:effectLst/>
              </a:rPr>
              <a:t>block.timestamp</a:t>
            </a:r>
            <a:r>
              <a:rPr lang="zh-CN" altLang="en-US" dirty="0">
                <a:effectLst/>
              </a:rPr>
              <a:t>）。这些内置变量本质上是具有基本类型的变量，但为了更精确地将它们与普通变量区分开来，在我们的 </a:t>
            </a:r>
            <a:r>
              <a:rPr lang="en-US" altLang="zh-CN" dirty="0">
                <a:effectLst/>
              </a:rPr>
              <a:t>CGIR</a:t>
            </a:r>
            <a:r>
              <a:rPr lang="zh-CN" altLang="en-US" dirty="0">
                <a:effectLst/>
              </a:rPr>
              <a:t>（中间表示形式）中，直接使用它们的名称作为它们的类型。例如，</a:t>
            </a:r>
            <a:r>
              <a:rPr lang="en-US" altLang="zh-CN" dirty="0" err="1">
                <a:effectLst/>
              </a:rPr>
              <a:t>block.timestamp</a:t>
            </a:r>
            <a:r>
              <a:rPr lang="en-US" altLang="zh-CN" dirty="0">
                <a:effectLst/>
              </a:rPr>
              <a:t> </a:t>
            </a:r>
            <a:r>
              <a:rPr lang="zh-CN" altLang="en-US" dirty="0">
                <a:effectLst/>
              </a:rPr>
              <a:t>是一个表示当前区块时间戳的内置变量，其类型为 </a:t>
            </a:r>
            <a:r>
              <a:rPr lang="en-US" altLang="zh-CN" dirty="0" err="1">
                <a:effectLst/>
              </a:rPr>
              <a:t>uint</a:t>
            </a:r>
            <a:r>
              <a:rPr lang="zh-CN" altLang="en-US" dirty="0">
                <a:effectLst/>
              </a:rPr>
              <a:t>，但在 </a:t>
            </a:r>
            <a:r>
              <a:rPr lang="en-US" altLang="zh-CN" dirty="0">
                <a:effectLst/>
              </a:rPr>
              <a:t>CGIR </a:t>
            </a:r>
            <a:r>
              <a:rPr lang="zh-CN" altLang="en-US" dirty="0">
                <a:effectLst/>
              </a:rPr>
              <a:t>中，它的类型被标记为 </a:t>
            </a:r>
            <a:r>
              <a:rPr lang="en-US" altLang="zh-CN" dirty="0" err="1">
                <a:effectLst/>
              </a:rPr>
              <a:t>block.timestamp</a:t>
            </a:r>
            <a:r>
              <a:rPr lang="zh-CN" altLang="en-US" dirty="0">
                <a:effectLst/>
              </a:rPr>
              <a:t>。</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访问权限是从函数中包含的</a:t>
            </a:r>
            <a:r>
              <a:rPr lang="en-US" altLang="zh-CN" dirty="0">
                <a:effectLst/>
              </a:rPr>
              <a:t>require</a:t>
            </a:r>
            <a:r>
              <a:rPr lang="zh-CN" altLang="en-US" dirty="0">
                <a:effectLst/>
              </a:rPr>
              <a:t>语句和修饰符中提取的。修饰符是智能合约的可继承属性，用于改变函数的行为。在函数执行时，</a:t>
            </a:r>
            <a:r>
              <a:rPr lang="en-US" altLang="zh-CN" dirty="0">
                <a:effectLst/>
              </a:rPr>
              <a:t>require</a:t>
            </a:r>
            <a:r>
              <a:rPr lang="zh-CN" altLang="en-US" dirty="0">
                <a:effectLst/>
              </a:rPr>
              <a:t>和修饰符通常用于执行访问检查。例如，</a:t>
            </a:r>
            <a:r>
              <a:rPr lang="en-US" altLang="zh-CN" dirty="0">
                <a:effectLst/>
              </a:rPr>
              <a:t>require(</a:t>
            </a:r>
            <a:r>
              <a:rPr lang="en-US" altLang="zh-CN" dirty="0" err="1">
                <a:effectLst/>
              </a:rPr>
              <a:t>msg.sender</a:t>
            </a:r>
            <a:r>
              <a:rPr lang="en-US" altLang="zh-CN" dirty="0">
                <a:effectLst/>
              </a:rPr>
              <a:t>== owner)</a:t>
            </a:r>
            <a:r>
              <a:rPr lang="zh-CN" altLang="en-US" dirty="0">
                <a:effectLst/>
              </a:rPr>
              <a:t>可以检查调用者是否是合约的所有者。此外，对于函数调用，定义了八种调用类型（见</a:t>
            </a:r>
            <a:r>
              <a:rPr lang="en-US" altLang="zh-CN" dirty="0">
                <a:effectLst/>
              </a:rPr>
              <a:t>§4.2.2</a:t>
            </a:r>
            <a:r>
              <a:rPr lang="zh-CN" altLang="en-US" dirty="0">
                <a:effectLst/>
              </a:rPr>
              <a:t>），以更详细地表达调用信息。</a:t>
            </a:r>
            <a:endParaRPr lang="zh-CN" altLang="en-US" dirty="0"/>
          </a:p>
          <a:p>
            <a:endParaRPr lang="en-US" altLang="zh-CN"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fallback</a:t>
            </a:r>
            <a:r>
              <a:rPr lang="zh-CN" altLang="en-US" dirty="0">
                <a:effectLst/>
              </a:rPr>
              <a:t>函数是智能合约与常规程序相比的一个独特特性。它是一个无参数或返回值的任意可编程特殊函数。如果该函数被标记为可支付，那么在接收转账时，</a:t>
            </a:r>
            <a:r>
              <a:rPr lang="en-US" altLang="zh-CN" dirty="0">
                <a:effectLst/>
              </a:rPr>
              <a:t>fallback</a:t>
            </a:r>
            <a:r>
              <a:rPr lang="zh-CN" altLang="en-US" dirty="0">
                <a:effectLst/>
              </a:rPr>
              <a:t>也会自动执行。</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effectLst/>
            </a:endParaRPr>
          </a:p>
          <a:p>
            <a:r>
              <a:rPr lang="en-US" altLang="zh-CN" dirty="0">
                <a:effectLst/>
              </a:rPr>
              <a:t>fallback</a:t>
            </a:r>
            <a:r>
              <a:rPr lang="zh-CN" altLang="en-US" dirty="0">
                <a:effectLst/>
              </a:rPr>
              <a:t>机制是许多智能合约漏洞的原因，攻击合约可以通过</a:t>
            </a:r>
            <a:r>
              <a:rPr lang="en-US" altLang="zh-CN" dirty="0">
                <a:effectLst/>
              </a:rPr>
              <a:t>fallback</a:t>
            </a:r>
            <a:r>
              <a:rPr lang="zh-CN" altLang="en-US" dirty="0">
                <a:effectLst/>
              </a:rPr>
              <a:t>函数与受害合约进行交互以发起攻击。为了在检测单个合约的过程中检测这些漏洞，</a:t>
            </a:r>
            <a:r>
              <a:rPr lang="en-US" altLang="zh-CN" sz="1200" b="0" i="0" dirty="0">
                <a:solidFill>
                  <a:srgbClr val="333333"/>
                </a:solidFill>
                <a:effectLst/>
                <a:latin typeface="Georgia" panose="02040502050405020303" pitchFamily="18" charset="0"/>
              </a:rPr>
              <a:t>IR Translator</a:t>
            </a:r>
            <a:r>
              <a:rPr lang="zh-CN" altLang="en-US" dirty="0">
                <a:effectLst/>
              </a:rPr>
              <a:t>在将包含</a:t>
            </a:r>
            <a:r>
              <a:rPr lang="en-US" altLang="zh-CN" dirty="0" err="1">
                <a:effectLst/>
              </a:rPr>
              <a:t>call.value</a:t>
            </a:r>
            <a:r>
              <a:rPr lang="en-US" altLang="zh-CN" dirty="0">
                <a:effectLst/>
              </a:rPr>
              <a:t>()</a:t>
            </a:r>
            <a:r>
              <a:rPr lang="zh-CN" altLang="en-US" dirty="0">
                <a:effectLst/>
              </a:rPr>
              <a:t>的合约转换为</a:t>
            </a:r>
            <a:r>
              <a:rPr lang="en-US" altLang="zh-CN" dirty="0">
                <a:effectLst/>
              </a:rPr>
              <a:t>CGIR</a:t>
            </a:r>
            <a:r>
              <a:rPr lang="zh-CN" altLang="en-US" dirty="0">
                <a:effectLst/>
              </a:rPr>
              <a:t>时，</a:t>
            </a:r>
            <a:r>
              <a:rPr lang="zh-CN" altLang="en-US" b="0" i="0" dirty="0">
                <a:effectLst/>
                <a:latin typeface="-apple-system"/>
              </a:rPr>
              <a:t>构造了</a:t>
            </a:r>
            <a:r>
              <a:rPr lang="en-US" altLang="zh-CN" b="0" i="0" dirty="0" err="1">
                <a:effectLst/>
                <a:latin typeface="-apple-system"/>
              </a:rPr>
              <a:t>fallbackcall.value</a:t>
            </a:r>
            <a:r>
              <a:rPr lang="en-US" altLang="zh-CN" b="0" i="0" dirty="0">
                <a:effectLst/>
                <a:latin typeface="-apple-system"/>
              </a:rPr>
              <a:t>()</a:t>
            </a:r>
            <a:r>
              <a:rPr lang="zh-CN" altLang="en-US" b="0" i="0" dirty="0">
                <a:effectLst/>
                <a:latin typeface="-apple-system"/>
              </a:rPr>
              <a:t>到</a:t>
            </a:r>
            <a:r>
              <a:rPr lang="en-US" altLang="zh-CN" b="0" i="0" dirty="0">
                <a:effectLst/>
                <a:latin typeface="-apple-system"/>
              </a:rPr>
              <a:t>f</a:t>
            </a:r>
            <a:r>
              <a:rPr lang="zh-CN" altLang="en-US" b="0" i="0" dirty="0">
                <a:effectLst/>
                <a:latin typeface="-apple-system"/>
              </a:rPr>
              <a:t>，模拟前面的</a:t>
            </a:r>
            <a:r>
              <a:rPr lang="en-US" altLang="zh-CN" b="0" i="0" dirty="0" err="1">
                <a:effectLst/>
                <a:latin typeface="-apple-system"/>
              </a:rPr>
              <a:t>call.value</a:t>
            </a:r>
            <a:r>
              <a:rPr lang="en-US" altLang="zh-CN" b="0" i="0" dirty="0">
                <a:effectLst/>
                <a:latin typeface="-apple-system"/>
              </a:rPr>
              <a:t>()</a:t>
            </a:r>
            <a:r>
              <a:rPr lang="zh-CN" altLang="en-US" b="0" i="0" dirty="0">
                <a:effectLst/>
                <a:latin typeface="-apple-system"/>
              </a:rPr>
              <a:t>操作触发攻击合约的回退函数，进而激活后续在受害者合约中回调函数</a:t>
            </a:r>
            <a:r>
              <a:rPr lang="en-US" altLang="zh-CN" b="0" i="0" dirty="0">
                <a:effectLst/>
                <a:latin typeface="-apple-system"/>
              </a:rPr>
              <a:t>f</a:t>
            </a:r>
            <a:r>
              <a:rPr lang="zh-CN" altLang="en-US" b="0" i="0" dirty="0">
                <a:effectLst/>
                <a:latin typeface="-apple-system"/>
              </a:rPr>
              <a:t>的过程。</a:t>
            </a:r>
            <a:r>
              <a:rPr lang="zh-CN" altLang="en-US" dirty="0">
                <a:effectLst/>
              </a:rPr>
              <a:t>通过这种方式，后备函数在随后构建的异构图中得到了明确的表示。</a:t>
            </a:r>
            <a:endParaRPr lang="zh-CN" altLang="en-US" dirty="0"/>
          </a:p>
          <a:p>
            <a:endParaRPr lang="zh-CN" altLang="en-US" dirty="0">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buNone/>
            </a:pPr>
            <a:endParaRPr lang="zh-CN" altLang="en-US" dirty="0">
              <a:effectLs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buNone/>
            </a:pPr>
            <a:endParaRPr lang="zh-CN" altLang="en-US" dirty="0">
              <a:effectLs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在此公式中，</a:t>
            </a:r>
            <a:r>
              <a:rPr lang="en-US" altLang="zh-CN" dirty="0">
                <a:effectLst/>
              </a:rPr>
              <a:t>A </a:t>
            </a:r>
            <a:r>
              <a:rPr lang="zh-CN" altLang="en-US" dirty="0">
                <a:effectLst/>
              </a:rPr>
              <a:t>代表与漏洞相关的属性（例如，类型、声明）。</a:t>
            </a:r>
            <a:r>
              <a:rPr lang="en-US" altLang="zh-CN" b="1" i="0" dirty="0" err="1">
                <a:solidFill>
                  <a:srgbClr val="404040"/>
                </a:solidFill>
                <a:effectLst/>
                <a:latin typeface="DeepSeek-CJK-patch"/>
              </a:rPr>
              <a:t>nodeType</a:t>
            </a:r>
            <a:r>
              <a:rPr lang="zh-CN" altLang="en-US" b="1" i="0" dirty="0">
                <a:solidFill>
                  <a:srgbClr val="404040"/>
                </a:solidFill>
                <a:effectLst/>
                <a:latin typeface="DeepSeek-CJK-patch"/>
              </a:rPr>
              <a:t>规则</a:t>
            </a:r>
            <a:r>
              <a:rPr lang="zh-CN" altLang="en-US" b="0" i="0" dirty="0">
                <a:solidFill>
                  <a:srgbClr val="404040"/>
                </a:solidFill>
                <a:effectLst/>
                <a:latin typeface="DeepSeek-CJK-patch"/>
              </a:rPr>
              <a:t>（对应</a:t>
            </a:r>
            <a:r>
              <a:rPr lang="en-US" altLang="zh-CN" b="1" i="0" dirty="0" err="1">
                <a:solidFill>
                  <a:srgbClr val="404040"/>
                </a:solidFill>
                <a:effectLst/>
                <a:latin typeface="DeepSeek-CJK-patch"/>
              </a:rPr>
              <a:t>InvType</a:t>
            </a:r>
            <a:r>
              <a:rPr lang="zh-CN" altLang="en-US" b="1" i="0" dirty="0">
                <a:solidFill>
                  <a:srgbClr val="404040"/>
                </a:solidFill>
                <a:effectLst/>
                <a:latin typeface="DeepSeek-CJK-patch"/>
              </a:rPr>
              <a:t>规则</a:t>
            </a:r>
            <a:r>
              <a:rPr lang="zh-CN" altLang="en-US" b="0" i="0" dirty="0">
                <a:solidFill>
                  <a:srgbClr val="404040"/>
                </a:solidFill>
                <a:effectLst/>
                <a:latin typeface="DeepSeek-CJK-patch"/>
              </a:rPr>
              <a:t>）用于查询满足节点属性 </a:t>
            </a:r>
            <a:r>
              <a:rPr lang="en-US" altLang="zh-CN" b="0" i="0" dirty="0">
                <a:solidFill>
                  <a:srgbClr val="404040"/>
                </a:solidFill>
                <a:effectLst/>
                <a:latin typeface="KaTeX_Main"/>
              </a:rPr>
              <a:t>A</a:t>
            </a:r>
            <a:r>
              <a:rPr lang="zh-CN" altLang="en-US" b="0" i="0" dirty="0">
                <a:solidFill>
                  <a:srgbClr val="404040"/>
                </a:solidFill>
                <a:effectLst/>
                <a:latin typeface="DeepSeek-CJK-patch"/>
              </a:rPr>
              <a:t>的变量（对应函数调用）。</a:t>
            </a:r>
            <a:r>
              <a:rPr lang="en-US" altLang="zh-CN" b="1" i="0" dirty="0" err="1">
                <a:solidFill>
                  <a:srgbClr val="404040"/>
                </a:solidFill>
                <a:effectLst/>
                <a:latin typeface="DeepSeek-CJK-patch"/>
              </a:rPr>
              <a:t>varAssign</a:t>
            </a:r>
            <a:r>
              <a:rPr lang="zh-CN" altLang="en-US" b="1" i="0" dirty="0">
                <a:solidFill>
                  <a:srgbClr val="404040"/>
                </a:solidFill>
                <a:effectLst/>
                <a:latin typeface="DeepSeek-CJK-patch"/>
              </a:rPr>
              <a:t>规则</a:t>
            </a:r>
            <a:r>
              <a:rPr lang="zh-CN" altLang="en-US" b="0" i="0" dirty="0">
                <a:solidFill>
                  <a:srgbClr val="404040"/>
                </a:solidFill>
                <a:effectLst/>
                <a:latin typeface="DeepSeek-CJK-patch"/>
              </a:rPr>
              <a:t>用于查询由满足属性 </a:t>
            </a:r>
            <a:r>
              <a:rPr lang="en-US" altLang="zh-CN" b="0" i="0" dirty="0">
                <a:solidFill>
                  <a:srgbClr val="404040"/>
                </a:solidFill>
                <a:effectLst/>
                <a:latin typeface="KaTeX_Main"/>
              </a:rPr>
              <a:t>A</a:t>
            </a:r>
            <a:r>
              <a:rPr lang="zh-CN" altLang="en-US" b="0" i="0" dirty="0">
                <a:solidFill>
                  <a:srgbClr val="404040"/>
                </a:solidFill>
                <a:effectLst/>
                <a:latin typeface="DeepSeek-CJK-patch"/>
              </a:rPr>
              <a:t>的变量所赋值的其他变量。</a:t>
            </a:r>
            <a:endParaRPr lang="zh-CN" altLang="en-US" b="0" i="0" dirty="0">
              <a:solidFill>
                <a:srgbClr val="404040"/>
              </a:solidFill>
              <a:effectLst/>
              <a:latin typeface="DeepSeek-CJK-patch"/>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1" i="0" dirty="0" err="1">
                <a:solidFill>
                  <a:srgbClr val="404040"/>
                </a:solidFill>
                <a:effectLst/>
                <a:latin typeface="DeepSeek-CJK-patch"/>
              </a:rPr>
              <a:t>InvContained</a:t>
            </a:r>
            <a:r>
              <a:rPr lang="zh-CN" altLang="en-US" b="1" i="0" dirty="0">
                <a:solidFill>
                  <a:srgbClr val="404040"/>
                </a:solidFill>
                <a:effectLst/>
                <a:latin typeface="DeepSeek-CJK-patch"/>
              </a:rPr>
              <a:t>规则</a:t>
            </a:r>
            <a:r>
              <a:rPr lang="zh-CN" altLang="en-US" b="0" i="0" dirty="0">
                <a:solidFill>
                  <a:srgbClr val="404040"/>
                </a:solidFill>
                <a:effectLst/>
                <a:latin typeface="DeepSeek-CJK-patch"/>
              </a:rPr>
              <a:t>用于查询内部包含具有 </a:t>
            </a:r>
            <a:r>
              <a:rPr lang="en-US" altLang="zh-CN" b="0" dirty="0">
                <a:solidFill>
                  <a:srgbClr val="404040"/>
                </a:solidFill>
                <a:effectLst/>
                <a:latin typeface="KaTeX_Main"/>
              </a:rPr>
              <a:t>A</a:t>
            </a:r>
            <a:r>
              <a:rPr lang="zh-CN" altLang="en-US" b="0" i="0" dirty="0">
                <a:solidFill>
                  <a:srgbClr val="404040"/>
                </a:solidFill>
                <a:effectLst/>
                <a:latin typeface="DeepSeek-CJK-patch"/>
              </a:rPr>
              <a:t>属性节点的函数调用。</a:t>
            </a:r>
            <a:r>
              <a:rPr lang="zh-CN" altLang="en-US" dirty="0">
                <a:effectLst/>
              </a:rPr>
              <a:t>所有查询到的节点都被视为核心节点。</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effectLst/>
            </a:endParaRPr>
          </a:p>
          <a:p>
            <a:pPr algn="l">
              <a:lnSpc>
                <a:spcPts val="2145"/>
              </a:lnSpc>
              <a:spcBef>
                <a:spcPts val="300"/>
              </a:spcBef>
              <a:buFont typeface="Arial" panose="020B0604020202020204" pitchFamily="34" charset="0"/>
              <a:buNone/>
            </a:pPr>
            <a:r>
              <a:rPr lang="zh-CN" altLang="en-US" dirty="0">
                <a:effectLst/>
              </a:rPr>
              <a:t>根据上述公式，表 </a:t>
            </a:r>
            <a:r>
              <a:rPr lang="en-US" altLang="zh-CN" dirty="0">
                <a:effectLst/>
              </a:rPr>
              <a:t>1 </a:t>
            </a:r>
            <a:r>
              <a:rPr lang="zh-CN" altLang="en-US" dirty="0">
                <a:effectLst/>
              </a:rPr>
              <a:t>总结了分析四种类型漏洞的核心节点选择规则的详细信息。</a:t>
            </a:r>
            <a:endParaRPr lang="en-US" altLang="zh-CN" dirty="0">
              <a:effectLst/>
            </a:endParaRPr>
          </a:p>
          <a:p>
            <a:pPr algn="l">
              <a:lnSpc>
                <a:spcPts val="2145"/>
              </a:lnSpc>
              <a:spcBef>
                <a:spcPts val="300"/>
              </a:spcBef>
              <a:buFont typeface="Arial" panose="020B0604020202020204" pitchFamily="34" charset="0"/>
              <a:buNone/>
            </a:pPr>
            <a:r>
              <a:rPr lang="zh-CN" altLang="en-US" dirty="0">
                <a:effectLst/>
              </a:rPr>
              <a:t>对于重入性，</a:t>
            </a:r>
            <a:r>
              <a:rPr lang="en-US" altLang="zh-CN" b="0" i="0" dirty="0">
                <a:solidFill>
                  <a:srgbClr val="404040"/>
                </a:solidFill>
                <a:effectLst/>
                <a:latin typeface="DeepSeek-CJK-patch"/>
              </a:rPr>
              <a:t>(</a:t>
            </a:r>
            <a:r>
              <a:rPr lang="en-US" altLang="zh-CN" b="0" i="0" dirty="0" err="1">
                <a:solidFill>
                  <a:srgbClr val="404040"/>
                </a:solidFill>
                <a:effectLst/>
                <a:latin typeface="DeepSeek-CJK-patch"/>
              </a:rPr>
              <a:t>i</a:t>
            </a:r>
            <a:r>
              <a:rPr lang="en-US" altLang="zh-CN" b="0" i="0" dirty="0">
                <a:solidFill>
                  <a:srgbClr val="404040"/>
                </a:solidFill>
                <a:effectLst/>
                <a:latin typeface="DeepSeek-CJK-patch"/>
              </a:rPr>
              <a:t>) </a:t>
            </a:r>
            <a:r>
              <a:rPr lang="zh-CN" altLang="en-US" b="0" i="0" dirty="0">
                <a:solidFill>
                  <a:srgbClr val="404040"/>
                </a:solidFill>
                <a:effectLst/>
                <a:latin typeface="DeepSeek-CJK-patch"/>
              </a:rPr>
              <a:t>对 </a:t>
            </a:r>
            <a:r>
              <a:rPr lang="en-US" altLang="zh-CN" b="0" i="0" dirty="0" err="1">
                <a:solidFill>
                  <a:srgbClr val="404040"/>
                </a:solidFill>
                <a:effectLst/>
                <a:latin typeface="DeepSeek-CJK-patch"/>
              </a:rPr>
              <a:t>call.value</a:t>
            </a:r>
            <a:r>
              <a:rPr lang="en-US" altLang="zh-CN" b="0" i="0" dirty="0">
                <a:solidFill>
                  <a:srgbClr val="404040"/>
                </a:solidFill>
                <a:effectLst/>
                <a:latin typeface="DeepSeek-CJK-patch"/>
              </a:rPr>
              <a:t> </a:t>
            </a:r>
            <a:r>
              <a:rPr lang="zh-CN" altLang="en-US" b="0" i="0" dirty="0">
                <a:solidFill>
                  <a:srgbClr val="404040"/>
                </a:solidFill>
                <a:effectLst/>
                <a:latin typeface="DeepSeek-CJK-patch"/>
              </a:rPr>
              <a:t>函数的调用；</a:t>
            </a:r>
            <a:r>
              <a:rPr lang="en-US" altLang="zh-CN" b="0" i="0" dirty="0">
                <a:solidFill>
                  <a:srgbClr val="404040"/>
                </a:solidFill>
                <a:effectLst/>
                <a:latin typeface="DeepSeek-CJK-patch"/>
              </a:rPr>
              <a:t>(ii) </a:t>
            </a:r>
            <a:r>
              <a:rPr lang="zh-CN" altLang="en-US" b="0" i="0" dirty="0">
                <a:solidFill>
                  <a:srgbClr val="404040"/>
                </a:solidFill>
                <a:effectLst/>
                <a:latin typeface="DeepSeek-CJK-patch"/>
              </a:rPr>
              <a:t>与用户余额对应的变量；</a:t>
            </a:r>
            <a:r>
              <a:rPr lang="en-US" altLang="zh-CN" b="0" i="0" dirty="0">
                <a:solidFill>
                  <a:srgbClr val="404040"/>
                </a:solidFill>
                <a:effectLst/>
                <a:latin typeface="DeepSeek-CJK-patch"/>
              </a:rPr>
              <a:t>(iii) </a:t>
            </a:r>
            <a:r>
              <a:rPr lang="zh-CN" altLang="en-US" b="0" i="0" dirty="0">
                <a:solidFill>
                  <a:srgbClr val="404040"/>
                </a:solidFill>
                <a:effectLst/>
                <a:latin typeface="DeepSeek-CJK-patch"/>
              </a:rPr>
              <a:t>可直接影响用户余额的变量。</a:t>
            </a:r>
            <a:endParaRPr lang="zh-CN" altLang="en-US" b="0" i="0" dirty="0">
              <a:solidFill>
                <a:srgbClr val="404040"/>
              </a:solidFill>
              <a:effectLst/>
              <a:latin typeface="DeepSeek-CJK-patch"/>
            </a:endParaRPr>
          </a:p>
          <a:p>
            <a:pPr algn="l">
              <a:lnSpc>
                <a:spcPts val="2145"/>
              </a:lnSpc>
              <a:spcBef>
                <a:spcPts val="300"/>
              </a:spcBef>
              <a:buFont typeface="Arial" panose="020B0604020202020204" pitchFamily="34" charset="0"/>
              <a:buNone/>
            </a:pPr>
            <a:r>
              <a:rPr lang="zh-CN" altLang="en-US" dirty="0">
                <a:effectLst/>
              </a:rPr>
              <a:t>对于区块信息依赖性，</a:t>
            </a:r>
            <a:r>
              <a:rPr lang="en-US" altLang="zh-CN" b="0" i="0" dirty="0">
                <a:solidFill>
                  <a:srgbClr val="404040"/>
                </a:solidFill>
                <a:effectLst/>
                <a:latin typeface="DeepSeek-CJK-patch"/>
              </a:rPr>
              <a:t>(</a:t>
            </a:r>
            <a:r>
              <a:rPr lang="en-US" altLang="zh-CN" b="0" i="0" dirty="0" err="1">
                <a:solidFill>
                  <a:srgbClr val="404040"/>
                </a:solidFill>
                <a:effectLst/>
                <a:latin typeface="DeepSeek-CJK-patch"/>
              </a:rPr>
              <a:t>i</a:t>
            </a:r>
            <a:r>
              <a:rPr lang="en-US" altLang="zh-CN" b="0" i="0" dirty="0">
                <a:solidFill>
                  <a:srgbClr val="404040"/>
                </a:solidFill>
                <a:effectLst/>
                <a:latin typeface="DeepSeek-CJK-patch"/>
              </a:rPr>
              <a:t>) </a:t>
            </a:r>
            <a:r>
              <a:rPr lang="zh-CN" altLang="en-US" b="0" i="0" dirty="0">
                <a:solidFill>
                  <a:srgbClr val="404040"/>
                </a:solidFill>
                <a:effectLst/>
                <a:latin typeface="DeepSeek-CJK-patch"/>
              </a:rPr>
              <a:t>对区块信息的调用（如 </a:t>
            </a:r>
            <a:r>
              <a:rPr lang="en-US" altLang="zh-CN" b="0" i="0" dirty="0" err="1">
                <a:solidFill>
                  <a:srgbClr val="404040"/>
                </a:solidFill>
                <a:effectLst/>
                <a:latin typeface="DeepSeek-CJK-patch"/>
              </a:rPr>
              <a:t>block.number</a:t>
            </a:r>
            <a:r>
              <a:rPr lang="zh-CN" altLang="en-US" b="0" i="0" dirty="0">
                <a:solidFill>
                  <a:srgbClr val="404040"/>
                </a:solidFill>
                <a:effectLst/>
                <a:latin typeface="DeepSeek-CJK-patch"/>
              </a:rPr>
              <a:t>）；</a:t>
            </a:r>
            <a:r>
              <a:rPr lang="en-US" altLang="zh-CN" b="0" i="0" dirty="0">
                <a:solidFill>
                  <a:srgbClr val="404040"/>
                </a:solidFill>
                <a:effectLst/>
                <a:latin typeface="DeepSeek-CJK-patch"/>
              </a:rPr>
              <a:t>(ii) </a:t>
            </a:r>
            <a:r>
              <a:rPr lang="zh-CN" altLang="en-US" b="0" i="0" dirty="0">
                <a:solidFill>
                  <a:srgbClr val="404040"/>
                </a:solidFill>
                <a:effectLst/>
                <a:latin typeface="DeepSeek-CJK-patch"/>
              </a:rPr>
              <a:t>由区块信息赋值的变量</a:t>
            </a:r>
            <a:r>
              <a:rPr lang="zh-CN" altLang="en-US" dirty="0">
                <a:effectLst/>
              </a:rPr>
              <a:t>。</a:t>
            </a:r>
            <a:endParaRPr lang="en-US" altLang="zh-CN" dirty="0">
              <a:effectLst/>
            </a:endParaRPr>
          </a:p>
          <a:p>
            <a:pPr algn="l">
              <a:lnSpc>
                <a:spcPts val="2145"/>
              </a:lnSpc>
              <a:spcBef>
                <a:spcPts val="300"/>
              </a:spcBef>
              <a:buFont typeface="Arial" panose="020B0604020202020204" pitchFamily="34" charset="0"/>
              <a:buNone/>
            </a:pPr>
            <a:r>
              <a:rPr lang="zh-CN" altLang="en-US" dirty="0">
                <a:effectLst/>
              </a:rPr>
              <a:t>对于嵌套调用，</a:t>
            </a:r>
            <a:r>
              <a:rPr lang="en-US" altLang="zh-CN" b="0" i="0" dirty="0">
                <a:solidFill>
                  <a:srgbClr val="404040"/>
                </a:solidFill>
                <a:effectLst/>
                <a:latin typeface="DeepSeek-CJK-patch"/>
              </a:rPr>
              <a:t>(</a:t>
            </a:r>
            <a:r>
              <a:rPr lang="en-US" altLang="zh-CN" b="0" i="0" dirty="0" err="1">
                <a:solidFill>
                  <a:srgbClr val="404040"/>
                </a:solidFill>
                <a:effectLst/>
                <a:latin typeface="DeepSeek-CJK-patch"/>
              </a:rPr>
              <a:t>i</a:t>
            </a:r>
            <a:r>
              <a:rPr lang="en-US" altLang="zh-CN" b="0" i="0" dirty="0">
                <a:solidFill>
                  <a:srgbClr val="404040"/>
                </a:solidFill>
                <a:effectLst/>
                <a:latin typeface="DeepSeek-CJK-patch"/>
              </a:rPr>
              <a:t>) </a:t>
            </a:r>
            <a:r>
              <a:rPr lang="zh-CN" altLang="en-US" b="0" i="0" dirty="0">
                <a:solidFill>
                  <a:srgbClr val="404040"/>
                </a:solidFill>
                <a:effectLst/>
                <a:latin typeface="DeepSeek-CJK-patch"/>
              </a:rPr>
              <a:t>所有循环条件变量；</a:t>
            </a:r>
            <a:r>
              <a:rPr lang="en-US" altLang="zh-CN" b="0" i="0" dirty="0">
                <a:solidFill>
                  <a:srgbClr val="404040"/>
                </a:solidFill>
                <a:effectLst/>
                <a:latin typeface="DeepSeek-CJK-patch"/>
              </a:rPr>
              <a:t>(ii) </a:t>
            </a:r>
            <a:r>
              <a:rPr lang="zh-CN" altLang="en-US" b="0" i="0" dirty="0">
                <a:solidFill>
                  <a:srgbClr val="404040"/>
                </a:solidFill>
                <a:effectLst/>
                <a:latin typeface="DeepSeek-CJK-patch"/>
              </a:rPr>
              <a:t>包含底层调用（如 </a:t>
            </a:r>
            <a:r>
              <a:rPr lang="en-US" altLang="zh-CN" b="0" i="0" dirty="0">
                <a:solidFill>
                  <a:srgbClr val="404040"/>
                </a:solidFill>
                <a:effectLst/>
                <a:latin typeface="DeepSeek-CJK-patch"/>
              </a:rPr>
              <a:t>call/</a:t>
            </a:r>
            <a:r>
              <a:rPr lang="en-US" altLang="zh-CN" b="0" i="0" dirty="0" err="1">
                <a:solidFill>
                  <a:srgbClr val="404040"/>
                </a:solidFill>
                <a:effectLst/>
                <a:latin typeface="DeepSeek-CJK-patch"/>
              </a:rPr>
              <a:t>delegatecall</a:t>
            </a:r>
            <a:r>
              <a:rPr lang="zh-CN" altLang="en-US" b="0" i="0" dirty="0">
                <a:solidFill>
                  <a:srgbClr val="404040"/>
                </a:solidFill>
                <a:effectLst/>
                <a:latin typeface="DeepSeek-CJK-patch"/>
              </a:rPr>
              <a:t>）的语句。</a:t>
            </a:r>
            <a:endParaRPr lang="en-US" altLang="zh-CN" dirty="0">
              <a:effectLst/>
            </a:endParaRPr>
          </a:p>
          <a:p>
            <a:pPr algn="l">
              <a:lnSpc>
                <a:spcPts val="2145"/>
              </a:lnSpc>
              <a:spcBef>
                <a:spcPts val="300"/>
              </a:spcBef>
              <a:buFont typeface="Arial" panose="020B0604020202020204" pitchFamily="34" charset="0"/>
              <a:buNone/>
            </a:pPr>
            <a:r>
              <a:rPr lang="zh-CN" altLang="en-US" dirty="0">
                <a:effectLst/>
              </a:rPr>
              <a:t>对于</a:t>
            </a:r>
            <a:r>
              <a:rPr lang="zh-CN" altLang="en-US" b="1" i="0" dirty="0">
                <a:solidFill>
                  <a:srgbClr val="404040"/>
                </a:solidFill>
                <a:effectLst/>
                <a:latin typeface="DeepSeek-CJK-patch"/>
              </a:rPr>
              <a:t>交易状态依赖</a:t>
            </a:r>
            <a:r>
              <a:rPr lang="zh-CN" altLang="en-US" dirty="0">
                <a:effectLst/>
              </a:rPr>
              <a:t>，</a:t>
            </a:r>
            <a:r>
              <a:rPr lang="en-US" altLang="zh-CN" b="0" i="0" dirty="0">
                <a:solidFill>
                  <a:srgbClr val="404040"/>
                </a:solidFill>
                <a:effectLst/>
                <a:latin typeface="DeepSeek-CJK-patch"/>
              </a:rPr>
              <a:t>(</a:t>
            </a:r>
            <a:r>
              <a:rPr lang="en-US" altLang="zh-CN" b="0" i="0" dirty="0" err="1">
                <a:solidFill>
                  <a:srgbClr val="404040"/>
                </a:solidFill>
                <a:effectLst/>
                <a:latin typeface="DeepSeek-CJK-patch"/>
              </a:rPr>
              <a:t>i</a:t>
            </a:r>
            <a:r>
              <a:rPr lang="en-US" altLang="zh-CN" b="0" i="0" dirty="0">
                <a:solidFill>
                  <a:srgbClr val="404040"/>
                </a:solidFill>
                <a:effectLst/>
                <a:latin typeface="DeepSeek-CJK-patch"/>
              </a:rPr>
              <a:t>) </a:t>
            </a:r>
            <a:r>
              <a:rPr lang="zh-CN" altLang="en-US" b="0" i="0" dirty="0">
                <a:solidFill>
                  <a:srgbClr val="404040"/>
                </a:solidFill>
                <a:effectLst/>
                <a:latin typeface="DeepSeek-CJK-patch"/>
              </a:rPr>
              <a:t>对 </a:t>
            </a:r>
            <a:r>
              <a:rPr lang="en-US" altLang="zh-CN" b="0" i="0" dirty="0" err="1">
                <a:solidFill>
                  <a:srgbClr val="404040"/>
                </a:solidFill>
                <a:effectLst/>
                <a:latin typeface="DeepSeek-CJK-patch"/>
              </a:rPr>
              <a:t>tx.origin</a:t>
            </a:r>
            <a:r>
              <a:rPr lang="en-US" altLang="zh-CN" b="0" i="0" dirty="0">
                <a:solidFill>
                  <a:srgbClr val="404040"/>
                </a:solidFill>
                <a:effectLst/>
                <a:latin typeface="DeepSeek-CJK-patch"/>
              </a:rPr>
              <a:t> </a:t>
            </a:r>
            <a:r>
              <a:rPr lang="zh-CN" altLang="en-US" b="0" i="0" dirty="0">
                <a:solidFill>
                  <a:srgbClr val="404040"/>
                </a:solidFill>
                <a:effectLst/>
                <a:latin typeface="DeepSeek-CJK-patch"/>
              </a:rPr>
              <a:t>的调用；</a:t>
            </a:r>
            <a:r>
              <a:rPr lang="en-US" altLang="zh-CN" b="0" i="0" dirty="0">
                <a:solidFill>
                  <a:srgbClr val="404040"/>
                </a:solidFill>
                <a:effectLst/>
                <a:latin typeface="DeepSeek-CJK-patch"/>
              </a:rPr>
              <a:t>(ii) </a:t>
            </a:r>
            <a:r>
              <a:rPr lang="zh-CN" altLang="en-US" b="0" i="0" dirty="0">
                <a:solidFill>
                  <a:srgbClr val="404040"/>
                </a:solidFill>
                <a:effectLst/>
                <a:latin typeface="DeepSeek-CJK-patch"/>
              </a:rPr>
              <a:t>对 </a:t>
            </a:r>
            <a:r>
              <a:rPr lang="en-US" altLang="zh-CN" b="0" i="0" dirty="0">
                <a:solidFill>
                  <a:srgbClr val="404040"/>
                </a:solidFill>
                <a:effectLst/>
                <a:latin typeface="DeepSeek-CJK-patch"/>
              </a:rPr>
              <a:t>require </a:t>
            </a:r>
            <a:r>
              <a:rPr lang="zh-CN" altLang="en-US" b="0" i="0" dirty="0">
                <a:solidFill>
                  <a:srgbClr val="404040"/>
                </a:solidFill>
                <a:effectLst/>
                <a:latin typeface="DeepSeek-CJK-patch"/>
              </a:rPr>
              <a:t>函数的调用。</a:t>
            </a:r>
            <a:endParaRPr lang="zh-CN" altLang="en-US" b="0" i="0" dirty="0">
              <a:solidFill>
                <a:srgbClr val="404040"/>
              </a:solidFill>
              <a:effectLst/>
              <a:latin typeface="DeepSeek-CJK-patch"/>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buNone/>
            </a:pPr>
            <a:r>
              <a:rPr lang="zh-CN" altLang="en-US" dirty="0">
                <a:effectLst/>
              </a:rPr>
              <a:t>这些边从代表前一个函数调用或变量的节点直接指向代表当前函数调用或变量的节点。</a:t>
            </a:r>
            <a:endParaRPr lang="en-US" altLang="zh-CN" dirty="0">
              <a:effectLst/>
            </a:endParaRPr>
          </a:p>
          <a:p>
            <a:pPr marL="0" marR="0">
              <a:buNone/>
            </a:pPr>
            <a:endParaRPr lang="en-US" altLang="zh-CN" dirty="0">
              <a:effectLst/>
            </a:endParaRPr>
          </a:p>
          <a:p>
            <a:pPr marL="0" marR="0">
              <a:buNone/>
            </a:pPr>
            <a:r>
              <a:rPr lang="zh-CN" altLang="en-US" dirty="0">
                <a:effectLst/>
              </a:rPr>
              <a:t>控制流边捕获代码的控制语义。数据流边跟踪变量的使用情况，涉及对变量的访问或修改。</a:t>
            </a:r>
            <a:endParaRPr lang="zh-CN" altLang="en-US" dirty="0">
              <a:effectLs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我们使用两层注意力机制来更新图节点信息。接下来，我们将节点信息汇总并输入到卷积模块中，以获得高级的合同特征。使用</a:t>
            </a:r>
            <a:r>
              <a:rPr lang="en-US" altLang="zh-CN" dirty="0">
                <a:effectLst/>
              </a:rPr>
              <a:t>MLP</a:t>
            </a:r>
            <a:r>
              <a:rPr lang="zh-CN" altLang="en-US" dirty="0">
                <a:effectLst/>
              </a:rPr>
              <a:t>模块压缩高级特征的维度，以确定样本属性是否包含漏洞。换句话说，我们为每个智能合约估计标签</a:t>
            </a:r>
            <a:r>
              <a:rPr lang="en-US" altLang="zh-CN" dirty="0">
                <a:effectLst/>
              </a:rPr>
              <a:t>y</a:t>
            </a:r>
            <a:r>
              <a:rPr lang="zh-CN" altLang="en-US" dirty="0">
                <a:effectLst/>
              </a:rPr>
              <a:t>，其中</a:t>
            </a:r>
            <a:r>
              <a:rPr lang="en-US" altLang="zh-CN" dirty="0">
                <a:effectLst/>
              </a:rPr>
              <a:t>y=1</a:t>
            </a:r>
            <a:r>
              <a:rPr lang="zh-CN" altLang="en-US" dirty="0">
                <a:effectLst/>
              </a:rPr>
              <a:t>表示该合约具有特定漏洞，而</a:t>
            </a:r>
            <a:r>
              <a:rPr lang="en-US" altLang="zh-CN" i="1" dirty="0">
                <a:effectLst/>
              </a:rPr>
              <a:t>y</a:t>
            </a:r>
            <a:r>
              <a:rPr lang="en-US" altLang="zh-CN" dirty="0">
                <a:effectLst/>
              </a:rPr>
              <a:t>~=0 </a:t>
            </a:r>
            <a:r>
              <a:rPr lang="zh-CN" altLang="en-US" dirty="0">
                <a:effectLst/>
              </a:rPr>
              <a:t>表示该合约是安全的。</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基于元路径的每个节点的邻居在漏洞检测任务的节点嵌入学习中扮演多样化的角色，有相当数量的良性节点未与漏洞连接。因此，直接聚合来自节点邻居的所有传入消息以更新状态向量往往会掩盖漏洞信息，因为它学到的大多数信息并非易受攻击。为了解决这个问题，我们引入了一种节点级注意力机制，以实现模仿人工漏洞分析的效果。</a:t>
            </a:r>
            <a:r>
              <a:rPr lang="zh-CN" altLang="en-US" b="0" i="0" dirty="0">
                <a:solidFill>
                  <a:srgbClr val="333333"/>
                </a:solidFill>
                <a:effectLst/>
                <a:latin typeface="Georgia" panose="02040502050405020303" pitchFamily="18" charset="0"/>
              </a:rPr>
              <a:t>通过学习每个节点的邻居的重要性，对与漏洞相关的节点给予更多的权重，以便节点嵌入包含更多与漏洞相关的特征。</a:t>
            </a:r>
            <a:endParaRPr lang="en-US" altLang="zh-CN" b="0" i="0" dirty="0">
              <a:solidFill>
                <a:srgbClr val="333333"/>
              </a:solidFill>
              <a:effectLst/>
              <a:latin typeface="Georgia" panose="02040502050405020303" pitchFamily="18"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i="0" dirty="0">
              <a:solidFill>
                <a:srgbClr val="333333"/>
              </a:solidFill>
              <a:effectLst/>
              <a:latin typeface="Georgia" panose="02040502050405020303" pitchFamily="18"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333333"/>
                </a:solidFill>
                <a:effectLst/>
                <a:latin typeface="Georgia" panose="02040502050405020303" pitchFamily="18" charset="0"/>
              </a:rPr>
              <a:t>智能合约中的大多数漏洞不仅与一种语义有关，还与多种语义状态有关。要检测它们，有必要考虑异构图的每个节点中包含的各种语义信息。但是，在节点级注意力中，基于元路径的特定语义节点嵌入仅以一种方式反映节点信息。因此，设计了路径级注意力，通过融合每个元路径中嵌入的特定语义来执行更全面的节点嵌入学习。</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effectLst/>
                <a:latin typeface="-apple-system"/>
              </a:rPr>
              <a:t>表格中列出了四种不同的漏洞类型：重入攻击（</a:t>
            </a:r>
            <a:r>
              <a:rPr lang="en-US" altLang="zh-CN" b="0" i="0" dirty="0">
                <a:effectLst/>
                <a:latin typeface="-apple-system"/>
              </a:rPr>
              <a:t>Reentrancy</a:t>
            </a:r>
            <a:r>
              <a:rPr lang="zh-CN" altLang="en-US" b="0" i="0" dirty="0">
                <a:effectLst/>
                <a:latin typeface="-apple-system"/>
              </a:rPr>
              <a:t>）、区块信息泄露（</a:t>
            </a:r>
            <a:r>
              <a:rPr lang="en-US" altLang="zh-CN" b="0" i="0" dirty="0">
                <a:effectLst/>
                <a:latin typeface="-apple-system"/>
              </a:rPr>
              <a:t>Block Info</a:t>
            </a:r>
            <a:r>
              <a:rPr lang="zh-CN" altLang="en-US" b="0" i="0" dirty="0">
                <a:effectLst/>
                <a:latin typeface="-apple-system"/>
              </a:rPr>
              <a:t>）、嵌套调用（</a:t>
            </a:r>
            <a:r>
              <a:rPr lang="en-US" altLang="zh-CN" b="0" i="0" dirty="0">
                <a:effectLst/>
                <a:latin typeface="-apple-system"/>
              </a:rPr>
              <a:t>Nested Call</a:t>
            </a:r>
            <a:r>
              <a:rPr lang="zh-CN" altLang="en-US" b="0" i="0" dirty="0">
                <a:effectLst/>
                <a:latin typeface="-apple-system"/>
              </a:rPr>
              <a:t>）和交易状态泄露（</a:t>
            </a:r>
            <a:r>
              <a:rPr lang="en-US" altLang="zh-CN" b="0" i="0" dirty="0">
                <a:effectLst/>
                <a:latin typeface="-apple-system"/>
              </a:rPr>
              <a:t>Transaction State</a:t>
            </a:r>
            <a:r>
              <a:rPr lang="zh-CN" altLang="en-US" b="0" i="0" dirty="0">
                <a:effectLst/>
                <a:latin typeface="-apple-system"/>
              </a:rPr>
              <a:t>）。每种漏洞类型下列出了经过筛选的合约总数、标记为易受攻击的合约数量以及标记为不易受攻击的合约数量。</a:t>
            </a:r>
            <a:endParaRPr lang="en-US" altLang="zh-CN"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为了评估</a:t>
            </a:r>
            <a:r>
              <a:rPr lang="en-US" altLang="zh-CN" dirty="0">
                <a:effectLst/>
              </a:rPr>
              <a:t>SCVHUNTER</a:t>
            </a:r>
            <a:r>
              <a:rPr lang="zh-CN" altLang="en-US" dirty="0">
                <a:effectLst/>
              </a:rPr>
              <a:t>的有效性，我们将其性能与其他基于神经网络的漏洞检测方法进行比较。我们根据不同的神经网络模型选择了六种开源检测方法进行全面评估：</a:t>
            </a:r>
            <a:r>
              <a:rPr lang="en-US" altLang="zh-CN" dirty="0">
                <a:effectLst/>
              </a:rPr>
              <a:t>Vanilla-RNN</a:t>
            </a:r>
            <a:r>
              <a:rPr lang="zh-CN" altLang="en-US" dirty="0">
                <a:effectLst/>
              </a:rPr>
              <a:t>、</a:t>
            </a:r>
            <a:r>
              <a:rPr lang="en-US" altLang="zh-CN" dirty="0">
                <a:effectLst/>
              </a:rPr>
              <a:t>LSTM</a:t>
            </a:r>
            <a:r>
              <a:rPr lang="zh-CN" altLang="en-US" dirty="0">
                <a:effectLst/>
              </a:rPr>
              <a:t>、</a:t>
            </a:r>
            <a:r>
              <a:rPr lang="en-US" altLang="zh-CN" dirty="0">
                <a:effectLst/>
              </a:rPr>
              <a:t>GRU</a:t>
            </a:r>
            <a:r>
              <a:rPr lang="zh-CN" altLang="en-US" dirty="0">
                <a:effectLst/>
              </a:rPr>
              <a:t>、</a:t>
            </a:r>
            <a:r>
              <a:rPr lang="en-US" altLang="zh-CN" dirty="0">
                <a:effectLst/>
              </a:rPr>
              <a:t>DR-GCN</a:t>
            </a:r>
            <a:r>
              <a:rPr lang="zh-CN" altLang="en-US" dirty="0">
                <a:effectLst/>
              </a:rPr>
              <a:t>、</a:t>
            </a:r>
            <a:r>
              <a:rPr lang="en-US" altLang="zh-CN" dirty="0">
                <a:effectLst/>
              </a:rPr>
              <a:t>TMP</a:t>
            </a:r>
            <a:r>
              <a:rPr lang="zh-CN" altLang="en-US" dirty="0">
                <a:effectLst/>
              </a:rPr>
              <a:t>和</a:t>
            </a:r>
            <a:r>
              <a:rPr lang="en-US" altLang="zh-CN" dirty="0">
                <a:effectLst/>
              </a:rPr>
              <a:t>AME</a:t>
            </a:r>
            <a:r>
              <a:rPr lang="zh-CN" altLang="en-US" dirty="0">
                <a:effectLst/>
              </a:rPr>
              <a:t>。前三种模型以智能合约代码的文本序列作为输入，而后三种模型则以智能合约图数据作为输入。这些方法代表了使用各自模型的典型漏洞检测应用，并且被近期的智能合约漏洞检测研究广泛选为基准方法。</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对于重入性和时间戳依赖性漏洞，</a:t>
            </a:r>
            <a:r>
              <a:rPr lang="en-US" altLang="zh-CN" dirty="0">
                <a:effectLst/>
              </a:rPr>
              <a:t>SCVHUNTER</a:t>
            </a:r>
            <a:r>
              <a:rPr lang="zh-CN" altLang="en-US" dirty="0">
                <a:effectLst/>
              </a:rPr>
              <a:t>相较于在序列建模中表现最佳的</a:t>
            </a:r>
            <a:r>
              <a:rPr lang="en-US" altLang="zh-CN" dirty="0">
                <a:effectLst/>
              </a:rPr>
              <a:t>GRU</a:t>
            </a:r>
            <a:r>
              <a:rPr lang="zh-CN" altLang="en-US" dirty="0">
                <a:effectLst/>
              </a:rPr>
              <a:t>，分别提高了</a:t>
            </a:r>
            <a:r>
              <a:rPr lang="en-US" altLang="zh-CN" dirty="0">
                <a:effectLst/>
              </a:rPr>
              <a:t>32.26%</a:t>
            </a:r>
            <a:r>
              <a:rPr lang="zh-CN" altLang="en-US" dirty="0">
                <a:effectLst/>
              </a:rPr>
              <a:t>和</a:t>
            </a:r>
            <a:r>
              <a:rPr lang="en-US" altLang="zh-CN" dirty="0">
                <a:effectLst/>
              </a:rPr>
              <a:t>33.43%</a:t>
            </a:r>
            <a:r>
              <a:rPr lang="zh-CN" altLang="en-US" dirty="0">
                <a:effectLst/>
              </a:rPr>
              <a:t>的检测准确率。至于基于</a:t>
            </a:r>
            <a:r>
              <a:rPr lang="en-US" altLang="zh-CN" dirty="0">
                <a:effectLst/>
              </a:rPr>
              <a:t>GNN</a:t>
            </a:r>
            <a:r>
              <a:rPr lang="zh-CN" altLang="en-US" dirty="0">
                <a:effectLst/>
              </a:rPr>
              <a:t>的工具，</a:t>
            </a:r>
            <a:r>
              <a:rPr lang="en-US" altLang="zh-CN" dirty="0">
                <a:effectLst/>
              </a:rPr>
              <a:t>SCVHUNTER</a:t>
            </a:r>
            <a:r>
              <a:rPr lang="zh-CN" altLang="en-US" dirty="0">
                <a:effectLst/>
              </a:rPr>
              <a:t>与最佳可用工具</a:t>
            </a:r>
            <a:r>
              <a:rPr lang="en-US" altLang="zh-CN" dirty="0">
                <a:effectLst/>
              </a:rPr>
              <a:t>AME</a:t>
            </a:r>
            <a:r>
              <a:rPr lang="zh-CN" altLang="en-US" dirty="0">
                <a:effectLst/>
              </a:rPr>
              <a:t>相比，针对重入性和时间戳依赖性漏洞的检测准确率分别提高了</a:t>
            </a:r>
            <a:r>
              <a:rPr lang="en-US" altLang="zh-CN" dirty="0">
                <a:effectLst/>
              </a:rPr>
              <a:t>5.09%</a:t>
            </a:r>
            <a:r>
              <a:rPr lang="zh-CN" altLang="en-US" dirty="0">
                <a:effectLst/>
              </a:rPr>
              <a:t>和</a:t>
            </a:r>
            <a:r>
              <a:rPr lang="en-US" altLang="zh-CN" dirty="0">
                <a:effectLst/>
              </a:rPr>
              <a:t>5.32%</a:t>
            </a:r>
            <a:r>
              <a:rPr lang="zh-CN" altLang="en-US" dirty="0">
                <a:effectLst/>
              </a:rPr>
              <a:t>。这个结果是因为我们的异构组合安全图（</a:t>
            </a:r>
            <a:r>
              <a:rPr lang="en-US" altLang="zh-CN" dirty="0">
                <a:effectLst/>
              </a:rPr>
              <a:t>CSGs</a:t>
            </a:r>
            <a:r>
              <a:rPr lang="zh-CN" altLang="en-US" dirty="0">
                <a:effectLst/>
              </a:rPr>
              <a:t>）比同质图包含了更多细粒度的语义信息。</a:t>
            </a:r>
            <a:endParaRPr lang="zh-CN" altLang="en-US" dirty="0"/>
          </a:p>
          <a:p>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对于嵌套调用和事务状态依赖性漏洞，</a:t>
            </a:r>
            <a:r>
              <a:rPr lang="en-US" altLang="zh-CN" dirty="0">
                <a:effectLst/>
              </a:rPr>
              <a:t>SCVHUNTER</a:t>
            </a:r>
            <a:r>
              <a:rPr lang="zh-CN" altLang="en-US" dirty="0">
                <a:effectLst/>
              </a:rPr>
              <a:t>表现出更显著的改进。具体来说，与在嵌套调用漏洞检测中表现最佳的</a:t>
            </a:r>
            <a:r>
              <a:rPr lang="en-US" altLang="zh-CN" dirty="0">
                <a:effectLst/>
              </a:rPr>
              <a:t>GRU</a:t>
            </a:r>
            <a:r>
              <a:rPr lang="zh-CN" altLang="en-US" dirty="0">
                <a:effectLst/>
              </a:rPr>
              <a:t>以及事务状态依赖性漏洞检测中表现最佳的</a:t>
            </a:r>
            <a:r>
              <a:rPr lang="en-US" altLang="zh-CN" dirty="0">
                <a:effectLst/>
              </a:rPr>
              <a:t>LSTM</a:t>
            </a:r>
            <a:r>
              <a:rPr lang="zh-CN" altLang="en-US" dirty="0">
                <a:effectLst/>
              </a:rPr>
              <a:t>相比，</a:t>
            </a:r>
            <a:r>
              <a:rPr lang="en-US" altLang="zh-CN" dirty="0">
                <a:effectLst/>
              </a:rPr>
              <a:t>SCVHUNTER</a:t>
            </a:r>
            <a:r>
              <a:rPr lang="zh-CN" altLang="en-US" dirty="0">
                <a:effectLst/>
              </a:rPr>
              <a:t>的准确率分别提高了</a:t>
            </a:r>
            <a:r>
              <a:rPr lang="en-US" altLang="zh-CN" dirty="0">
                <a:effectLst/>
              </a:rPr>
              <a:t>30.14%</a:t>
            </a:r>
            <a:r>
              <a:rPr lang="zh-CN" altLang="en-US" dirty="0">
                <a:effectLst/>
              </a:rPr>
              <a:t>和</a:t>
            </a:r>
            <a:r>
              <a:rPr lang="en-US" altLang="zh-CN" dirty="0">
                <a:effectLst/>
              </a:rPr>
              <a:t>35.86%</a:t>
            </a:r>
            <a:r>
              <a:rPr lang="zh-CN" altLang="en-US" dirty="0">
                <a:effectLst/>
              </a:rPr>
              <a:t>。</a:t>
            </a:r>
            <a:endParaRPr lang="zh-CN" altLang="en-US" dirty="0"/>
          </a:p>
          <a:p>
            <a:endParaRPr lang="en-US" altLang="zh-CN" dirty="0">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除了与基于神经网络的方法进行比较外，我们还将</a:t>
            </a:r>
            <a:r>
              <a:rPr lang="en-US" altLang="zh-CN" dirty="0">
                <a:effectLst/>
              </a:rPr>
              <a:t>SCVHUNTER</a:t>
            </a:r>
            <a:r>
              <a:rPr lang="zh-CN" altLang="en-US" dirty="0">
                <a:effectLst/>
              </a:rPr>
              <a:t>与顶级会议、顶尖期刊及安全</a:t>
            </a:r>
            <a:r>
              <a:rPr lang="en-US" altLang="zh-CN" dirty="0">
                <a:effectLst/>
              </a:rPr>
              <a:t>/</a:t>
            </a:r>
            <a:r>
              <a:rPr lang="zh-CN" altLang="en-US" dirty="0">
                <a:effectLst/>
              </a:rPr>
              <a:t>软件工程相关论文中的最新传统合约漏洞检测工具进行了评估。选取了</a:t>
            </a:r>
            <a:r>
              <a:rPr lang="en-US" altLang="zh-CN" dirty="0" err="1">
                <a:effectLst/>
              </a:rPr>
              <a:t>Oyente</a:t>
            </a:r>
            <a:r>
              <a:rPr lang="zh-CN" altLang="en-US" dirty="0">
                <a:effectLst/>
              </a:rPr>
              <a:t>、</a:t>
            </a:r>
            <a:r>
              <a:rPr lang="en-US" altLang="zh-CN" dirty="0" err="1">
                <a:effectLst/>
              </a:rPr>
              <a:t>Smartcheck</a:t>
            </a:r>
            <a:r>
              <a:rPr lang="zh-CN" altLang="en-US" dirty="0">
                <a:effectLst/>
              </a:rPr>
              <a:t>、</a:t>
            </a:r>
            <a:r>
              <a:rPr lang="en-US" altLang="zh-CN" dirty="0" err="1">
                <a:effectLst/>
              </a:rPr>
              <a:t>Securify</a:t>
            </a:r>
            <a:r>
              <a:rPr lang="zh-CN" altLang="en-US" dirty="0">
                <a:effectLst/>
              </a:rPr>
              <a:t>、</a:t>
            </a:r>
            <a:r>
              <a:rPr lang="en-US" altLang="zh-CN" dirty="0" err="1">
                <a:effectLst/>
              </a:rPr>
              <a:t>Contractfuzzer</a:t>
            </a:r>
            <a:r>
              <a:rPr lang="zh-CN" altLang="en-US" dirty="0">
                <a:effectLst/>
              </a:rPr>
              <a:t>、</a:t>
            </a:r>
            <a:r>
              <a:rPr lang="en-US" altLang="zh-CN" dirty="0" err="1">
                <a:effectLst/>
              </a:rPr>
              <a:t>Mythril</a:t>
            </a:r>
            <a:r>
              <a:rPr lang="zh-CN" altLang="en-US" dirty="0">
                <a:effectLst/>
              </a:rPr>
              <a:t>和</a:t>
            </a:r>
            <a:r>
              <a:rPr lang="en-US" altLang="zh-CN" dirty="0">
                <a:effectLst/>
              </a:rPr>
              <a:t>Slither</a:t>
            </a:r>
            <a:r>
              <a:rPr lang="zh-CN" altLang="en-US" dirty="0">
                <a:effectLst/>
              </a:rPr>
              <a:t>作为基准工具。</a:t>
            </a:r>
            <a:endParaRPr lang="en-US" altLang="zh-CN" dirty="0">
              <a:effectLst/>
            </a:endParaRPr>
          </a:p>
          <a:p>
            <a:endParaRPr lang="en-US" altLang="zh-CN" dirty="0">
              <a:effectLst/>
            </a:endParaRPr>
          </a:p>
          <a:p>
            <a:pPr marL="0" marR="0">
              <a:buNone/>
            </a:pPr>
            <a:r>
              <a:rPr lang="zh-CN" altLang="en-US" dirty="0">
                <a:effectLst/>
              </a:rPr>
              <a:t>重入性漏洞的结果。表现最佳的</a:t>
            </a:r>
            <a:r>
              <a:rPr lang="en-US" altLang="zh-CN" dirty="0">
                <a:effectLst/>
              </a:rPr>
              <a:t>Slither</a:t>
            </a:r>
            <a:r>
              <a:rPr lang="zh-CN" altLang="en-US" dirty="0">
                <a:effectLst/>
              </a:rPr>
              <a:t>准确率为</a:t>
            </a:r>
            <a:r>
              <a:rPr lang="en-US" altLang="zh-CN" dirty="0">
                <a:effectLst/>
              </a:rPr>
              <a:t>82.67%</a:t>
            </a:r>
            <a:r>
              <a:rPr lang="zh-CN" altLang="en-US" dirty="0">
                <a:effectLst/>
              </a:rPr>
              <a:t>，而</a:t>
            </a:r>
            <a:r>
              <a:rPr lang="en-US" altLang="zh-CN" dirty="0">
                <a:effectLst/>
              </a:rPr>
              <a:t>SCVHUNTER</a:t>
            </a:r>
            <a:r>
              <a:rPr lang="zh-CN" altLang="en-US" dirty="0">
                <a:effectLst/>
              </a:rPr>
              <a:t>通过显著提高准确率</a:t>
            </a:r>
            <a:r>
              <a:rPr lang="en-US" altLang="zh-CN" dirty="0">
                <a:effectLst/>
              </a:rPr>
              <a:t>11.05%</a:t>
            </a:r>
            <a:r>
              <a:rPr lang="zh-CN" altLang="en-US" dirty="0">
                <a:effectLst/>
              </a:rPr>
              <a:t>，达到了</a:t>
            </a:r>
            <a:r>
              <a:rPr lang="en-US" altLang="zh-CN" dirty="0">
                <a:effectLst/>
              </a:rPr>
              <a:t>93.72%</a:t>
            </a:r>
            <a:r>
              <a:rPr lang="zh-CN" altLang="en-US" dirty="0">
                <a:effectLst/>
              </a:rPr>
              <a:t>。传统工具的这种不佳表现归因于它们过度依赖简单且固定的模式来检测漏洞。</a:t>
            </a:r>
            <a:endParaRPr lang="en-US" altLang="zh-CN" dirty="0">
              <a:effectLst/>
            </a:endParaRPr>
          </a:p>
          <a:p>
            <a:pPr marL="0" marR="0">
              <a:buNone/>
            </a:pPr>
            <a:endParaRPr lang="en-US" altLang="zh-CN" dirty="0">
              <a:effectLst/>
            </a:endParaRPr>
          </a:p>
          <a:p>
            <a:pPr marL="0" marR="0">
              <a:buNone/>
            </a:pPr>
            <a:r>
              <a:rPr lang="zh-CN" altLang="en-US" dirty="0">
                <a:effectLst/>
              </a:rPr>
              <a:t>区块信息依赖性漏洞的结果。我们观察到 </a:t>
            </a:r>
            <a:r>
              <a:rPr lang="en-US" altLang="zh-CN" dirty="0">
                <a:effectLst/>
              </a:rPr>
              <a:t>SCVHUNTER </a:t>
            </a:r>
            <a:r>
              <a:rPr lang="zh-CN" altLang="en-US" dirty="0">
                <a:effectLst/>
              </a:rPr>
              <a:t>在所有四个指标上一致性地优于传统方法，在准确性方面实现了显著提升，提升到了 </a:t>
            </a:r>
            <a:r>
              <a:rPr lang="en-US" altLang="zh-CN" dirty="0">
                <a:effectLst/>
              </a:rPr>
              <a:t>91.07%</a:t>
            </a:r>
            <a:r>
              <a:rPr lang="zh-CN" altLang="en-US" dirty="0">
                <a:effectLst/>
              </a:rPr>
              <a:t>。</a:t>
            </a:r>
            <a:endParaRPr lang="en-US" altLang="zh-CN" dirty="0">
              <a:effectLst/>
            </a:endParaRPr>
          </a:p>
          <a:p>
            <a:pPr marL="0" marR="0">
              <a:buNone/>
            </a:pPr>
            <a:endParaRPr lang="zh-CN" altLang="en-US" dirty="0">
              <a:effectLst/>
            </a:endParaRPr>
          </a:p>
          <a:p>
            <a:pPr marL="0" marR="0"/>
            <a:r>
              <a:rPr lang="zh-CN" altLang="en-US" dirty="0">
                <a:effectLst/>
              </a:rPr>
              <a:t>其他两个漏洞的结果。我们观察到 </a:t>
            </a:r>
            <a:r>
              <a:rPr lang="en-US" altLang="zh-CN" dirty="0">
                <a:effectLst/>
              </a:rPr>
              <a:t>SCVHUNTER </a:t>
            </a:r>
            <a:r>
              <a:rPr lang="zh-CN" altLang="en-US" dirty="0">
                <a:effectLst/>
              </a:rPr>
              <a:t>在所有指标上均优于这三个工具。与最优的 </a:t>
            </a:r>
            <a:r>
              <a:rPr lang="en-US" altLang="zh-CN" dirty="0" err="1">
                <a:effectLst/>
              </a:rPr>
              <a:t>Mythril</a:t>
            </a:r>
            <a:r>
              <a:rPr lang="en-US" altLang="zh-CN" dirty="0">
                <a:effectLst/>
              </a:rPr>
              <a:t> </a:t>
            </a:r>
            <a:r>
              <a:rPr lang="zh-CN" altLang="en-US" dirty="0">
                <a:effectLst/>
              </a:rPr>
              <a:t>相比，</a:t>
            </a:r>
            <a:r>
              <a:rPr lang="en-US" altLang="zh-CN" dirty="0">
                <a:effectLst/>
              </a:rPr>
              <a:t>SCVHUNTER </a:t>
            </a:r>
            <a:r>
              <a:rPr lang="zh-CN" altLang="en-US" dirty="0">
                <a:effectLst/>
              </a:rPr>
              <a:t>将嵌套调用和事务状态依赖性漏洞的检测准确率分别提高了 </a:t>
            </a:r>
            <a:r>
              <a:rPr lang="en-US" altLang="zh-CN" dirty="0">
                <a:effectLst/>
              </a:rPr>
              <a:t>16.56% </a:t>
            </a:r>
            <a:r>
              <a:rPr lang="zh-CN" altLang="en-US" dirty="0">
                <a:effectLst/>
              </a:rPr>
              <a:t>和 </a:t>
            </a:r>
            <a:r>
              <a:rPr lang="en-US" altLang="zh-CN" dirty="0">
                <a:effectLst/>
              </a:rPr>
              <a:t>12.05%</a:t>
            </a:r>
            <a:r>
              <a:rPr lang="zh-CN" altLang="en-US" dirty="0">
                <a:effectLst/>
              </a:rPr>
              <a:t>。</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SCVHUNTER</a:t>
            </a:r>
            <a:r>
              <a:rPr lang="zh-CN" altLang="en-US" dirty="0">
                <a:effectLst/>
              </a:rPr>
              <a:t>进行了五次测试，并记录了在数据集中检测合约所需的平均时间。</a:t>
            </a:r>
            <a:endParaRPr lang="en-US" altLang="zh-CN" dirty="0">
              <a:effectLst/>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检测智能合约的平均时间为：</a:t>
            </a:r>
            <a:r>
              <a:rPr lang="en-US" altLang="zh-CN" dirty="0">
                <a:effectLst/>
              </a:rPr>
              <a:t>IR</a:t>
            </a:r>
            <a:r>
              <a:rPr lang="zh-CN" altLang="en-US" dirty="0">
                <a:effectLst/>
              </a:rPr>
              <a:t>转换器</a:t>
            </a:r>
            <a:r>
              <a:rPr lang="en-US" altLang="zh-CN" dirty="0">
                <a:effectLst/>
              </a:rPr>
              <a:t>0.10</a:t>
            </a:r>
            <a:r>
              <a:rPr lang="zh-CN" altLang="en-US" dirty="0">
                <a:effectLst/>
              </a:rPr>
              <a:t>秒、合约图生成器</a:t>
            </a:r>
            <a:r>
              <a:rPr lang="en-US" altLang="zh-CN" dirty="0">
                <a:effectLst/>
              </a:rPr>
              <a:t>0.35</a:t>
            </a:r>
            <a:r>
              <a:rPr lang="zh-CN" altLang="en-US" dirty="0">
                <a:effectLst/>
              </a:rPr>
              <a:t>秒、漏洞检测器</a:t>
            </a:r>
            <a:r>
              <a:rPr lang="en-US" altLang="zh-CN" dirty="0">
                <a:effectLst/>
              </a:rPr>
              <a:t>0.21</a:t>
            </a:r>
            <a:r>
              <a:rPr lang="zh-CN" altLang="en-US" dirty="0">
                <a:effectLst/>
              </a:rPr>
              <a:t>秒。总体而言，</a:t>
            </a:r>
            <a:r>
              <a:rPr lang="en-US" altLang="zh-CN" dirty="0">
                <a:effectLst/>
              </a:rPr>
              <a:t>SCVHUNTER</a:t>
            </a:r>
            <a:r>
              <a:rPr lang="zh-CN" altLang="en-US" dirty="0">
                <a:effectLst/>
              </a:rPr>
              <a:t>的平均时间开销为</a:t>
            </a:r>
            <a:r>
              <a:rPr lang="en-US" altLang="zh-CN" dirty="0">
                <a:effectLst/>
              </a:rPr>
              <a:t>0.66</a:t>
            </a:r>
            <a:r>
              <a:rPr lang="zh-CN" altLang="en-US" dirty="0">
                <a:effectLst/>
              </a:rPr>
              <a:t>秒。</a:t>
            </a:r>
            <a:r>
              <a:rPr lang="en-US" altLang="zh-CN" dirty="0">
                <a:effectLst/>
              </a:rPr>
              <a:t>SCVHUNTER</a:t>
            </a:r>
            <a:r>
              <a:rPr lang="zh-CN" altLang="en-US" dirty="0">
                <a:effectLst/>
              </a:rPr>
              <a:t>分析智能合约的最大时间为</a:t>
            </a:r>
            <a:r>
              <a:rPr lang="en-US" altLang="zh-CN" dirty="0">
                <a:effectLst/>
              </a:rPr>
              <a:t>2.04</a:t>
            </a:r>
            <a:r>
              <a:rPr lang="zh-CN" altLang="en-US" dirty="0">
                <a:effectLst/>
              </a:rPr>
              <a:t>秒，而数据集中最简单的智能合约（仅有</a:t>
            </a:r>
            <a:r>
              <a:rPr lang="en-US" altLang="zh-CN" dirty="0">
                <a:effectLst/>
              </a:rPr>
              <a:t>7</a:t>
            </a:r>
            <a:r>
              <a:rPr lang="zh-CN" altLang="en-US" dirty="0">
                <a:effectLst/>
              </a:rPr>
              <a:t>行）仅需</a:t>
            </a:r>
            <a:r>
              <a:rPr lang="en-US" altLang="zh-CN" dirty="0">
                <a:effectLst/>
              </a:rPr>
              <a:t>0.23</a:t>
            </a:r>
            <a:r>
              <a:rPr lang="zh-CN" altLang="en-US" dirty="0">
                <a:effectLst/>
              </a:rPr>
              <a:t>秒。</a:t>
            </a:r>
            <a:r>
              <a:rPr lang="en-US" altLang="zh-CN" dirty="0">
                <a:effectLst/>
              </a:rPr>
              <a:t>SCVHUNTER</a:t>
            </a:r>
            <a:r>
              <a:rPr lang="zh-CN" altLang="en-US" dirty="0">
                <a:effectLst/>
              </a:rPr>
              <a:t>的大部分开销来自于构建</a:t>
            </a:r>
            <a:r>
              <a:rPr lang="en-US" altLang="zh-CN" dirty="0">
                <a:effectLst/>
              </a:rPr>
              <a:t>CSG</a:t>
            </a:r>
            <a:r>
              <a:rPr lang="zh-CN" altLang="en-US" dirty="0">
                <a:effectLst/>
              </a:rPr>
              <a:t>。</a:t>
            </a:r>
            <a:endParaRPr lang="zh-CN" altLang="en-US" dirty="0"/>
          </a:p>
          <a:p>
            <a:endParaRPr lang="en-US" altLang="zh-CN" dirty="0">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SCVHUNTER</a:t>
            </a:r>
            <a:r>
              <a:rPr lang="zh-CN" altLang="en-US" dirty="0">
                <a:effectLst/>
              </a:rPr>
              <a:t>的两个主要特点是它允许用户指定核心节点类型，以及它将智能合约转换为异构</a:t>
            </a:r>
            <a:r>
              <a:rPr lang="en-US" altLang="zh-CN" dirty="0">
                <a:effectLst/>
              </a:rPr>
              <a:t>CSG</a:t>
            </a:r>
            <a:r>
              <a:rPr lang="zh-CN" altLang="en-US" dirty="0">
                <a:effectLst/>
              </a:rPr>
              <a:t>。为了验证这一设计是否有效，我们进行了以下研究。</a:t>
            </a:r>
            <a:endParaRPr lang="en-US" altLang="zh-CN" dirty="0">
              <a:effectLst/>
            </a:endParaRPr>
          </a:p>
          <a:p>
            <a:endParaRPr lang="en-US" altLang="zh-CN" dirty="0">
              <a:effectLst/>
            </a:endParaRPr>
          </a:p>
          <a:p>
            <a:pPr marL="0" marR="0">
              <a:buNone/>
            </a:pPr>
            <a:r>
              <a:rPr lang="zh-CN" altLang="en-US" dirty="0">
                <a:effectLst/>
              </a:rPr>
              <a:t>指定核心节点类型。为了评估这一特性的影响，我们进行了不输入核心节点选择规则的实验。在这种情况下，合约图构造器仅生成了包含其他三种类型节点的异构图。我们观察到标准</a:t>
            </a:r>
            <a:r>
              <a:rPr lang="en-US" altLang="zh-CN" dirty="0">
                <a:effectLst/>
              </a:rPr>
              <a:t>SCVHUNTER</a:t>
            </a:r>
            <a:r>
              <a:rPr lang="zh-CN" altLang="en-US" dirty="0">
                <a:effectLst/>
              </a:rPr>
              <a:t>的表现更好。在重入漏洞检测方面，标准</a:t>
            </a:r>
            <a:r>
              <a:rPr lang="en-US" altLang="zh-CN" dirty="0">
                <a:effectLst/>
              </a:rPr>
              <a:t>SCVHUNTER</a:t>
            </a:r>
            <a:r>
              <a:rPr lang="zh-CN" altLang="en-US" dirty="0">
                <a:effectLst/>
              </a:rPr>
              <a:t>在准确性、召回率、精确度和</a:t>
            </a:r>
            <a:r>
              <a:rPr lang="en-US" altLang="zh-CN" dirty="0">
                <a:effectLst/>
              </a:rPr>
              <a:t>F1</a:t>
            </a:r>
            <a:r>
              <a:rPr lang="zh-CN" altLang="en-US" dirty="0">
                <a:effectLst/>
              </a:rPr>
              <a:t>分数上分别提高了</a:t>
            </a:r>
            <a:r>
              <a:rPr lang="en-US" altLang="zh-CN" dirty="0">
                <a:effectLst/>
              </a:rPr>
              <a:t>5.98%</a:t>
            </a:r>
            <a:r>
              <a:rPr lang="zh-CN" altLang="en-US" dirty="0">
                <a:effectLst/>
              </a:rPr>
              <a:t>、</a:t>
            </a:r>
            <a:r>
              <a:rPr lang="en-US" altLang="zh-CN" dirty="0">
                <a:effectLst/>
              </a:rPr>
              <a:t>6.22%</a:t>
            </a:r>
            <a:r>
              <a:rPr lang="zh-CN" altLang="en-US" dirty="0">
                <a:effectLst/>
              </a:rPr>
              <a:t>、</a:t>
            </a:r>
            <a:r>
              <a:rPr lang="en-US" altLang="zh-CN" dirty="0">
                <a:effectLst/>
              </a:rPr>
              <a:t>9.58%</a:t>
            </a:r>
            <a:r>
              <a:rPr lang="zh-CN" altLang="en-US" dirty="0">
                <a:effectLst/>
              </a:rPr>
              <a:t>和</a:t>
            </a:r>
            <a:r>
              <a:rPr lang="en-US" altLang="zh-CN" dirty="0">
                <a:effectLst/>
              </a:rPr>
              <a:t>7.97%</a:t>
            </a:r>
            <a:r>
              <a:rPr lang="zh-CN" altLang="en-US" dirty="0">
                <a:effectLst/>
              </a:rPr>
              <a:t>。这一结果证明了允许核心节点指定功能的有效性，并突显了特定节点在漏洞检测过程中的重大贡献，而不是所有节点贡献均等。</a:t>
            </a:r>
            <a:endParaRPr lang="en-US" altLang="zh-CN" dirty="0">
              <a:effectLst/>
            </a:endParaRPr>
          </a:p>
          <a:p>
            <a:pPr marL="0" marR="0">
              <a:buNone/>
            </a:pPr>
            <a:endParaRPr lang="zh-CN" altLang="en-US" dirty="0">
              <a:effectLst/>
            </a:endParaRPr>
          </a:p>
          <a:p>
            <a:pPr marL="0" marR="0">
              <a:buNone/>
            </a:pPr>
            <a:r>
              <a:rPr lang="zh-CN" altLang="en-US" dirty="0">
                <a:effectLst/>
              </a:rPr>
              <a:t>异构</a:t>
            </a:r>
            <a:r>
              <a:rPr lang="en-US" altLang="zh-CN" dirty="0">
                <a:effectLst/>
              </a:rPr>
              <a:t>CSG</a:t>
            </a:r>
            <a:r>
              <a:rPr lang="zh-CN" altLang="en-US" dirty="0">
                <a:effectLst/>
              </a:rPr>
              <a:t>。为了评估将智能合约转换为</a:t>
            </a:r>
            <a:r>
              <a:rPr lang="en-US" altLang="zh-CN" dirty="0">
                <a:effectLst/>
              </a:rPr>
              <a:t>CSG</a:t>
            </a:r>
            <a:r>
              <a:rPr lang="zh-CN" altLang="en-US" dirty="0">
                <a:effectLst/>
              </a:rPr>
              <a:t>的有效性，我们将基于同质图分析的</a:t>
            </a:r>
            <a:r>
              <a:rPr lang="en-US" altLang="zh-CN" dirty="0">
                <a:effectLst/>
              </a:rPr>
              <a:t>SCVHUNTER</a:t>
            </a:r>
            <a:r>
              <a:rPr lang="zh-CN" altLang="en-US" dirty="0">
                <a:effectLst/>
              </a:rPr>
              <a:t>性能与基于异质图分析的性能进行了比较。我们观察到标准的</a:t>
            </a:r>
            <a:r>
              <a:rPr lang="en-US" altLang="zh-CN" dirty="0">
                <a:effectLst/>
              </a:rPr>
              <a:t>SCVHUNTER</a:t>
            </a:r>
            <a:r>
              <a:rPr lang="zh-CN" altLang="en-US" dirty="0">
                <a:effectLst/>
              </a:rPr>
              <a:t>在所有方面显著优于</a:t>
            </a:r>
            <a:r>
              <a:rPr lang="en-US" altLang="zh-CN" dirty="0">
                <a:effectLst/>
              </a:rPr>
              <a:t>SCVHUNTERHOG</a:t>
            </a:r>
            <a:r>
              <a:rPr lang="zh-CN" altLang="en-US" dirty="0">
                <a:effectLst/>
              </a:rPr>
              <a:t>。这一结果表明，基于我们的异构</a:t>
            </a:r>
            <a:r>
              <a:rPr lang="en-US" altLang="zh-CN" dirty="0">
                <a:effectLst/>
              </a:rPr>
              <a:t>CSG</a:t>
            </a:r>
            <a:r>
              <a:rPr lang="zh-CN" altLang="en-US" dirty="0">
                <a:effectLst/>
              </a:rPr>
              <a:t>进行漏洞检测任务对提升性能具有重要意义，因为</a:t>
            </a:r>
            <a:r>
              <a:rPr lang="en-US" altLang="zh-CN" dirty="0">
                <a:effectLst/>
              </a:rPr>
              <a:t>CSG</a:t>
            </a:r>
            <a:r>
              <a:rPr lang="zh-CN" altLang="en-US" dirty="0">
                <a:effectLst/>
              </a:rPr>
              <a:t>在其图形特征中包含了更多细粒度的语义信息。</a:t>
            </a:r>
            <a:endParaRPr lang="en-US" altLang="zh-CN" dirty="0">
              <a:effectLst/>
            </a:endParaRPr>
          </a:p>
          <a:p>
            <a:pPr marL="0" marR="0">
              <a:buNone/>
            </a:pPr>
            <a:endParaRPr lang="zh-CN" altLang="en-US" dirty="0">
              <a:effectLst/>
            </a:endParaRPr>
          </a:p>
          <a:p>
            <a:pPr marL="0" marR="0">
              <a:buNone/>
            </a:pPr>
            <a:r>
              <a:rPr lang="zh-CN" altLang="en-US" dirty="0">
                <a:effectLst/>
              </a:rPr>
              <a:t>我们还展示了图</a:t>
            </a:r>
            <a:r>
              <a:rPr lang="en-US" altLang="zh-CN" dirty="0">
                <a:effectLst/>
              </a:rPr>
              <a:t>11</a:t>
            </a:r>
            <a:r>
              <a:rPr lang="zh-CN" altLang="en-US" dirty="0">
                <a:effectLst/>
              </a:rPr>
              <a:t>中</a:t>
            </a:r>
            <a:r>
              <a:rPr lang="en-US" altLang="zh-CN" dirty="0">
                <a:effectLst/>
              </a:rPr>
              <a:t>SCVHUNTER</a:t>
            </a:r>
            <a:r>
              <a:rPr lang="zh-CN" altLang="en-US" dirty="0">
                <a:effectLst/>
              </a:rPr>
              <a:t>、</a:t>
            </a:r>
            <a:r>
              <a:rPr lang="en-US" altLang="zh-CN" dirty="0">
                <a:effectLst/>
              </a:rPr>
              <a:t>SCVHUNTERWCN</a:t>
            </a:r>
            <a:r>
              <a:rPr lang="zh-CN" altLang="en-US" dirty="0">
                <a:effectLst/>
              </a:rPr>
              <a:t>和</a:t>
            </a:r>
            <a:r>
              <a:rPr lang="en-US" altLang="zh-CN" dirty="0">
                <a:effectLst/>
              </a:rPr>
              <a:t>SCVHUNTERHOG</a:t>
            </a:r>
            <a:r>
              <a:rPr lang="zh-CN" altLang="en-US" dirty="0">
                <a:effectLst/>
              </a:rPr>
              <a:t>的（</a:t>
            </a:r>
            <a:r>
              <a:rPr lang="en-US" altLang="zh-CN" dirty="0">
                <a:effectLst/>
              </a:rPr>
              <a:t>ROC</a:t>
            </a:r>
            <a:r>
              <a:rPr lang="zh-CN" altLang="en-US" dirty="0">
                <a:effectLst/>
              </a:rPr>
              <a:t>）。曲线下的面积（</a:t>
            </a:r>
            <a:r>
              <a:rPr lang="en-US" altLang="zh-CN" dirty="0">
                <a:effectLst/>
              </a:rPr>
              <a:t>AUC</a:t>
            </a:r>
            <a:r>
              <a:rPr lang="zh-CN" altLang="en-US" dirty="0">
                <a:effectLst/>
              </a:rPr>
              <a:t>）直观反映了漏洞检测的性能，</a:t>
            </a:r>
            <a:r>
              <a:rPr lang="en-US" altLang="zh-CN" dirty="0">
                <a:effectLst/>
              </a:rPr>
              <a:t>AUC</a:t>
            </a:r>
            <a:r>
              <a:rPr lang="zh-CN" altLang="en-US" dirty="0">
                <a:effectLst/>
              </a:rPr>
              <a:t>越高，性能越好。结果显示，对于重入性漏洞检测任务，</a:t>
            </a:r>
            <a:r>
              <a:rPr lang="en-US" altLang="zh-CN" dirty="0">
                <a:effectLst/>
              </a:rPr>
              <a:t>SCVHUNTER</a:t>
            </a:r>
            <a:r>
              <a:rPr lang="zh-CN" altLang="en-US" dirty="0">
                <a:effectLst/>
              </a:rPr>
              <a:t>的</a:t>
            </a:r>
            <a:r>
              <a:rPr lang="en-US" altLang="zh-CN" dirty="0">
                <a:effectLst/>
              </a:rPr>
              <a:t>AUC</a:t>
            </a:r>
            <a:r>
              <a:rPr lang="zh-CN" altLang="en-US" dirty="0">
                <a:effectLst/>
              </a:rPr>
              <a:t>分别提高了</a:t>
            </a:r>
            <a:r>
              <a:rPr lang="en-US" altLang="zh-CN" dirty="0">
                <a:effectLst/>
              </a:rPr>
              <a:t>0.11</a:t>
            </a:r>
            <a:r>
              <a:rPr lang="zh-CN" altLang="en-US" dirty="0">
                <a:effectLst/>
              </a:rPr>
              <a:t>和</a:t>
            </a:r>
            <a:r>
              <a:rPr lang="en-US" altLang="zh-CN" dirty="0">
                <a:effectLst/>
              </a:rPr>
              <a:t>0.24</a:t>
            </a:r>
            <a:r>
              <a:rPr lang="zh-CN" altLang="en-US" dirty="0">
                <a:effectLst/>
              </a:rPr>
              <a:t>。对于区块信息依赖性漏洞检测任务，</a:t>
            </a:r>
            <a:r>
              <a:rPr lang="en-US" altLang="zh-CN" dirty="0">
                <a:effectLst/>
              </a:rPr>
              <a:t>SCVHUNTER</a:t>
            </a:r>
            <a:r>
              <a:rPr lang="zh-CN" altLang="en-US" dirty="0">
                <a:effectLst/>
              </a:rPr>
              <a:t>的</a:t>
            </a:r>
            <a:r>
              <a:rPr lang="en-US" altLang="zh-CN" dirty="0">
                <a:effectLst/>
              </a:rPr>
              <a:t>AUC</a:t>
            </a:r>
            <a:r>
              <a:rPr lang="zh-CN" altLang="en-US" dirty="0">
                <a:effectLst/>
              </a:rPr>
              <a:t>分别提高了</a:t>
            </a:r>
            <a:r>
              <a:rPr lang="en-US" altLang="zh-CN" dirty="0">
                <a:effectLst/>
              </a:rPr>
              <a:t>0.12</a:t>
            </a:r>
            <a:r>
              <a:rPr lang="zh-CN" altLang="en-US" dirty="0">
                <a:effectLst/>
              </a:rPr>
              <a:t>和</a:t>
            </a:r>
            <a:r>
              <a:rPr lang="en-US" altLang="zh-CN" dirty="0">
                <a:effectLst/>
              </a:rPr>
              <a:t>0.19</a:t>
            </a:r>
            <a:r>
              <a:rPr lang="zh-CN" altLang="en-US" dirty="0">
                <a:effectLst/>
              </a:rPr>
              <a:t>。</a:t>
            </a:r>
            <a:endParaRPr lang="zh-CN" altLang="en-US" dirty="0">
              <a:effectLst/>
            </a:endParaRPr>
          </a:p>
          <a:p>
            <a:pPr marL="0" marR="0"/>
            <a:r>
              <a:rPr lang="zh-CN" altLang="en-US" dirty="0">
                <a:effectLst/>
              </a:rPr>
              <a:t>对于嵌套调用漏洞检测任务，</a:t>
            </a:r>
            <a:r>
              <a:rPr lang="en-US" altLang="zh-CN" dirty="0">
                <a:effectLst/>
              </a:rPr>
              <a:t>SCVHUNTER</a:t>
            </a:r>
            <a:r>
              <a:rPr lang="zh-CN" altLang="en-US" dirty="0">
                <a:effectLst/>
              </a:rPr>
              <a:t>的</a:t>
            </a:r>
            <a:r>
              <a:rPr lang="en-US" altLang="zh-CN" dirty="0">
                <a:effectLst/>
              </a:rPr>
              <a:t>AUC</a:t>
            </a:r>
            <a:r>
              <a:rPr lang="zh-CN" altLang="en-US" dirty="0">
                <a:effectLst/>
              </a:rPr>
              <a:t>分别提高了</a:t>
            </a:r>
            <a:r>
              <a:rPr lang="en-US" altLang="zh-CN" dirty="0">
                <a:effectLst/>
              </a:rPr>
              <a:t>0.10</a:t>
            </a:r>
            <a:r>
              <a:rPr lang="zh-CN" altLang="en-US" dirty="0">
                <a:effectLst/>
              </a:rPr>
              <a:t>和</a:t>
            </a:r>
            <a:r>
              <a:rPr lang="en-US" altLang="zh-CN" dirty="0">
                <a:effectLst/>
              </a:rPr>
              <a:t>0.19</a:t>
            </a:r>
            <a:r>
              <a:rPr lang="zh-CN" altLang="en-US" dirty="0">
                <a:effectLst/>
              </a:rPr>
              <a:t>。对于交易状态依赖性漏洞检测任务，</a:t>
            </a:r>
            <a:r>
              <a:rPr lang="en-US" altLang="zh-CN" dirty="0">
                <a:effectLst/>
              </a:rPr>
              <a:t>SCVHUNTER</a:t>
            </a:r>
            <a:r>
              <a:rPr lang="zh-CN" altLang="en-US" dirty="0">
                <a:effectLst/>
              </a:rPr>
              <a:t>的</a:t>
            </a:r>
            <a:r>
              <a:rPr lang="en-US" altLang="zh-CN" dirty="0">
                <a:effectLst/>
              </a:rPr>
              <a:t>AUC</a:t>
            </a:r>
            <a:r>
              <a:rPr lang="zh-CN" altLang="en-US" dirty="0">
                <a:effectLst/>
              </a:rPr>
              <a:t>分别提高了</a:t>
            </a:r>
            <a:r>
              <a:rPr lang="en-US" altLang="zh-CN" dirty="0">
                <a:effectLst/>
              </a:rPr>
              <a:t>0.08</a:t>
            </a:r>
            <a:r>
              <a:rPr lang="zh-CN" altLang="en-US" dirty="0">
                <a:effectLst/>
              </a:rPr>
              <a:t>和</a:t>
            </a:r>
            <a:r>
              <a:rPr lang="en-US" altLang="zh-CN" dirty="0">
                <a:effectLst/>
              </a:rPr>
              <a:t>0.17</a:t>
            </a:r>
            <a:r>
              <a:rPr lang="zh-CN" altLang="en-US" dirty="0">
                <a:effectLst/>
              </a:rPr>
              <a:t>。因此，我们提出的见解对智能合约漏洞检测是有益的。</a:t>
            </a:r>
            <a:endParaRPr lang="zh-CN" altLang="en-US" dirty="0">
              <a:effectLst/>
            </a:endParaRPr>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927AD7D-0E09-4B57-B07E-A14B71E210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cxnSp>
        <p:nvCxnSpPr>
          <p:cNvPr id="8" name="直接连接符 7"/>
          <p:cNvCxnSpPr/>
          <p:nvPr userDrawn="1"/>
        </p:nvCxnSpPr>
        <p:spPr>
          <a:xfrm>
            <a:off x="0" y="926446"/>
            <a:ext cx="121920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238125"/>
            <a:ext cx="542925" cy="6883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0" hasCustomPrompt="1"/>
          </p:nvPr>
        </p:nvSpPr>
        <p:spPr>
          <a:xfrm>
            <a:off x="590550" y="349251"/>
            <a:ext cx="4772025" cy="523220"/>
          </a:xfrm>
        </p:spPr>
        <p:txBody>
          <a:bodyPr>
            <a:spAutoFit/>
          </a:bodyPr>
          <a:lstStyle>
            <a:lvl1pPr marL="0" marR="0" indent="0" algn="l" defTabSz="914400" rtl="0" eaLnBrk="1" fontAlgn="auto" latinLnBrk="0" hangingPunct="1">
              <a:lnSpc>
                <a:spcPct val="100000"/>
              </a:lnSpc>
              <a:spcBef>
                <a:spcPts val="0"/>
              </a:spcBef>
              <a:spcAft>
                <a:spcPts val="0"/>
              </a:spcAft>
              <a:buClrTx/>
              <a:buSzTx/>
              <a:buFontTx/>
              <a:buNone/>
              <a:defRPr kumimoji="0" lang="zh-CN" altLang="en-US" sz="2800" b="1" i="0" u="none" strike="noStrike" kern="1200" cap="none" spc="0" normalizeH="0" baseline="0" noProof="0">
                <a:ln>
                  <a:noFill/>
                </a:ln>
                <a:solidFill>
                  <a:schemeClr val="accent1"/>
                </a:solidFill>
                <a:effectLst/>
                <a:uLnTx/>
                <a:uFillTx/>
                <a:latin typeface="Arial" panose="020B0604020202020204"/>
                <a:ea typeface="微软雅黑" panose="020B0503020204020204" pitchFamily="34"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mn-lt"/>
                <a:ea typeface="+mn-ea"/>
                <a:cs typeface="+mn-cs"/>
              </a:rPr>
              <a:t>请输入你的标题或观点</a:t>
            </a:r>
            <a:endParaRPr kumimoji="0" lang="zh-CN" altLang="en-US" sz="2800" b="1" i="0" u="none" strike="noStrike" kern="1200" cap="none" spc="0" normalizeH="0" baseline="0" noProof="0" dirty="0">
              <a:ln>
                <a:noFill/>
              </a:ln>
              <a:solidFill>
                <a:srgbClr val="4472C4"/>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1.webp"/><Relationship Id="rId2" Type="http://schemas.openxmlformats.org/officeDocument/2006/relationships/image" Target="../media/image10.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2.webp"/><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4.webp"/><Relationship Id="rId2" Type="http://schemas.openxmlformats.org/officeDocument/2006/relationships/image" Target="../media/image1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5.webp"/><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326188" y="5200650"/>
            <a:ext cx="5865812" cy="1657350"/>
          </a:xfrm>
          <a:prstGeom prst="rect">
            <a:avLst/>
          </a:prstGeom>
          <a:noFill/>
          <a:ln w="9525">
            <a:noFill/>
          </a:ln>
        </p:spPr>
      </p:pic>
      <p:sp>
        <p:nvSpPr>
          <p:cNvPr id="3075" name="文本框 62"/>
          <p:cNvSpPr txBox="1"/>
          <p:nvPr/>
        </p:nvSpPr>
        <p:spPr>
          <a:xfrm>
            <a:off x="1091565" y="2614930"/>
            <a:ext cx="10564495"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zh-CN" sz="3600" b="1" dirty="0">
                <a:solidFill>
                  <a:srgbClr val="4B649F"/>
                </a:solidFill>
              </a:rPr>
              <a:t>Knowledge Circuits in Pretrained Transformers </a:t>
            </a:r>
            <a:endParaRPr lang="en-US" altLang="zh-CN" sz="3600" b="1" dirty="0">
              <a:solidFill>
                <a:srgbClr val="4B649F"/>
              </a:solidFill>
            </a:endParaRPr>
          </a:p>
        </p:txBody>
      </p:sp>
      <p:grpSp>
        <p:nvGrpSpPr>
          <p:cNvPr id="3076" name="组合 1026"/>
          <p:cNvGrpSpPr/>
          <p:nvPr/>
        </p:nvGrpSpPr>
        <p:grpSpPr>
          <a:xfrm>
            <a:off x="9100820" y="3804603"/>
            <a:ext cx="315913" cy="317500"/>
            <a:chOff x="2724480" y="3856218"/>
            <a:chExt cx="317004" cy="317004"/>
          </a:xfrm>
        </p:grpSpPr>
        <p:sp>
          <p:nvSpPr>
            <p:cNvPr id="1024" name="椭圆 1023"/>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3" name="KSO_Shape"/>
            <p:cNvSpPr/>
            <p:nvPr/>
          </p:nvSpPr>
          <p:spPr bwMode="auto">
            <a:xfrm>
              <a:off x="2799351" y="3908523"/>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3077" name="文本框 1027"/>
          <p:cNvSpPr txBox="1"/>
          <p:nvPr/>
        </p:nvSpPr>
        <p:spPr>
          <a:xfrm>
            <a:off x="9417050" y="3780155"/>
            <a:ext cx="1783080" cy="369570"/>
          </a:xfrm>
          <a:prstGeom prst="rect">
            <a:avLst/>
          </a:prstGeom>
          <a:noFill/>
          <a:ln w="9525">
            <a:noFill/>
          </a:ln>
        </p:spPr>
        <p:txBody>
          <a:bodyPr wrap="non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1800" dirty="0"/>
              <a:t>报告人：潘显聪</a:t>
            </a:r>
            <a:endParaRPr lang="zh-CN" altLang="en-US" sz="1800" dirty="0"/>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en-US" altLang="zh-CN" sz="1800" dirty="0"/>
          </a:p>
        </p:txBody>
      </p:sp>
      <p:sp>
        <p:nvSpPr>
          <p:cNvPr id="1068" name="矩形 1067"/>
          <p:cNvSpPr/>
          <p:nvPr/>
        </p:nvSpPr>
        <p:spPr>
          <a:xfrm>
            <a:off x="1091565" y="1799590"/>
            <a:ext cx="10565130" cy="285242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69" name="矩形 1068"/>
          <p:cNvSpPr/>
          <p:nvPr/>
        </p:nvSpPr>
        <p:spPr>
          <a:xfrm>
            <a:off x="11306175" y="427640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7" name="矩形 116"/>
          <p:cNvSpPr/>
          <p:nvPr/>
        </p:nvSpPr>
        <p:spPr>
          <a:xfrm>
            <a:off x="11545253" y="4549458"/>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2235835" y="3916680"/>
            <a:ext cx="9070975" cy="662305"/>
          </a:xfrm>
          <a:prstGeom prst="rect">
            <a:avLst/>
          </a:prstGeom>
          <a:noFill/>
        </p:spPr>
        <p:txBody>
          <a:bodyPr wrap="square" rtlCol="0">
            <a:noAutofit/>
          </a:bodyPr>
          <a:lstStyle/>
          <a:p>
            <a:pPr algn="r"/>
            <a:r>
              <a:rPr lang="zh-CN" altLang="en-US" dirty="0">
                <a:latin typeface="+mn-ea"/>
                <a:ea typeface="+mn-ea"/>
              </a:rPr>
              <a:t>                                                                                                                                                   </a:t>
            </a:r>
            <a:r>
              <a:rPr lang="en-US" altLang="zh-CN" dirty="0">
                <a:latin typeface="+mn-ea"/>
                <a:ea typeface="+mn-ea"/>
              </a:rPr>
              <a:t>38th Conference on Neural Information Processing Systems (NeurIPS 2024)</a:t>
            </a:r>
            <a:endParaRPr lang="en-US" altLang="zh-CN" dirty="0">
              <a:latin typeface="+mn-ea"/>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a:t>
            </a:r>
            <a:r>
              <a:rPr lang="en-US" altLang="zh-CN" sz="2000" dirty="0">
                <a:latin typeface="+mj-ea"/>
                <a:ea typeface="+mj-ea"/>
              </a:rPr>
              <a:t>ABSTRACT</a:t>
            </a:r>
            <a:endParaRPr lang="zh-CN" altLang="en-US" sz="2000" dirty="0">
              <a:latin typeface="+mj-ea"/>
              <a:ea typeface="+mj-ea"/>
            </a:endParaRPr>
          </a:p>
        </p:txBody>
      </p:sp>
      <p:sp>
        <p:nvSpPr>
          <p:cNvPr id="2" name="文本框 1"/>
          <p:cNvSpPr txBox="1"/>
          <p:nvPr/>
        </p:nvSpPr>
        <p:spPr>
          <a:xfrm>
            <a:off x="958850" y="1809115"/>
            <a:ext cx="9865995" cy="4246245"/>
          </a:xfrm>
          <a:prstGeom prst="rect">
            <a:avLst/>
          </a:prstGeom>
          <a:noFill/>
        </p:spPr>
        <p:txBody>
          <a:bodyPr wrap="square" rtlCol="0">
            <a:spAutoFit/>
          </a:bodyPr>
          <a:lstStyle/>
          <a:p>
            <a:pPr marL="0" marR="0">
              <a:lnSpc>
                <a:spcPct val="150000"/>
              </a:lnSpc>
              <a:spcBef>
                <a:spcPts val="0"/>
              </a:spcBef>
              <a:spcAft>
                <a:spcPts val="0"/>
              </a:spcAft>
            </a:pPr>
            <a:r>
              <a:rPr lang="en-US" altLang="zh-CN" sz="2000" dirty="0">
                <a:effectLst/>
              </a:rPr>
              <a:t>	</a:t>
            </a:r>
            <a:r>
              <a:rPr lang="zh-CN" altLang="en-US" sz="2000" dirty="0">
                <a:effectLst/>
              </a:rPr>
              <a:t>现代大型语言模型的强大能力根植于其参数内编码的庞大数据库知识，使其能够感知世界并进行推理。这些模型如何存储知识的内部机制长期以来一直是研究人员高度关注和研究的课题。迄今为止，大多数研究集中在这些模型的孤立组件上，如多层感知机和注意力头。本文深入探讨了语言模型的计算图，揭示了在表达特定知识方面起关键作用的知识回路。通过使用</a:t>
            </a:r>
            <a:r>
              <a:rPr lang="en-US" altLang="zh-CN" sz="2000" dirty="0">
                <a:effectLst/>
              </a:rPr>
              <a:t>GPT2</a:t>
            </a:r>
            <a:r>
              <a:rPr lang="zh-CN" altLang="en-US" sz="2000" dirty="0">
                <a:effectLst/>
              </a:rPr>
              <a:t>和</a:t>
            </a:r>
            <a:r>
              <a:rPr lang="en-US" altLang="zh-CN" sz="2000" dirty="0">
                <a:effectLst/>
              </a:rPr>
              <a:t>TinyLLAMA</a:t>
            </a:r>
            <a:r>
              <a:rPr lang="zh-CN" altLang="en-US" sz="2000" dirty="0">
                <a:effectLst/>
              </a:rPr>
              <a:t>进行的实验，我们得以观察到某些信息头、关系头和多层感知</a:t>
            </a:r>
            <a:r>
              <a:rPr lang="zh-CN" altLang="en-US" sz="2000" dirty="0">
                <a:effectLst/>
              </a:rPr>
              <a:t>机如何协同地在模型内编码知识。此外，我们评估了当前知识编辑技术对这些知识回路的影响，提供了对这些编辑方法的功能和限制更深入的见解。最后，我们利用知识回路来分析并解释语言模型的行为，如幻觉和上下文学习。我们认为知识回路具有推动我们理解</a:t>
            </a:r>
            <a:r>
              <a:rPr lang="en-US" altLang="zh-CN" sz="2000" dirty="0">
                <a:effectLst/>
              </a:rPr>
              <a:t>Transformer</a:t>
            </a:r>
            <a:r>
              <a:rPr lang="zh-CN" altLang="en-US" sz="2000" dirty="0">
                <a:effectLst/>
              </a:rPr>
              <a:t>以及指导知识编辑改进设计的潜力。</a:t>
            </a:r>
            <a:endParaRPr lang="zh-CN" altLang="en-US" sz="2000"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endParaRPr lang="zh-CN" altLang="en-US" sz="2000" dirty="0">
              <a:latin typeface="+mj-ea"/>
              <a:ea typeface="+mj-ea"/>
            </a:endParaRPr>
          </a:p>
        </p:txBody>
      </p:sp>
      <p:sp>
        <p:nvSpPr>
          <p:cNvPr id="8" name="文本框 7"/>
          <p:cNvSpPr txBox="1"/>
          <p:nvPr/>
        </p:nvSpPr>
        <p:spPr>
          <a:xfrm>
            <a:off x="958850" y="1809115"/>
            <a:ext cx="10165715" cy="4707890"/>
          </a:xfrm>
          <a:prstGeom prst="rect">
            <a:avLst/>
          </a:prstGeom>
          <a:noFill/>
        </p:spPr>
        <p:txBody>
          <a:bodyPr wrap="square" rtlCol="0">
            <a:spAutoFit/>
          </a:bodyPr>
          <a:lstStyle/>
          <a:p>
            <a:pPr indent="457200">
              <a:lnSpc>
                <a:spcPct val="100000"/>
              </a:lnSpc>
            </a:pPr>
            <a:r>
              <a:rPr lang="zh-CN" altLang="en-US" sz="2000" dirty="0">
                <a:effectLst/>
              </a:rPr>
              <a:t>模型中封装的知识增强了它们在推理、感知世界以及进行类人类交流方面的能力。然而，它们仍在处理诸如幻觉、不安全规范以及攻击性行为等问题，而这些问题又因语言模型内部知识存储的神秘机制而加剧。因此研究界投入了大量努力来揭开这些模型的知识存储机制。</a:t>
            </a:r>
            <a:endParaRPr lang="zh-CN" altLang="en-US" sz="2000" dirty="0">
              <a:effectLst/>
            </a:endParaRPr>
          </a:p>
          <a:p>
            <a:pPr indent="457200">
              <a:lnSpc>
                <a:spcPct val="100000"/>
              </a:lnSpc>
            </a:pPr>
            <a:endParaRPr lang="zh-CN" altLang="en-US" sz="2000" dirty="0">
              <a:effectLst/>
            </a:endParaRPr>
          </a:p>
          <a:p>
            <a:pPr indent="457200">
              <a:lnSpc>
                <a:spcPct val="100000"/>
              </a:lnSpc>
            </a:pPr>
            <a:r>
              <a:rPr lang="zh-CN" altLang="en-US" sz="2000" dirty="0">
                <a:effectLst/>
              </a:rPr>
              <a:t>以往工作的主要发现知识可能主要储存在基于</a:t>
            </a:r>
            <a:r>
              <a:rPr lang="en-US" altLang="zh-CN" sz="2000" dirty="0">
                <a:effectLst/>
              </a:rPr>
              <a:t>Transformer</a:t>
            </a:r>
            <a:r>
              <a:rPr lang="zh-CN" altLang="en-US" sz="2000" dirty="0">
                <a:effectLst/>
              </a:rPr>
              <a:t>的语言模型的多层感知机中。这些多层</a:t>
            </a:r>
            <a:r>
              <a:rPr lang="zh-CN" altLang="en-US" sz="2000" dirty="0">
                <a:effectLst/>
                <a:sym typeface="+mn-ea"/>
              </a:rPr>
              <a:t>感知机</a:t>
            </a:r>
            <a:r>
              <a:rPr lang="zh-CN" altLang="en-US" sz="2000" dirty="0">
                <a:effectLst/>
              </a:rPr>
              <a:t>充当键值神经记忆，知识被存储在所谓的</a:t>
            </a:r>
            <a:r>
              <a:rPr lang="en-US" altLang="zh-CN" sz="2000" dirty="0">
                <a:effectLst/>
              </a:rPr>
              <a:t>“</a:t>
            </a:r>
            <a:r>
              <a:rPr lang="zh-CN" altLang="en-US" sz="2000" dirty="0">
                <a:effectLst/>
              </a:rPr>
              <a:t>知识神经元</a:t>
            </a:r>
            <a:r>
              <a:rPr lang="en-US" altLang="zh-CN" sz="2000" dirty="0">
                <a:effectLst/>
              </a:rPr>
              <a:t>”</a:t>
            </a:r>
            <a:r>
              <a:rPr lang="zh-CN" altLang="en-US" sz="2000" dirty="0">
                <a:effectLst/>
              </a:rPr>
              <a:t>（</a:t>
            </a:r>
            <a:r>
              <a:rPr lang="en-US" altLang="zh-CN" sz="2000" dirty="0">
                <a:effectLst/>
              </a:rPr>
              <a:t>KNs</a:t>
            </a:r>
            <a:r>
              <a:rPr lang="zh-CN" altLang="en-US" sz="2000" dirty="0">
                <a:effectLst/>
              </a:rPr>
              <a:t>）中。基于这些发现，研究人员进行知识编辑，以更新语言模型参数空间中的不准确事实、偏见和不安全内容。尽管这些方法初步取得成功，但仍存在一些局限性，如泛化能力差、严重的副作用以及未能有效利用编辑过的知识，这促使我们重新思考先前用于解释语言模型中知识存储的方法。</a:t>
            </a:r>
            <a:endParaRPr lang="zh-CN" altLang="en-US" sz="2000" dirty="0">
              <a:effectLst/>
            </a:endParaRPr>
          </a:p>
          <a:p>
            <a:pPr indent="457200">
              <a:lnSpc>
                <a:spcPct val="100000"/>
              </a:lnSpc>
            </a:pPr>
            <a:r>
              <a:rPr lang="zh-CN" altLang="en-US" sz="2000" dirty="0">
                <a:effectLst/>
              </a:rPr>
              <a:t>以往的工作根据恢复理论，将知识块视为孤立的组成部分，通常专注于识别存储特定知识的特定块。</a:t>
            </a:r>
            <a:r>
              <a:rPr lang="zh-CN" altLang="en-US" sz="2000" dirty="0">
                <a:effectLst/>
              </a:rPr>
              <a:t>但是多项研究提出不同类型的知识通常位于同一区域，这表明当前的</a:t>
            </a:r>
            <a:r>
              <a:rPr lang="en-US" altLang="zh-CN" sz="2000" dirty="0">
                <a:effectLst/>
              </a:rPr>
              <a:t>KN</a:t>
            </a:r>
            <a:r>
              <a:rPr lang="zh-CN" altLang="en-US" sz="2000" dirty="0">
                <a:effectLst/>
              </a:rPr>
              <a:t>论点可能过于简化。</a:t>
            </a:r>
            <a:endParaRPr lang="zh-CN" altLang="en-US" sz="2000" dirty="0">
              <a:effectLst/>
            </a:endParaRPr>
          </a:p>
          <a:p>
            <a:pPr indent="457200">
              <a:lnSpc>
                <a:spcPct val="100000"/>
              </a:lnSpc>
            </a:pPr>
            <a:endParaRPr lang="zh-CN" altLang="en-US" sz="2000"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endParaRPr lang="zh-CN" altLang="en-US" sz="2000" dirty="0">
              <a:latin typeface="+mj-ea"/>
              <a:ea typeface="+mj-ea"/>
            </a:endParaRPr>
          </a:p>
        </p:txBody>
      </p:sp>
      <p:sp>
        <p:nvSpPr>
          <p:cNvPr id="8" name="文本框 7"/>
          <p:cNvSpPr txBox="1"/>
          <p:nvPr/>
        </p:nvSpPr>
        <p:spPr>
          <a:xfrm>
            <a:off x="959204" y="1945037"/>
            <a:ext cx="10013596" cy="4462760"/>
          </a:xfrm>
          <a:prstGeom prst="rect">
            <a:avLst/>
          </a:prstGeom>
          <a:noFill/>
        </p:spPr>
        <p:txBody>
          <a:bodyPr wrap="square" rtlCol="0">
            <a:spAutoFit/>
          </a:bodyPr>
          <a:lstStyle/>
          <a:p>
            <a:r>
              <a:rPr lang="zh-CN" altLang="en-US" sz="2000" b="1" dirty="0">
                <a:solidFill>
                  <a:srgbClr val="060607"/>
                </a:solidFill>
                <a:highlight>
                  <a:srgbClr val="FFFFFF"/>
                </a:highlight>
                <a:latin typeface="+mj-ea"/>
                <a:ea typeface="+mj-ea"/>
              </a:rPr>
              <a:t>传统方法：</a:t>
            </a:r>
            <a:endParaRPr lang="en-US" altLang="zh-CN" sz="2000" b="1" dirty="0">
              <a:solidFill>
                <a:srgbClr val="060607"/>
              </a:solidFill>
              <a:highlight>
                <a:srgbClr val="FFFFFF"/>
              </a:highlight>
              <a:latin typeface="+mj-ea"/>
              <a:ea typeface="+mj-ea"/>
            </a:endParaRPr>
          </a:p>
          <a:p>
            <a:r>
              <a:rPr lang="en-US" altLang="zh-CN" sz="2000" b="1" dirty="0">
                <a:solidFill>
                  <a:srgbClr val="060607"/>
                </a:solidFill>
                <a:effectLst/>
                <a:highlight>
                  <a:srgbClr val="FFFFFF"/>
                </a:highlight>
                <a:latin typeface="+mj-ea"/>
                <a:ea typeface="+mj-ea"/>
              </a:rPr>
              <a:t>	</a:t>
            </a:r>
            <a:r>
              <a:rPr lang="zh-CN" altLang="en-US" sz="2000" dirty="0">
                <a:effectLst/>
              </a:rPr>
              <a:t>例如形式验证、符号执行和模糊测试。</a:t>
            </a:r>
            <a:endParaRPr lang="en-US" altLang="zh-CN" sz="2000" dirty="0">
              <a:effectLst/>
            </a:endParaRPr>
          </a:p>
          <a:p>
            <a:r>
              <a:rPr lang="en-US" altLang="zh-CN" sz="2000" dirty="0"/>
              <a:t>	</a:t>
            </a:r>
            <a:r>
              <a:rPr lang="zh-CN" altLang="en-US" sz="2000" dirty="0">
                <a:effectLst/>
              </a:rPr>
              <a:t>这些方法通常依赖于复杂的固定模式或精心制作的测试用例，需要专家深入分析漏洞并将他们的知识转化为针对特定类型漏洞的复杂规则。虽然专家规则可以提高检测准确性，但必须将其精心整合到分析工具的源代码中才能实际使用。随着智能合约的快速增长，依赖专家检查所有漏洞类型、创建相应规则并修改源代码变得具有挑战性。</a:t>
            </a:r>
            <a:endParaRPr lang="en-US" altLang="zh-CN" sz="2000" dirty="0">
              <a:effectLst/>
            </a:endParaRPr>
          </a:p>
          <a:p>
            <a:endParaRPr lang="zh-CN" altLang="en-US" sz="2000" dirty="0"/>
          </a:p>
          <a:p>
            <a:r>
              <a:rPr lang="zh-CN" altLang="en-US" sz="2000" b="1" dirty="0">
                <a:solidFill>
                  <a:srgbClr val="060607"/>
                </a:solidFill>
                <a:highlight>
                  <a:srgbClr val="FFFFFF"/>
                </a:highlight>
                <a:latin typeface="+mj-ea"/>
                <a:ea typeface="+mj-ea"/>
              </a:rPr>
              <a:t>深度学习：</a:t>
            </a:r>
            <a:endParaRPr lang="en-US" altLang="zh-CN" sz="2000" b="1" dirty="0">
              <a:solidFill>
                <a:srgbClr val="060607"/>
              </a:solidFill>
              <a:highlight>
                <a:srgbClr val="FFFFFF"/>
              </a:highlight>
              <a:latin typeface="+mj-ea"/>
              <a:ea typeface="+mj-ea"/>
            </a:endParaRPr>
          </a:p>
          <a:p>
            <a:r>
              <a:rPr lang="en-US" altLang="zh-CN" sz="2000" b="1" dirty="0">
                <a:solidFill>
                  <a:srgbClr val="060607"/>
                </a:solidFill>
                <a:effectLst/>
                <a:highlight>
                  <a:srgbClr val="FFFFFF"/>
                </a:highlight>
                <a:latin typeface="+mj-ea"/>
                <a:ea typeface="+mj-ea"/>
              </a:rPr>
              <a:t>	</a:t>
            </a:r>
            <a:r>
              <a:rPr lang="zh-CN" altLang="en-US" dirty="0">
                <a:effectLst/>
              </a:rPr>
              <a:t>使用</a:t>
            </a:r>
            <a:r>
              <a:rPr lang="en-US" altLang="zh-CN" dirty="0">
                <a:effectLst/>
              </a:rPr>
              <a:t>LSTM</a:t>
            </a:r>
            <a:r>
              <a:rPr lang="zh-CN" altLang="en-US" dirty="0">
                <a:effectLst/>
              </a:rPr>
              <a:t>对智能合约进行序列分析，但这种方法丢失了合约结构信息。</a:t>
            </a:r>
            <a:endParaRPr lang="en-US" altLang="zh-CN" dirty="0">
              <a:effectLst/>
            </a:endParaRPr>
          </a:p>
          <a:p>
            <a:r>
              <a:rPr lang="en-US" altLang="zh-CN" dirty="0"/>
              <a:t>	</a:t>
            </a:r>
            <a:r>
              <a:rPr lang="zh-CN" altLang="en-US" dirty="0">
                <a:effectLst/>
              </a:rPr>
              <a:t>通过将智能合约转换为图，并使用图神经网络进行检测，然而，他们的模型无法处理具有多种节点类型的异构图，因此他们移除了次要节点，并将其特征聚合成主要节点，导致信息丢失。</a:t>
            </a:r>
            <a:endParaRPr lang="zh-CN" altLang="en-US" dirty="0"/>
          </a:p>
          <a:p>
            <a:endParaRPr lang="zh-CN" altLang="en-US" dirty="0"/>
          </a:p>
          <a:p>
            <a:endParaRPr lang="en-US" altLang="zh-CN" b="1" dirty="0">
              <a:solidFill>
                <a:srgbClr val="060607"/>
              </a:solidFill>
              <a:highlight>
                <a:srgbClr val="FFFFFF"/>
              </a:highlight>
              <a:latin typeface="+mj-ea"/>
              <a:ea typeface="+mj-ea"/>
            </a:endParaRPr>
          </a:p>
          <a:p>
            <a:endParaRPr lang="en-US" altLang="zh-CN" sz="1600" b="1" dirty="0">
              <a:solidFill>
                <a:srgbClr val="060607"/>
              </a:solidFill>
              <a:highlight>
                <a:srgbClr val="FFFFFF"/>
              </a:highlight>
              <a:latin typeface="+mj-ea"/>
              <a:ea typeface="+mj-ea"/>
            </a:endParaRPr>
          </a:p>
          <a:p>
            <a:endParaRPr lang="zh-CN" altLang="en-US" sz="1600" dirty="0">
              <a:solidFill>
                <a:srgbClr val="060607"/>
              </a:solidFill>
              <a:highlight>
                <a:srgbClr val="FFFFFF"/>
              </a:highlight>
              <a:latin typeface="+mn-ea"/>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endParaRPr lang="zh-CN" altLang="en-US" sz="2000" dirty="0">
              <a:latin typeface="+mj-ea"/>
              <a:ea typeface="+mj-ea"/>
            </a:endParaRPr>
          </a:p>
        </p:txBody>
      </p:sp>
      <p:sp>
        <p:nvSpPr>
          <p:cNvPr id="8" name="文本框 7"/>
          <p:cNvSpPr txBox="1"/>
          <p:nvPr/>
        </p:nvSpPr>
        <p:spPr>
          <a:xfrm>
            <a:off x="1089202" y="2046637"/>
            <a:ext cx="10013596" cy="3269613"/>
          </a:xfrm>
          <a:prstGeom prst="rect">
            <a:avLst/>
          </a:prstGeom>
          <a:noFill/>
        </p:spPr>
        <p:txBody>
          <a:bodyPr wrap="square" rtlCol="0">
            <a:spAutoFit/>
          </a:bodyPr>
          <a:lstStyle/>
          <a:p>
            <a:pPr>
              <a:lnSpc>
                <a:spcPct val="150000"/>
              </a:lnSpc>
            </a:pPr>
            <a:r>
              <a:rPr lang="en-US" altLang="zh-CN" sz="2000" b="1" dirty="0">
                <a:effectLst/>
              </a:rPr>
              <a:t>SCVHUNTER</a:t>
            </a:r>
            <a:r>
              <a:rPr lang="zh-CN" altLang="en-US" sz="2000" b="1" dirty="0">
                <a:effectLst/>
              </a:rPr>
              <a:t>：</a:t>
            </a:r>
            <a:endParaRPr lang="en-US" altLang="zh-CN" sz="2000" b="1" dirty="0">
              <a:effectLst/>
            </a:endParaRPr>
          </a:p>
          <a:p>
            <a:pPr>
              <a:lnSpc>
                <a:spcPct val="150000"/>
              </a:lnSpc>
            </a:pPr>
            <a:r>
              <a:rPr lang="en-US" altLang="zh-CN" sz="2000" b="1" dirty="0"/>
              <a:t>	</a:t>
            </a:r>
            <a:r>
              <a:rPr lang="zh-CN" altLang="en-US" sz="2000" dirty="0">
                <a:effectLst/>
              </a:rPr>
              <a:t>一种基于异构合约语义图（</a:t>
            </a:r>
            <a:r>
              <a:rPr lang="en-US" altLang="zh-CN" sz="2000" dirty="0">
                <a:effectLst/>
              </a:rPr>
              <a:t>CSG</a:t>
            </a:r>
            <a:r>
              <a:rPr lang="zh-CN" altLang="en-US" sz="2000" dirty="0">
                <a:effectLst/>
              </a:rPr>
              <a:t>）分析的漏洞检测方法。</a:t>
            </a:r>
            <a:r>
              <a:rPr lang="en-US" altLang="zh-CN" sz="2000" dirty="0">
                <a:effectLst/>
              </a:rPr>
              <a:t>SCVHUNTER</a:t>
            </a:r>
            <a:r>
              <a:rPr lang="zh-CN" altLang="en-US" sz="2000" dirty="0">
                <a:effectLst/>
              </a:rPr>
              <a:t>的主要思想是通过结合简洁的用户提供的核心节点选择规则和使用图神经网络（</a:t>
            </a:r>
            <a:r>
              <a:rPr lang="en-US" altLang="zh-CN" sz="2000" dirty="0">
                <a:effectLst/>
              </a:rPr>
              <a:t>GNN</a:t>
            </a:r>
            <a:r>
              <a:rPr lang="zh-CN" altLang="en-US" sz="2000" dirty="0">
                <a:effectLst/>
              </a:rPr>
              <a:t>）进行特征学习，将智能合约源代码转换为</a:t>
            </a:r>
            <a:r>
              <a:rPr lang="en-US" altLang="zh-CN" sz="2000" dirty="0">
                <a:effectLst/>
              </a:rPr>
              <a:t>CSG</a:t>
            </a:r>
            <a:r>
              <a:rPr lang="zh-CN" altLang="en-US" sz="2000" dirty="0">
                <a:effectLst/>
              </a:rPr>
              <a:t>以检测漏洞。这种设计更具扩展性，并消除了在源代码中编写复杂专家规则的需求，允许通过一行外部输入的命令来指定核心节点，从而在保持效率的同时进一步提高准确性。</a:t>
            </a:r>
            <a:endParaRPr lang="en-US" altLang="zh-CN" sz="2000" b="1" dirty="0">
              <a:solidFill>
                <a:srgbClr val="060607"/>
              </a:solidFill>
              <a:highlight>
                <a:srgbClr val="FFFFFF"/>
              </a:highlight>
              <a:latin typeface="+mj-ea"/>
              <a:ea typeface="+mj-ea"/>
            </a:endParaRPr>
          </a:p>
          <a:p>
            <a:pPr>
              <a:lnSpc>
                <a:spcPct val="150000"/>
              </a:lnSpc>
            </a:pPr>
            <a:endParaRPr lang="en-US" altLang="zh-CN" sz="2000" b="1" dirty="0">
              <a:solidFill>
                <a:srgbClr val="060607"/>
              </a:solidFill>
              <a:highlight>
                <a:srgbClr val="FFFFFF"/>
              </a:highlight>
              <a:latin typeface="+mj-ea"/>
              <a:ea typeface="+mj-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864235" y="1020764"/>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mj-ea"/>
                <a:ea typeface="+mj-ea"/>
              </a:rPr>
              <a:t>Vulnerabilities Description</a:t>
            </a:r>
            <a:endParaRPr lang="en-US" altLang="zh-CN" sz="1600" dirty="0">
              <a:latin typeface="+mj-ea"/>
              <a:ea typeface="+mj-ea"/>
            </a:endParaRPr>
          </a:p>
        </p:txBody>
      </p:sp>
      <p:grpSp>
        <p:nvGrpSpPr>
          <p:cNvPr id="4" name="组合 3"/>
          <p:cNvGrpSpPr/>
          <p:nvPr/>
        </p:nvGrpSpPr>
        <p:grpSpPr>
          <a:xfrm>
            <a:off x="5131500" y="1649705"/>
            <a:ext cx="6848475" cy="2419985"/>
            <a:chOff x="4316766" y="688869"/>
            <a:chExt cx="6848475" cy="2419985"/>
          </a:xfrm>
        </p:grpSpPr>
        <p:sp>
          <p:nvSpPr>
            <p:cNvPr id="11" name="文本框 2"/>
            <p:cNvSpPr txBox="1"/>
            <p:nvPr/>
          </p:nvSpPr>
          <p:spPr>
            <a:xfrm>
              <a:off x="4316955" y="688869"/>
              <a:ext cx="1763949"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n-ea"/>
                </a:rPr>
                <a:t>可重入漏洞</a:t>
              </a:r>
              <a:endParaRPr lang="zh-CN" altLang="en-US" sz="2400" b="1" dirty="0">
                <a:latin typeface="+mn-ea"/>
              </a:endParaRPr>
            </a:p>
          </p:txBody>
        </p:sp>
        <p:sp>
          <p:nvSpPr>
            <p:cNvPr id="12" name="文本框 17"/>
            <p:cNvSpPr txBox="1"/>
            <p:nvPr/>
          </p:nvSpPr>
          <p:spPr>
            <a:xfrm>
              <a:off x="4316766" y="1148609"/>
              <a:ext cx="6848475" cy="196024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000" dirty="0">
                  <a:latin typeface="+mn-ea"/>
                </a:rPr>
                <a:t>此漏洞的主要风险在于它调用外部合约，这些外部合约可能会接管智能合约的控制过程。智能合约的回退机制允许攻击者在上下文切换期间重新进入被调用的函数，这可能导致可重入性漏洞。</a:t>
              </a:r>
              <a:endParaRPr lang="zh-CN" altLang="en-US" sz="2000" dirty="0">
                <a:latin typeface="+mn-ea"/>
              </a:endParaRPr>
            </a:p>
            <a:p>
              <a:pPr>
                <a:lnSpc>
                  <a:spcPct val="120000"/>
                </a:lnSpc>
              </a:pPr>
              <a:endParaRPr lang="zh-CN" altLang="en-US" sz="2000" dirty="0">
                <a:latin typeface="+mn-ea"/>
              </a:endParaRPr>
            </a:p>
          </p:txBody>
        </p:sp>
      </p:grpSp>
      <p:grpSp>
        <p:nvGrpSpPr>
          <p:cNvPr id="6" name="组合 5"/>
          <p:cNvGrpSpPr/>
          <p:nvPr/>
        </p:nvGrpSpPr>
        <p:grpSpPr>
          <a:xfrm>
            <a:off x="264986" y="4745665"/>
            <a:ext cx="6903085" cy="1961515"/>
            <a:chOff x="4328517" y="1568979"/>
            <a:chExt cx="6903085" cy="1961515"/>
          </a:xfrm>
        </p:grpSpPr>
        <p:sp>
          <p:nvSpPr>
            <p:cNvPr id="9" name="文本框 20"/>
            <p:cNvSpPr txBox="1"/>
            <p:nvPr/>
          </p:nvSpPr>
          <p:spPr>
            <a:xfrm>
              <a:off x="4328517" y="1568979"/>
              <a:ext cx="690308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n-ea"/>
                </a:rPr>
                <a:t>区块信息依赖性</a:t>
              </a:r>
              <a:endParaRPr lang="zh-CN" altLang="en-US" sz="2400" b="1" dirty="0">
                <a:latin typeface="+mn-ea"/>
              </a:endParaRPr>
            </a:p>
          </p:txBody>
        </p:sp>
        <p:sp>
          <p:nvSpPr>
            <p:cNvPr id="10" name="文本框 21"/>
            <p:cNvSpPr txBox="1"/>
            <p:nvPr/>
          </p:nvSpPr>
          <p:spPr>
            <a:xfrm>
              <a:off x="4338677" y="1962044"/>
              <a:ext cx="5735955" cy="1568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000" dirty="0">
                  <a:latin typeface="+mn-ea"/>
                </a:rPr>
                <a:t>智能合约可以访问区块信息（包括时间戳、哈希值、</a:t>
              </a:r>
              <a:r>
                <a:rPr lang="en-US" altLang="zh-CN" sz="2000" dirty="0">
                  <a:latin typeface="+mn-ea"/>
                </a:rPr>
                <a:t>gas</a:t>
              </a:r>
              <a:r>
                <a:rPr lang="zh-CN" altLang="en-US" sz="2000" dirty="0">
                  <a:latin typeface="+mn-ea"/>
                </a:rPr>
                <a:t>限制和区块编号）作为执行上下文，但将这些信息用作触发某些关键操作的依据可能会导致区块信息依赖漏洞。</a:t>
              </a:r>
              <a:endParaRPr lang="zh-CN" altLang="en-US" sz="2000" dirty="0">
                <a:latin typeface="+mn-ea"/>
              </a:endParaRPr>
            </a:p>
          </p:txBody>
        </p:sp>
      </p:grpSp>
      <p:pic>
        <p:nvPicPr>
          <p:cNvPr id="7" name="图片 6" descr="5"/>
          <p:cNvPicPr>
            <a:picLocks noChangeAspect="1"/>
          </p:cNvPicPr>
          <p:nvPr/>
        </p:nvPicPr>
        <p:blipFill>
          <a:blip r:embed="rId2"/>
          <a:srcRect r="3504" b="8213"/>
          <a:stretch>
            <a:fillRect/>
          </a:stretch>
        </p:blipFill>
        <p:spPr>
          <a:xfrm>
            <a:off x="47019" y="1573213"/>
            <a:ext cx="4973955" cy="2546985"/>
          </a:xfrm>
          <a:prstGeom prst="rect">
            <a:avLst/>
          </a:prstGeom>
        </p:spPr>
      </p:pic>
      <p:pic>
        <p:nvPicPr>
          <p:cNvPr id="8" name="图片 7" descr="6"/>
          <p:cNvPicPr>
            <a:picLocks noChangeAspect="1"/>
          </p:cNvPicPr>
          <p:nvPr/>
        </p:nvPicPr>
        <p:blipFill>
          <a:blip r:embed="rId3"/>
          <a:srcRect t="2080" r="1413" b="11749"/>
          <a:stretch>
            <a:fillRect/>
          </a:stretch>
        </p:blipFill>
        <p:spPr>
          <a:xfrm>
            <a:off x="6163339" y="4678363"/>
            <a:ext cx="6000115" cy="2028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864235" y="1020764"/>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mj-ea"/>
                <a:ea typeface="+mj-ea"/>
              </a:rPr>
              <a:t>Vulnerabilities Description</a:t>
            </a:r>
            <a:endParaRPr lang="en-US" altLang="zh-CN" sz="1600" dirty="0">
              <a:latin typeface="+mj-ea"/>
              <a:ea typeface="+mj-ea"/>
            </a:endParaRPr>
          </a:p>
        </p:txBody>
      </p:sp>
      <p:grpSp>
        <p:nvGrpSpPr>
          <p:cNvPr id="3" name="组合 2"/>
          <p:cNvGrpSpPr/>
          <p:nvPr/>
        </p:nvGrpSpPr>
        <p:grpSpPr>
          <a:xfrm>
            <a:off x="6357172" y="1692600"/>
            <a:ext cx="5687601" cy="2419985"/>
            <a:chOff x="4316765" y="688869"/>
            <a:chExt cx="6848476" cy="2419985"/>
          </a:xfrm>
        </p:grpSpPr>
        <p:sp>
          <p:nvSpPr>
            <p:cNvPr id="17" name="文本框 2"/>
            <p:cNvSpPr txBox="1"/>
            <p:nvPr/>
          </p:nvSpPr>
          <p:spPr>
            <a:xfrm>
              <a:off x="4316765" y="688869"/>
              <a:ext cx="3600310"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n-ea"/>
                </a:rPr>
                <a:t>交易状态依赖性</a:t>
              </a:r>
              <a:endParaRPr lang="zh-CN" altLang="en-US" sz="2400" b="1" dirty="0">
                <a:latin typeface="+mn-ea"/>
              </a:endParaRPr>
            </a:p>
          </p:txBody>
        </p:sp>
        <p:sp>
          <p:nvSpPr>
            <p:cNvPr id="18" name="文本框 17"/>
            <p:cNvSpPr txBox="1"/>
            <p:nvPr/>
          </p:nvSpPr>
          <p:spPr>
            <a:xfrm>
              <a:off x="4316766" y="1148609"/>
              <a:ext cx="6848475" cy="196024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dirty="0">
                  <a:latin typeface="+mn-ea"/>
                </a:rPr>
                <a:t>在智能合约上下文中，</a:t>
              </a:r>
              <a:r>
                <a:rPr lang="en-US" altLang="zh-CN" dirty="0" err="1">
                  <a:latin typeface="+mn-ea"/>
                </a:rPr>
                <a:t>tx.origin</a:t>
              </a:r>
              <a:r>
                <a:rPr lang="en-US" altLang="zh-CN" dirty="0">
                  <a:latin typeface="+mn-ea"/>
                </a:rPr>
                <a:t> </a:t>
              </a:r>
              <a:r>
                <a:rPr lang="zh-CN" altLang="en-US" dirty="0">
                  <a:latin typeface="+mn-ea"/>
                </a:rPr>
                <a:t>是一个全局变量，返回交易的原始地址，但这种方法不可靠，因为该方法返回的地址取决于交易的状态。因此，如果合约使用 </a:t>
              </a:r>
              <a:r>
                <a:rPr lang="en-US" altLang="zh-CN" dirty="0" err="1">
                  <a:latin typeface="+mn-ea"/>
                </a:rPr>
                <a:t>tx.origin</a:t>
              </a:r>
              <a:r>
                <a:rPr lang="en-US" altLang="zh-CN" dirty="0">
                  <a:latin typeface="+mn-ea"/>
                </a:rPr>
                <a:t> </a:t>
              </a:r>
              <a:r>
                <a:rPr lang="zh-CN" altLang="en-US" dirty="0">
                  <a:latin typeface="+mn-ea"/>
                </a:rPr>
                <a:t>来检查调用者是否拥有某些权限敏感函数的正确权限，可能会导致严重后果。</a:t>
              </a:r>
              <a:endParaRPr lang="zh-CN" altLang="en-US" dirty="0">
                <a:latin typeface="+mn-ea"/>
              </a:endParaRPr>
            </a:p>
          </p:txBody>
        </p:sp>
      </p:grpSp>
      <p:grpSp>
        <p:nvGrpSpPr>
          <p:cNvPr id="5" name="组合 4"/>
          <p:cNvGrpSpPr/>
          <p:nvPr/>
        </p:nvGrpSpPr>
        <p:grpSpPr>
          <a:xfrm>
            <a:off x="323272" y="4788569"/>
            <a:ext cx="6909435" cy="2097405"/>
            <a:chOff x="4322167" y="1568979"/>
            <a:chExt cx="6909435" cy="2419523"/>
          </a:xfrm>
        </p:grpSpPr>
        <p:sp>
          <p:nvSpPr>
            <p:cNvPr id="15" name="文本框 20"/>
            <p:cNvSpPr txBox="1"/>
            <p:nvPr/>
          </p:nvSpPr>
          <p:spPr>
            <a:xfrm>
              <a:off x="4328517" y="1568979"/>
              <a:ext cx="6903085" cy="5310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mn-ea"/>
                </a:rPr>
                <a:t>嵌套调用</a:t>
              </a:r>
              <a:endParaRPr lang="zh-CN" altLang="en-US" sz="2400" b="1" dirty="0">
                <a:latin typeface="+mn-ea"/>
              </a:endParaRPr>
            </a:p>
          </p:txBody>
        </p:sp>
        <p:sp>
          <p:nvSpPr>
            <p:cNvPr id="16" name="文本框 21"/>
            <p:cNvSpPr txBox="1"/>
            <p:nvPr/>
          </p:nvSpPr>
          <p:spPr>
            <a:xfrm>
              <a:off x="4322167" y="2001167"/>
              <a:ext cx="5735955" cy="198733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dirty="0">
                  <a:latin typeface="+mn-ea"/>
                </a:rPr>
                <a:t>在以太坊执行环境中，合约使用</a:t>
              </a:r>
              <a:r>
                <a:rPr lang="en-US" altLang="zh-CN" dirty="0">
                  <a:latin typeface="+mn-ea"/>
                </a:rPr>
                <a:t>CALL</a:t>
              </a:r>
              <a:r>
                <a:rPr lang="zh-CN" altLang="en-US" dirty="0">
                  <a:latin typeface="+mn-ea"/>
                </a:rPr>
                <a:t>命令进行上下文切换的成本非常高（作为</a:t>
              </a:r>
              <a:r>
                <a:rPr lang="en-US" altLang="zh-CN" dirty="0">
                  <a:latin typeface="+mn-ea"/>
                </a:rPr>
                <a:t>CALL</a:t>
              </a:r>
              <a:r>
                <a:rPr lang="zh-CN" altLang="en-US" dirty="0">
                  <a:latin typeface="+mn-ea"/>
                </a:rPr>
                <a:t>操作的一部分，非零值转移需支付</a:t>
              </a:r>
              <a:r>
                <a:rPr lang="en-US" altLang="zh-CN" dirty="0">
                  <a:latin typeface="+mn-ea"/>
                </a:rPr>
                <a:t>9000</a:t>
              </a:r>
              <a:r>
                <a:rPr lang="zh-CN" altLang="en-US" dirty="0">
                  <a:latin typeface="+mn-ea"/>
                </a:rPr>
                <a:t>个</a:t>
              </a:r>
              <a:r>
                <a:rPr lang="en-US" altLang="zh-CN" dirty="0">
                  <a:latin typeface="+mn-ea"/>
                </a:rPr>
                <a:t>gas</a:t>
              </a:r>
              <a:r>
                <a:rPr lang="zh-CN" altLang="en-US" dirty="0">
                  <a:latin typeface="+mn-ea"/>
                </a:rPr>
                <a:t>）。如果一个包含无限制循环迭代的循环含有</a:t>
              </a:r>
              <a:r>
                <a:rPr lang="en-US" altLang="zh-CN" dirty="0">
                  <a:latin typeface="+mn-ea"/>
                </a:rPr>
                <a:t>CALL</a:t>
              </a:r>
              <a:r>
                <a:rPr lang="zh-CN" altLang="en-US" dirty="0">
                  <a:latin typeface="+mn-ea"/>
                </a:rPr>
                <a:t>指令，存在其</a:t>
              </a:r>
              <a:r>
                <a:rPr lang="en-US" altLang="zh-CN" dirty="0">
                  <a:latin typeface="+mn-ea"/>
                </a:rPr>
                <a:t>gas</a:t>
              </a:r>
              <a:r>
                <a:rPr lang="zh-CN" altLang="en-US" dirty="0">
                  <a:latin typeface="+mn-ea"/>
                </a:rPr>
                <a:t>成本超出限制的风险。</a:t>
              </a:r>
              <a:endParaRPr lang="zh-CN" altLang="en-US" dirty="0">
                <a:latin typeface="+mn-ea"/>
              </a:endParaRPr>
            </a:p>
          </p:txBody>
        </p:sp>
      </p:grpSp>
      <p:pic>
        <p:nvPicPr>
          <p:cNvPr id="14" name="图片 13" descr="8"/>
          <p:cNvPicPr>
            <a:picLocks noChangeAspect="1"/>
          </p:cNvPicPr>
          <p:nvPr/>
        </p:nvPicPr>
        <p:blipFill>
          <a:blip r:embed="rId2"/>
          <a:srcRect b="23478"/>
          <a:stretch>
            <a:fillRect/>
          </a:stretch>
        </p:blipFill>
        <p:spPr>
          <a:xfrm>
            <a:off x="6227502" y="5358798"/>
            <a:ext cx="5989955" cy="894080"/>
          </a:xfrm>
          <a:prstGeom prst="rect">
            <a:avLst/>
          </a:prstGeom>
        </p:spPr>
      </p:pic>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rcRect b="12583"/>
          <a:stretch>
            <a:fillRect/>
          </a:stretch>
        </p:blipFill>
        <p:spPr>
          <a:xfrm>
            <a:off x="0" y="1791989"/>
            <a:ext cx="6356171" cy="21048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rcRect b="10025"/>
          <a:stretch>
            <a:fillRect/>
          </a:stretch>
        </p:blipFill>
        <p:spPr>
          <a:xfrm>
            <a:off x="1468582" y="1809200"/>
            <a:ext cx="9476509" cy="42221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5324535"/>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IR Translator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a:p>
            <a:r>
              <a:rPr lang="zh-CN" altLang="en-US" sz="2000" dirty="0">
                <a:effectLst/>
                <a:latin typeface="+mn-ea"/>
                <a:ea typeface="+mn-ea"/>
              </a:rPr>
              <a:t>为了便于将智能合约转换为异构图，</a:t>
            </a:r>
            <a:r>
              <a:rPr lang="en-US" altLang="zh-CN" sz="2000" dirty="0">
                <a:effectLst/>
                <a:latin typeface="+mn-ea"/>
                <a:ea typeface="+mn-ea"/>
              </a:rPr>
              <a:t>IR</a:t>
            </a:r>
            <a:r>
              <a:rPr lang="zh-CN" altLang="en-US" sz="2000" dirty="0">
                <a:effectLst/>
                <a:latin typeface="+mn-ea"/>
                <a:ea typeface="+mn-ea"/>
              </a:rPr>
              <a:t>转换器首先将输入的智能合约转换为一种新的静态单赋值（</a:t>
            </a:r>
            <a:r>
              <a:rPr lang="en-US" altLang="zh-CN" sz="2000" dirty="0">
                <a:effectLst/>
                <a:latin typeface="+mn-ea"/>
                <a:ea typeface="+mn-ea"/>
              </a:rPr>
              <a:t>SSA</a:t>
            </a:r>
            <a:r>
              <a:rPr lang="zh-CN" altLang="en-US" sz="2000" dirty="0">
                <a:effectLst/>
                <a:latin typeface="+mn-ea"/>
                <a:ea typeface="+mn-ea"/>
              </a:rPr>
              <a:t>）形式的</a:t>
            </a:r>
            <a:r>
              <a:rPr lang="en-US" altLang="zh-CN" sz="2000" dirty="0">
                <a:effectLst/>
                <a:latin typeface="+mn-ea"/>
                <a:ea typeface="+mn-ea"/>
              </a:rPr>
              <a:t>IR</a:t>
            </a:r>
            <a:r>
              <a:rPr lang="zh-CN" altLang="en-US" sz="2000" dirty="0">
                <a:effectLst/>
                <a:latin typeface="+mn-ea"/>
                <a:ea typeface="+mn-ea"/>
              </a:rPr>
              <a:t>，称为</a:t>
            </a:r>
            <a:r>
              <a:rPr lang="en-US" altLang="zh-CN" sz="2000" dirty="0">
                <a:effectLst/>
                <a:latin typeface="+mn-ea"/>
                <a:ea typeface="+mn-ea"/>
              </a:rPr>
              <a:t>CGIR</a:t>
            </a:r>
            <a:r>
              <a:rPr lang="zh-CN" altLang="en-US" sz="2000" dirty="0">
                <a:effectLst/>
                <a:latin typeface="+mn-ea"/>
                <a:ea typeface="+mn-ea"/>
              </a:rPr>
              <a:t>，它准确地表示控制和信息数据。为了满足智能合约异构图生成的需求，为</a:t>
            </a:r>
            <a:r>
              <a:rPr lang="en-US" altLang="zh-CN" sz="2000" dirty="0">
                <a:effectLst/>
                <a:latin typeface="+mn-ea"/>
                <a:ea typeface="+mn-ea"/>
              </a:rPr>
              <a:t>CGIR</a:t>
            </a:r>
            <a:r>
              <a:rPr lang="zh-CN" altLang="en-US" sz="2000" dirty="0">
                <a:effectLst/>
                <a:latin typeface="+mn-ea"/>
                <a:ea typeface="+mn-ea"/>
              </a:rPr>
              <a:t>分配了</a:t>
            </a:r>
            <a:r>
              <a:rPr lang="zh-CN" altLang="en-US" sz="2000" b="1" dirty="0">
                <a:effectLst/>
                <a:latin typeface="+mn-ea"/>
                <a:ea typeface="+mn-ea"/>
              </a:rPr>
              <a:t>特殊特征</a:t>
            </a:r>
            <a:r>
              <a:rPr lang="zh-CN" altLang="en-US" sz="2000" dirty="0">
                <a:effectLst/>
                <a:latin typeface="+mn-ea"/>
                <a:ea typeface="+mn-ea"/>
              </a:rPr>
              <a:t>。</a:t>
            </a:r>
            <a:endParaRPr lang="en-US" altLang="zh-CN" sz="2000" dirty="0">
              <a:effectLst/>
              <a:latin typeface="+mn-ea"/>
              <a:ea typeface="+mn-ea"/>
            </a:endParaRPr>
          </a:p>
          <a:p>
            <a:endParaRPr lang="en-US" altLang="zh-CN" sz="2000" dirty="0">
              <a:effectLst/>
              <a:latin typeface="+mn-ea"/>
              <a:ea typeface="+mn-ea"/>
            </a:endParaRPr>
          </a:p>
          <a:p>
            <a:r>
              <a:rPr lang="en-US" altLang="zh-CN" sz="2000" i="0" dirty="0">
                <a:effectLst/>
                <a:latin typeface="+mn-ea"/>
                <a:ea typeface="+mn-ea"/>
              </a:rPr>
              <a:t>F1</a:t>
            </a:r>
            <a:r>
              <a:rPr lang="zh-CN" altLang="en-US" sz="2000" i="0" dirty="0">
                <a:effectLst/>
                <a:latin typeface="+mn-ea"/>
                <a:ea typeface="+mn-ea"/>
              </a:rPr>
              <a:t>：映射、结构和数组被转换为不可变的数据结构。</a:t>
            </a:r>
            <a:endParaRPr lang="en-US" altLang="zh-CN" sz="2000" i="0" dirty="0">
              <a:effectLst/>
              <a:latin typeface="+mn-ea"/>
              <a:ea typeface="+mn-ea"/>
            </a:endParaRPr>
          </a:p>
          <a:p>
            <a:endParaRPr lang="zh-CN" altLang="en-US" sz="2000" i="0" dirty="0">
              <a:effectLst/>
              <a:latin typeface="+mn-ea"/>
              <a:ea typeface="+mn-ea"/>
            </a:endParaRPr>
          </a:p>
          <a:p>
            <a:r>
              <a:rPr lang="en-US" altLang="zh-CN" sz="2000" dirty="0">
                <a:effectLst/>
                <a:latin typeface="+mn-ea"/>
                <a:ea typeface="+mn-ea"/>
              </a:rPr>
              <a:t>F2</a:t>
            </a:r>
            <a:r>
              <a:rPr lang="zh-CN" altLang="en-US" sz="2000" dirty="0">
                <a:effectLst/>
                <a:latin typeface="+mn-ea"/>
                <a:ea typeface="+mn-ea"/>
              </a:rPr>
              <a:t>：具有额外精细合约属性的变量和函数。</a:t>
            </a:r>
            <a:endParaRPr lang="en-US" altLang="zh-CN" sz="2000" dirty="0">
              <a:effectLst/>
              <a:latin typeface="+mn-ea"/>
              <a:ea typeface="+mn-ea"/>
            </a:endParaRPr>
          </a:p>
          <a:p>
            <a:r>
              <a:rPr lang="en-US" altLang="zh-CN" sz="2000" dirty="0">
                <a:latin typeface="+mn-ea"/>
                <a:ea typeface="+mn-ea"/>
              </a:rPr>
              <a:t>	</a:t>
            </a:r>
            <a:r>
              <a:rPr lang="zh-CN" altLang="en-US" sz="2000" dirty="0">
                <a:effectLst/>
                <a:latin typeface="+mn-ea"/>
                <a:ea typeface="+mn-ea"/>
              </a:rPr>
              <a:t>为了在异构图构建阶段根据用户指定的规则自动生成核心节点，我们的</a:t>
            </a:r>
            <a:r>
              <a:rPr lang="en-US" altLang="zh-CN" sz="2000" dirty="0">
                <a:effectLst/>
                <a:latin typeface="+mn-ea"/>
                <a:ea typeface="+mn-ea"/>
              </a:rPr>
              <a:t>CGIR</a:t>
            </a:r>
            <a:r>
              <a:rPr lang="zh-CN" altLang="en-US" sz="2000" dirty="0">
                <a:effectLst/>
                <a:latin typeface="+mn-ea"/>
                <a:ea typeface="+mn-ea"/>
              </a:rPr>
              <a:t>提供了基本类型和精细类型注释。</a:t>
            </a:r>
            <a:endParaRPr lang="en-US" altLang="zh-CN" sz="2000" dirty="0">
              <a:effectLst/>
              <a:latin typeface="+mn-ea"/>
              <a:ea typeface="+mn-ea"/>
            </a:endParaRPr>
          </a:p>
          <a:p>
            <a:r>
              <a:rPr lang="en-US" altLang="zh-CN" sz="2000" dirty="0">
                <a:latin typeface="+mn-ea"/>
                <a:ea typeface="+mn-ea"/>
              </a:rPr>
              <a:t>	</a:t>
            </a:r>
            <a:r>
              <a:rPr lang="zh-CN" altLang="en-US" sz="2000" dirty="0">
                <a:effectLst/>
                <a:latin typeface="+mn-ea"/>
                <a:ea typeface="+mn-ea"/>
              </a:rPr>
              <a:t>对于函数，</a:t>
            </a:r>
            <a:r>
              <a:rPr lang="en-US" altLang="zh-CN" sz="2000" dirty="0">
                <a:effectLst/>
                <a:latin typeface="+mn-ea"/>
                <a:ea typeface="+mn-ea"/>
              </a:rPr>
              <a:t>CGIR</a:t>
            </a:r>
            <a:r>
              <a:rPr lang="zh-CN" altLang="en-US" sz="2000" dirty="0">
                <a:effectLst/>
                <a:latin typeface="+mn-ea"/>
                <a:ea typeface="+mn-ea"/>
              </a:rPr>
              <a:t>提供访问权限和调用类型注释。</a:t>
            </a:r>
            <a:endParaRPr lang="en-US" altLang="zh-CN" sz="2000" dirty="0">
              <a:effectLst/>
              <a:latin typeface="+mn-ea"/>
              <a:ea typeface="+mn-ea"/>
            </a:endParaRPr>
          </a:p>
          <a:p>
            <a:r>
              <a:rPr lang="en-US" altLang="zh-CN" sz="2000" dirty="0">
                <a:latin typeface="+mn-ea"/>
                <a:ea typeface="+mn-ea"/>
              </a:rPr>
              <a:t>	</a:t>
            </a:r>
            <a:r>
              <a:rPr lang="en-US" altLang="zh-CN" sz="2000" dirty="0">
                <a:effectLst/>
                <a:latin typeface="+mn-ea"/>
                <a:ea typeface="+mn-ea"/>
              </a:rPr>
              <a:t>require(</a:t>
            </a:r>
            <a:r>
              <a:rPr lang="en-US" altLang="zh-CN" sz="2000" dirty="0" err="1">
                <a:effectLst/>
                <a:latin typeface="+mn-ea"/>
                <a:ea typeface="+mn-ea"/>
              </a:rPr>
              <a:t>msg.sender</a:t>
            </a:r>
            <a:r>
              <a:rPr lang="en-US" altLang="zh-CN" sz="2000" dirty="0">
                <a:effectLst/>
                <a:latin typeface="+mn-ea"/>
                <a:ea typeface="+mn-ea"/>
              </a:rPr>
              <a:t>== owner)</a:t>
            </a:r>
            <a:endParaRPr lang="zh-CN" altLang="en-US" sz="2000" dirty="0">
              <a:latin typeface="+mn-ea"/>
              <a:ea typeface="+mn-ea"/>
            </a:endParaRPr>
          </a:p>
          <a:p>
            <a:endParaRPr lang="en-US" altLang="zh-CN" sz="2000" dirty="0">
              <a:effectLst/>
              <a:latin typeface="+mn-ea"/>
              <a:ea typeface="+mn-ea"/>
            </a:endParaRPr>
          </a:p>
          <a:p>
            <a:r>
              <a:rPr lang="en-US" altLang="zh-CN" sz="2000" b="0" i="0" dirty="0">
                <a:effectLst/>
                <a:latin typeface="+mn-ea"/>
                <a:ea typeface="+mn-ea"/>
              </a:rPr>
              <a:t>F3</a:t>
            </a:r>
            <a:r>
              <a:rPr lang="zh-CN" altLang="en-US" sz="2000" b="0" i="0" dirty="0">
                <a:effectLst/>
                <a:latin typeface="+mn-ea"/>
                <a:ea typeface="+mn-ea"/>
              </a:rPr>
              <a:t>：构造 </a:t>
            </a:r>
            <a:r>
              <a:rPr lang="en-US" altLang="zh-CN" sz="2000" b="0" i="0" dirty="0">
                <a:effectLst/>
                <a:latin typeface="+mn-ea"/>
                <a:ea typeface="+mn-ea"/>
              </a:rPr>
              <a:t>fallback </a:t>
            </a:r>
            <a:r>
              <a:rPr lang="zh-CN" altLang="en-US" sz="2000" b="0" i="0" dirty="0">
                <a:effectLst/>
                <a:latin typeface="+mn-ea"/>
                <a:ea typeface="+mn-ea"/>
              </a:rPr>
              <a:t>语句来明确表示攻击合约的 </a:t>
            </a:r>
            <a:r>
              <a:rPr lang="en-US" altLang="zh-CN" sz="2000" b="0" i="0" dirty="0">
                <a:effectLst/>
                <a:latin typeface="+mn-ea"/>
                <a:ea typeface="+mn-ea"/>
              </a:rPr>
              <a:t>fallback </a:t>
            </a:r>
            <a:r>
              <a:rPr lang="zh-CN" altLang="en-US" sz="2000" b="0" i="0" dirty="0">
                <a:effectLst/>
                <a:latin typeface="+mn-ea"/>
                <a:ea typeface="+mn-ea"/>
              </a:rPr>
              <a:t>函数。</a:t>
            </a:r>
            <a:endParaRPr lang="zh-CN" altLang="en-US" sz="2000" b="0" i="0" dirty="0">
              <a:effectLst/>
              <a:latin typeface="+mn-ea"/>
              <a:ea typeface="+mn-ea"/>
            </a:endParaRPr>
          </a:p>
          <a:p>
            <a:endParaRPr lang="zh-CN" altLang="en-US" sz="2000" dirty="0">
              <a:latin typeface="+mn-ea"/>
              <a:ea typeface="+mn-ea"/>
            </a:endParaRPr>
          </a:p>
          <a:p>
            <a:endParaRPr lang="zh-CN" altLang="en-US" sz="2000" dirty="0">
              <a:latin typeface="+mn-ea"/>
              <a:ea typeface="+mn-ea"/>
            </a:endParaRPr>
          </a:p>
          <a:p>
            <a:endParaRPr lang="zh-CN" altLang="en-US" sz="2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400110"/>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IR Translator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rcRect r="58864" b="9454"/>
          <a:stretch>
            <a:fillRect/>
          </a:stretch>
        </p:blipFill>
        <p:spPr>
          <a:xfrm>
            <a:off x="6217451" y="695849"/>
            <a:ext cx="5015345" cy="3026920"/>
          </a:xfrm>
          <a:prstGeom prst="rect">
            <a:avLst/>
          </a:prstGeom>
        </p:spPr>
      </p:pic>
      <p:pic>
        <p:nvPicPr>
          <p:cNvPr id="8" name="图片 7" descr="5"/>
          <p:cNvPicPr>
            <a:picLocks noChangeAspect="1"/>
          </p:cNvPicPr>
          <p:nvPr/>
        </p:nvPicPr>
        <p:blipFill>
          <a:blip r:embed="rId3"/>
          <a:srcRect r="3504" b="44529"/>
          <a:stretch>
            <a:fillRect/>
          </a:stretch>
        </p:blipFill>
        <p:spPr>
          <a:xfrm>
            <a:off x="711575" y="2114934"/>
            <a:ext cx="4973955" cy="1539264"/>
          </a:xfrm>
          <a:prstGeom prst="rect">
            <a:avLst/>
          </a:prstGeom>
        </p:spPr>
      </p:pic>
      <p:pic>
        <p:nvPicPr>
          <p:cNvPr id="12" name="图片 11"/>
          <p:cNvPicPr>
            <a:picLocks noChangeAspect="1"/>
          </p:cNvPicPr>
          <p:nvPr/>
        </p:nvPicPr>
        <p:blipFill>
          <a:blip r:embed="rId4"/>
          <a:srcRect t="-1" b="1"/>
          <a:stretch>
            <a:fillRect/>
          </a:stretch>
        </p:blipFill>
        <p:spPr>
          <a:xfrm>
            <a:off x="2172494" y="3857707"/>
            <a:ext cx="7461033" cy="28473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400110"/>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Contract Graph Generator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p:txBody>
      </p:sp>
      <p:sp>
        <p:nvSpPr>
          <p:cNvPr id="3" name="文本框 2"/>
          <p:cNvSpPr txBox="1"/>
          <p:nvPr/>
        </p:nvSpPr>
        <p:spPr>
          <a:xfrm>
            <a:off x="1117600" y="2327564"/>
            <a:ext cx="9892145" cy="3970318"/>
          </a:xfrm>
          <a:prstGeom prst="rect">
            <a:avLst/>
          </a:prstGeom>
          <a:noFill/>
        </p:spPr>
        <p:txBody>
          <a:bodyPr wrap="square" rtlCol="0">
            <a:spAutoFit/>
          </a:bodyPr>
          <a:lstStyle/>
          <a:p>
            <a:r>
              <a:rPr lang="zh-CN" altLang="en-US" b="0" i="0" dirty="0">
                <a:effectLst/>
                <a:latin typeface="+mn-ea"/>
                <a:ea typeface="+mn-ea"/>
              </a:rPr>
              <a:t>将智能合约转换为 </a:t>
            </a:r>
            <a:r>
              <a:rPr lang="en-US" altLang="zh-CN" b="0" i="0" dirty="0">
                <a:effectLst/>
                <a:latin typeface="+mn-ea"/>
                <a:ea typeface="+mn-ea"/>
              </a:rPr>
              <a:t>CGIR </a:t>
            </a:r>
            <a:r>
              <a:rPr lang="zh-CN" altLang="en-US" b="0" i="0" dirty="0">
                <a:effectLst/>
                <a:latin typeface="+mn-ea"/>
                <a:ea typeface="+mn-ea"/>
              </a:rPr>
              <a:t>后，</a:t>
            </a:r>
            <a:r>
              <a:rPr lang="en-US" altLang="zh-CN" b="0" i="0" dirty="0">
                <a:effectLst/>
                <a:latin typeface="+mn-ea"/>
                <a:ea typeface="+mn-ea"/>
              </a:rPr>
              <a:t>Contract Graph Generator </a:t>
            </a:r>
            <a:r>
              <a:rPr lang="zh-CN" altLang="en-US" b="0" i="0" dirty="0">
                <a:effectLst/>
                <a:latin typeface="+mn-ea"/>
                <a:ea typeface="+mn-ea"/>
              </a:rPr>
              <a:t>从 </a:t>
            </a:r>
            <a:r>
              <a:rPr lang="en-US" altLang="zh-CN" b="0" i="0" dirty="0">
                <a:effectLst/>
                <a:latin typeface="+mn-ea"/>
                <a:ea typeface="+mn-ea"/>
              </a:rPr>
              <a:t>IR </a:t>
            </a:r>
            <a:r>
              <a:rPr lang="zh-CN" altLang="en-US" b="0" i="0" dirty="0">
                <a:effectLst/>
                <a:latin typeface="+mn-ea"/>
                <a:ea typeface="+mn-ea"/>
              </a:rPr>
              <a:t>捕获控制和数据流。结合用户输入的核心节点规则提取节点和边类型信息，合约图生成器构建一个异构 </a:t>
            </a:r>
            <a:r>
              <a:rPr lang="en-US" altLang="zh-CN" b="0" i="0" dirty="0">
                <a:effectLst/>
                <a:latin typeface="+mn-ea"/>
                <a:ea typeface="+mn-ea"/>
              </a:rPr>
              <a:t>CSG</a:t>
            </a:r>
            <a:r>
              <a:rPr lang="zh-CN" altLang="en-US" b="0" i="0" dirty="0">
                <a:effectLst/>
                <a:latin typeface="+mn-ea"/>
                <a:ea typeface="+mn-ea"/>
              </a:rPr>
              <a:t>，</a:t>
            </a:r>
            <a:r>
              <a:rPr lang="zh-CN" altLang="en-US" dirty="0">
                <a:effectLst/>
                <a:latin typeface="+mn-ea"/>
                <a:ea typeface="+mn-ea"/>
              </a:rPr>
              <a:t>记作</a:t>
            </a:r>
            <a:r>
              <a:rPr lang="en-US" altLang="zh-CN" dirty="0">
                <a:effectLst/>
                <a:latin typeface="+mn-ea"/>
                <a:ea typeface="+mn-ea"/>
              </a:rPr>
              <a:t>G=(</a:t>
            </a:r>
            <a:r>
              <a:rPr lang="en-US" altLang="zh-CN" dirty="0" err="1">
                <a:effectLst/>
                <a:latin typeface="+mn-ea"/>
                <a:ea typeface="+mn-ea"/>
              </a:rPr>
              <a:t>V,E,φ,ψ</a:t>
            </a:r>
            <a:r>
              <a:rPr lang="en-US" altLang="zh-CN" dirty="0">
                <a:effectLst/>
                <a:latin typeface="+mn-ea"/>
                <a:ea typeface="+mn-ea"/>
              </a:rPr>
              <a:t>)</a:t>
            </a:r>
            <a:r>
              <a:rPr lang="zh-CN" altLang="en-US" dirty="0">
                <a:effectLst/>
                <a:latin typeface="+mn-ea"/>
                <a:ea typeface="+mn-ea"/>
              </a:rPr>
              <a:t>，由顶点集</a:t>
            </a:r>
            <a:r>
              <a:rPr lang="en-US" altLang="zh-CN" dirty="0">
                <a:effectLst/>
                <a:latin typeface="+mn-ea"/>
                <a:ea typeface="+mn-ea"/>
              </a:rPr>
              <a:t>V</a:t>
            </a:r>
            <a:r>
              <a:rPr lang="zh-CN" altLang="en-US" dirty="0">
                <a:effectLst/>
                <a:latin typeface="+mn-ea"/>
                <a:ea typeface="+mn-ea"/>
              </a:rPr>
              <a:t>和边集</a:t>
            </a:r>
            <a:r>
              <a:rPr lang="en-US" altLang="zh-CN" dirty="0">
                <a:effectLst/>
                <a:latin typeface="+mn-ea"/>
                <a:ea typeface="+mn-ea"/>
              </a:rPr>
              <a:t>E</a:t>
            </a:r>
            <a:r>
              <a:rPr lang="zh-CN" altLang="en-US" dirty="0">
                <a:effectLst/>
                <a:latin typeface="+mn-ea"/>
                <a:ea typeface="+mn-ea"/>
              </a:rPr>
              <a:t>组成。</a:t>
            </a:r>
            <a:r>
              <a:rPr lang="en-US" altLang="zh-CN" dirty="0">
                <a:effectLst/>
                <a:latin typeface="+mn-ea"/>
                <a:ea typeface="+mn-ea"/>
              </a:rPr>
              <a:t>φ(V)→A</a:t>
            </a:r>
            <a:r>
              <a:rPr lang="zh-CN" altLang="en-US" dirty="0">
                <a:effectLst/>
                <a:latin typeface="+mn-ea"/>
                <a:ea typeface="+mn-ea"/>
              </a:rPr>
              <a:t>是一个节点类型映射函数。</a:t>
            </a:r>
            <a:r>
              <a:rPr lang="en-US" altLang="zh-CN" dirty="0">
                <a:effectLst/>
                <a:latin typeface="+mn-ea"/>
                <a:ea typeface="+mn-ea"/>
              </a:rPr>
              <a:t>ψ(E)→R </a:t>
            </a:r>
            <a:r>
              <a:rPr lang="zh-CN" altLang="en-US" dirty="0">
                <a:effectLst/>
                <a:latin typeface="+mn-ea"/>
                <a:ea typeface="+mn-ea"/>
              </a:rPr>
              <a:t>是一个边类型映射函数。</a:t>
            </a:r>
            <a:r>
              <a:rPr lang="en-US" altLang="zh-CN" dirty="0">
                <a:effectLst/>
                <a:latin typeface="+mn-ea"/>
                <a:ea typeface="+mn-ea"/>
              </a:rPr>
              <a:t>A </a:t>
            </a:r>
            <a:r>
              <a:rPr lang="zh-CN" altLang="en-US" dirty="0">
                <a:effectLst/>
                <a:latin typeface="+mn-ea"/>
                <a:ea typeface="+mn-ea"/>
              </a:rPr>
              <a:t>和 </a:t>
            </a:r>
            <a:r>
              <a:rPr lang="en-US" altLang="zh-CN" dirty="0">
                <a:effectLst/>
                <a:latin typeface="+mn-ea"/>
                <a:ea typeface="+mn-ea"/>
              </a:rPr>
              <a:t>R </a:t>
            </a:r>
            <a:r>
              <a:rPr lang="zh-CN" altLang="en-US" dirty="0">
                <a:effectLst/>
                <a:latin typeface="+mn-ea"/>
                <a:ea typeface="+mn-ea"/>
              </a:rPr>
              <a:t>分别是节点类型和边类型的集合。</a:t>
            </a:r>
            <a:r>
              <a:rPr lang="en-US" altLang="zh-CN" dirty="0">
                <a:effectLst/>
                <a:latin typeface="+mn-ea"/>
                <a:ea typeface="+mn-ea"/>
              </a:rPr>
              <a:t>CSG </a:t>
            </a:r>
            <a:r>
              <a:rPr lang="zh-CN" altLang="en-US" dirty="0">
                <a:effectLst/>
                <a:latin typeface="+mn-ea"/>
                <a:ea typeface="+mn-ea"/>
              </a:rPr>
              <a:t>是一个有向图，用于模拟执行流程。</a:t>
            </a:r>
            <a:endParaRPr lang="en-US" altLang="zh-CN" dirty="0">
              <a:effectLst/>
              <a:latin typeface="+mn-ea"/>
              <a:ea typeface="+mn-ea"/>
            </a:endParaRPr>
          </a:p>
          <a:p>
            <a:endParaRPr lang="en-US" altLang="zh-CN" dirty="0">
              <a:latin typeface="+mn-ea"/>
              <a:ea typeface="+mn-ea"/>
            </a:endParaRPr>
          </a:p>
          <a:p>
            <a:r>
              <a:rPr lang="zh-CN" altLang="en-US" dirty="0">
                <a:effectLst/>
              </a:rPr>
              <a:t>在 </a:t>
            </a:r>
            <a:r>
              <a:rPr lang="en-US" altLang="zh-CN" dirty="0">
                <a:effectLst/>
              </a:rPr>
              <a:t>CSG </a:t>
            </a:r>
            <a:r>
              <a:rPr lang="zh-CN" altLang="en-US" dirty="0">
                <a:effectLst/>
              </a:rPr>
              <a:t>中的节点代表智能合约中的变量或函数调用。并非所有节点在漏洞检测过程中都同等重要，重要节点的类型特定于漏洞类型。因此，我们为 </a:t>
            </a:r>
            <a:r>
              <a:rPr lang="en-US" altLang="zh-CN" dirty="0">
                <a:effectLst/>
              </a:rPr>
              <a:t>CSG </a:t>
            </a:r>
            <a:r>
              <a:rPr lang="zh-CN" altLang="en-US" dirty="0">
                <a:effectLst/>
              </a:rPr>
              <a:t>制定了四种类型的节点，即核心节点、调用节点、变量节点和</a:t>
            </a:r>
            <a:r>
              <a:rPr lang="en-US" altLang="zh-CN" dirty="0">
                <a:effectLst/>
              </a:rPr>
              <a:t>Fallback</a:t>
            </a:r>
            <a:r>
              <a:rPr lang="zh-CN" altLang="en-US" dirty="0">
                <a:effectLst/>
              </a:rPr>
              <a:t>节点。</a:t>
            </a:r>
            <a:endParaRPr lang="en-US" altLang="zh-CN" dirty="0">
              <a:effectLst/>
            </a:endParaRPr>
          </a:p>
          <a:p>
            <a:endParaRPr lang="en-US" altLang="zh-CN" dirty="0">
              <a:effectLst/>
            </a:endParaRPr>
          </a:p>
          <a:p>
            <a:r>
              <a:rPr lang="zh-CN" altLang="en-US" b="1" dirty="0">
                <a:effectLst/>
              </a:rPr>
              <a:t>核心节点。</a:t>
            </a:r>
            <a:r>
              <a:rPr lang="zh-CN" altLang="en-US" dirty="0">
                <a:effectLst/>
              </a:rPr>
              <a:t>核心节点象征着与漏洞存在相关的关键变量或函数调用。</a:t>
            </a:r>
            <a:endParaRPr lang="zh-CN" altLang="en-US" dirty="0"/>
          </a:p>
          <a:p>
            <a:pPr marL="0" marR="0">
              <a:buNone/>
            </a:pPr>
            <a:r>
              <a:rPr lang="zh-CN" altLang="en-US" b="1" dirty="0">
                <a:effectLst/>
              </a:rPr>
              <a:t>调用节点。</a:t>
            </a:r>
            <a:r>
              <a:rPr lang="zh-CN" altLang="en-US" dirty="0">
                <a:effectLst/>
              </a:rPr>
              <a:t>未被提取为核心节点的函数调用被建模为调用节点。</a:t>
            </a:r>
            <a:endParaRPr lang="zh-CN" altLang="en-US" dirty="0">
              <a:effectLst/>
            </a:endParaRPr>
          </a:p>
          <a:p>
            <a:pPr marL="0" marR="0">
              <a:buNone/>
            </a:pPr>
            <a:r>
              <a:rPr lang="zh-CN" altLang="en-US" b="1" dirty="0">
                <a:effectLst/>
              </a:rPr>
              <a:t>变量节点。</a:t>
            </a:r>
            <a:r>
              <a:rPr lang="zh-CN" altLang="en-US" dirty="0">
                <a:effectLst/>
              </a:rPr>
              <a:t>与调用节点类似，未被提取为核心节点的变量被建模为变量节点。</a:t>
            </a:r>
            <a:endParaRPr lang="zh-CN" altLang="en-US" dirty="0">
              <a:effectLst/>
            </a:endParaRPr>
          </a:p>
          <a:p>
            <a:pPr marL="0" marR="0"/>
            <a:r>
              <a:rPr lang="en-US" altLang="zh-CN" b="1" dirty="0">
                <a:effectLst/>
              </a:rPr>
              <a:t>Fallback</a:t>
            </a:r>
            <a:r>
              <a:rPr lang="zh-CN" altLang="en-US" b="1" dirty="0">
                <a:effectLst/>
              </a:rPr>
              <a:t>节点。</a:t>
            </a:r>
            <a:r>
              <a:rPr lang="zh-CN" altLang="en-US" dirty="0">
                <a:effectLst/>
              </a:rPr>
              <a:t>智能合约中的许多漏洞直接或间接与回退函数有关。</a:t>
            </a:r>
            <a:endParaRPr lang="zh-CN" altLang="en-US" dirty="0"/>
          </a:p>
          <a:p>
            <a:endParaRPr lang="zh-CN" altLang="en-US" dirty="0">
              <a:effectLst/>
              <a:latin typeface="+mn-ea"/>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400110"/>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Contract Graph Generator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9453" y="3781218"/>
            <a:ext cx="8913091" cy="307678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048" y="3055239"/>
            <a:ext cx="8851900" cy="508000"/>
          </a:xfrm>
          <a:prstGeom prst="rect">
            <a:avLst/>
          </a:prstGeom>
        </p:spPr>
      </p:pic>
      <p:sp>
        <p:nvSpPr>
          <p:cNvPr id="9" name="文本框 8"/>
          <p:cNvSpPr txBox="1"/>
          <p:nvPr/>
        </p:nvSpPr>
        <p:spPr>
          <a:xfrm>
            <a:off x="1182255" y="2336800"/>
            <a:ext cx="9744363" cy="923330"/>
          </a:xfrm>
          <a:prstGeom prst="rect">
            <a:avLst/>
          </a:prstGeom>
          <a:noFill/>
        </p:spPr>
        <p:txBody>
          <a:bodyPr wrap="square" rtlCol="0">
            <a:spAutoFit/>
          </a:bodyPr>
          <a:lstStyle/>
          <a:p>
            <a:r>
              <a:rPr lang="zh-CN" altLang="en-US" dirty="0">
                <a:effectLst/>
              </a:rPr>
              <a:t>为了方便用户在检测漏洞时指定核心节点，我们将选择核心变量节点以及核心调用节点的规则形式化如下。</a:t>
            </a:r>
            <a:endParaRPr lang="zh-CN" altLang="en-US" dirty="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400110"/>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Contract Graph Generator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p:txBody>
      </p:sp>
      <p:sp>
        <p:nvSpPr>
          <p:cNvPr id="9" name="文本框 8"/>
          <p:cNvSpPr txBox="1"/>
          <p:nvPr/>
        </p:nvSpPr>
        <p:spPr>
          <a:xfrm>
            <a:off x="1034474" y="2336800"/>
            <a:ext cx="9744363" cy="369332"/>
          </a:xfrm>
          <a:prstGeom prst="rect">
            <a:avLst/>
          </a:prstGeom>
          <a:noFill/>
        </p:spPr>
        <p:txBody>
          <a:bodyPr wrap="square" rtlCol="0">
            <a:spAutoFit/>
          </a:bodyPr>
          <a:lstStyle/>
          <a:p>
            <a:r>
              <a:rPr lang="zh-CN" altLang="en-US" dirty="0">
                <a:effectLst/>
              </a:rPr>
              <a:t>为了捕捉节点之间丰富的语义关系，定义了两个级别的边分类</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6874" y="2855867"/>
            <a:ext cx="6769548" cy="3585650"/>
          </a:xfrm>
          <a:prstGeom prst="rect">
            <a:avLst/>
          </a:prstGeom>
        </p:spPr>
      </p:pic>
      <p:sp>
        <p:nvSpPr>
          <p:cNvPr id="7" name="文本框 6"/>
          <p:cNvSpPr txBox="1"/>
          <p:nvPr/>
        </p:nvSpPr>
        <p:spPr>
          <a:xfrm>
            <a:off x="1029165" y="3771529"/>
            <a:ext cx="3856872" cy="1754326"/>
          </a:xfrm>
          <a:prstGeom prst="rect">
            <a:avLst/>
          </a:prstGeom>
          <a:noFill/>
        </p:spPr>
        <p:txBody>
          <a:bodyPr wrap="square" rtlCol="0">
            <a:spAutoFit/>
          </a:bodyPr>
          <a:lstStyle/>
          <a:p>
            <a:r>
              <a:rPr lang="zh-CN" altLang="en-US" dirty="0">
                <a:effectLst/>
              </a:rPr>
              <a:t>创建了一个细粒度一级类型集</a:t>
            </a:r>
            <a:r>
              <a:rPr lang="en-US" altLang="zh-CN" dirty="0">
                <a:effectLst/>
              </a:rPr>
              <a:t>FT</a:t>
            </a:r>
            <a:r>
              <a:rPr lang="zh-CN" altLang="en-US" dirty="0">
                <a:effectLst/>
              </a:rPr>
              <a:t>，包含</a:t>
            </a:r>
            <a:r>
              <a:rPr lang="en-US" altLang="zh-CN" dirty="0">
                <a:effectLst/>
              </a:rPr>
              <a:t>11</a:t>
            </a:r>
            <a:r>
              <a:rPr lang="zh-CN" altLang="en-US" dirty="0">
                <a:effectLst/>
              </a:rPr>
              <a:t>种类型的边。</a:t>
            </a:r>
            <a:endParaRPr lang="en-US" altLang="zh-CN" dirty="0">
              <a:effectLst/>
            </a:endParaRPr>
          </a:p>
          <a:p>
            <a:endParaRPr lang="en-US" altLang="zh-CN" dirty="0"/>
          </a:p>
          <a:p>
            <a:r>
              <a:rPr lang="zh-CN" altLang="en-US" dirty="0">
                <a:effectLst/>
              </a:rPr>
              <a:t>构建了一个粗粒度二级分类</a:t>
            </a:r>
            <a:r>
              <a:rPr lang="en-US" altLang="zh-CN" dirty="0">
                <a:effectLst/>
              </a:rPr>
              <a:t>ST</a:t>
            </a:r>
            <a:r>
              <a:rPr lang="zh-CN" altLang="en-US" dirty="0">
                <a:effectLst/>
              </a:rPr>
              <a:t>，将所有边归类为控制流、数据流和回退边。</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sp>
        <p:nvSpPr>
          <p:cNvPr id="4" name="文本框 3"/>
          <p:cNvSpPr txBox="1"/>
          <p:nvPr/>
        </p:nvSpPr>
        <p:spPr>
          <a:xfrm>
            <a:off x="1029165" y="1809199"/>
            <a:ext cx="10133669" cy="400110"/>
          </a:xfrm>
          <a:prstGeom prst="rect">
            <a:avLst/>
          </a:prstGeom>
          <a:noFill/>
        </p:spPr>
        <p:txBody>
          <a:bodyPr wrap="square" rtlCol="0">
            <a:spAutoFit/>
          </a:bodyPr>
          <a:lstStyle/>
          <a:p>
            <a:r>
              <a:rPr lang="en-US" altLang="zh-CN" sz="2000" b="1" i="0" dirty="0">
                <a:solidFill>
                  <a:srgbClr val="333333"/>
                </a:solidFill>
                <a:effectLst/>
                <a:latin typeface="Georgia" panose="02040502050405020303" pitchFamily="18" charset="0"/>
              </a:rPr>
              <a:t>Vulnerability Detector</a:t>
            </a:r>
            <a:r>
              <a:rPr lang="zh-CN" altLang="en-US" sz="2000" b="1" i="0" dirty="0">
                <a:solidFill>
                  <a:srgbClr val="333333"/>
                </a:solidFill>
                <a:effectLst/>
                <a:latin typeface="Georgia" panose="02040502050405020303" pitchFamily="18" charset="0"/>
              </a:rPr>
              <a:t>：</a:t>
            </a:r>
            <a:endParaRPr lang="en-US" altLang="zh-CN" sz="2000" b="1" i="0" dirty="0">
              <a:solidFill>
                <a:srgbClr val="333333"/>
              </a:solidFill>
              <a:effectLst/>
              <a:latin typeface="Georgia" panose="02040502050405020303" pitchFamily="18" charset="0"/>
            </a:endParaRPr>
          </a:p>
        </p:txBody>
      </p:sp>
      <p:sp>
        <p:nvSpPr>
          <p:cNvPr id="9" name="文本框 8"/>
          <p:cNvSpPr txBox="1"/>
          <p:nvPr/>
        </p:nvSpPr>
        <p:spPr>
          <a:xfrm>
            <a:off x="1029165" y="2344247"/>
            <a:ext cx="2988653" cy="4401205"/>
          </a:xfrm>
          <a:prstGeom prst="rect">
            <a:avLst/>
          </a:prstGeom>
          <a:noFill/>
        </p:spPr>
        <p:txBody>
          <a:bodyPr wrap="square" rtlCol="0">
            <a:spAutoFit/>
          </a:bodyPr>
          <a:lstStyle/>
          <a:p>
            <a:r>
              <a:rPr lang="zh-CN" altLang="en-US" sz="2000" dirty="0">
                <a:effectLst/>
                <a:latin typeface="+mn-ea"/>
                <a:ea typeface="+mn-ea"/>
              </a:rPr>
              <a:t>基于元路径设计了一个节点级和路径级双层注意力机制的漏洞检测器，以更彻底地挖掘</a:t>
            </a:r>
            <a:r>
              <a:rPr lang="en-US" altLang="zh-CN" sz="2000" dirty="0">
                <a:effectLst/>
                <a:latin typeface="+mn-ea"/>
                <a:ea typeface="+mn-ea"/>
              </a:rPr>
              <a:t>CSG</a:t>
            </a:r>
            <a:r>
              <a:rPr lang="zh-CN" altLang="en-US" sz="2000" dirty="0">
                <a:effectLst/>
                <a:latin typeface="+mn-ea"/>
                <a:ea typeface="+mn-ea"/>
              </a:rPr>
              <a:t>中的句法和语义信息。</a:t>
            </a:r>
            <a:endParaRPr lang="en-US" altLang="zh-CN" sz="2000" dirty="0">
              <a:effectLst/>
              <a:latin typeface="+mn-ea"/>
              <a:ea typeface="+mn-ea"/>
            </a:endParaRPr>
          </a:p>
          <a:p>
            <a:endParaRPr lang="en-US" altLang="zh-CN" sz="2000" dirty="0">
              <a:latin typeface="+mn-ea"/>
              <a:ea typeface="+mn-ea"/>
            </a:endParaRPr>
          </a:p>
          <a:p>
            <a:r>
              <a:rPr lang="zh-CN" altLang="en-US" sz="2000" dirty="0">
                <a:latin typeface="+mn-ea"/>
                <a:ea typeface="+mn-ea"/>
              </a:rPr>
              <a:t>元路径被定义为一个形如</a:t>
            </a:r>
            <a:endParaRPr lang="en-US" altLang="zh-CN" sz="2000" dirty="0">
              <a:latin typeface="+mn-ea"/>
              <a:ea typeface="+mn-ea"/>
            </a:endParaRPr>
          </a:p>
          <a:p>
            <a:endParaRPr lang="en-US" altLang="zh-CN" sz="2000" dirty="0">
              <a:latin typeface="+mn-ea"/>
              <a:ea typeface="+mn-ea"/>
            </a:endParaRPr>
          </a:p>
          <a:p>
            <a:endParaRPr lang="en-US" altLang="zh-CN" sz="2000" dirty="0">
              <a:latin typeface="+mn-ea"/>
              <a:ea typeface="+mn-ea"/>
            </a:endParaRPr>
          </a:p>
          <a:p>
            <a:r>
              <a:rPr lang="zh-CN" altLang="en-US" sz="2000" dirty="0">
                <a:latin typeface="+mn-ea"/>
                <a:ea typeface="+mn-ea"/>
              </a:rPr>
              <a:t>的路径，它定义了在类型</a:t>
            </a:r>
            <a:r>
              <a:rPr lang="en-US" altLang="zh-CN" sz="2000" dirty="0">
                <a:latin typeface="+mn-ea"/>
                <a:ea typeface="+mn-ea"/>
              </a:rPr>
              <a:t>A1</a:t>
            </a:r>
            <a:r>
              <a:rPr lang="zh-CN" altLang="en-US" sz="2000" dirty="0">
                <a:latin typeface="+mn-ea"/>
                <a:ea typeface="+mn-ea"/>
              </a:rPr>
              <a:t>和</a:t>
            </a:r>
            <a:r>
              <a:rPr lang="en-US" altLang="zh-CN" sz="2000" dirty="0">
                <a:latin typeface="+mn-ea"/>
                <a:ea typeface="+mn-ea"/>
              </a:rPr>
              <a:t>Al+1</a:t>
            </a:r>
            <a:r>
              <a:rPr lang="zh-CN" altLang="en-US" sz="2000" dirty="0">
                <a:latin typeface="+mn-ea"/>
                <a:ea typeface="+mn-ea"/>
              </a:rPr>
              <a:t>之间的复合关系</a:t>
            </a:r>
            <a:r>
              <a:rPr lang="en-US" altLang="zh-CN" sz="2000" dirty="0">
                <a:latin typeface="+mn-ea"/>
                <a:ea typeface="+mn-ea"/>
              </a:rPr>
              <a:t>R= R1 o R2 o... o R1</a:t>
            </a:r>
            <a:r>
              <a:rPr lang="zh-CN" altLang="en-US" sz="2000" dirty="0">
                <a:latin typeface="+mn-ea"/>
                <a:ea typeface="+mn-ea"/>
              </a:rPr>
              <a:t>，其中</a:t>
            </a:r>
            <a:r>
              <a:rPr lang="en-US" altLang="zh-CN" sz="2000" dirty="0">
                <a:latin typeface="+mn-ea"/>
                <a:ea typeface="+mn-ea"/>
              </a:rPr>
              <a:t>o</a:t>
            </a:r>
            <a:r>
              <a:rPr lang="zh-CN" altLang="en-US" sz="2000" dirty="0">
                <a:latin typeface="+mn-ea"/>
                <a:ea typeface="+mn-ea"/>
              </a:rPr>
              <a:t>表示关系上的复合操作符。</a:t>
            </a:r>
            <a:endParaRPr lang="zh-CN" altLang="en-US" sz="2000" dirty="0">
              <a:latin typeface="+mn-ea"/>
              <a:ea typeface="+mn-ea"/>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2374" y="1944254"/>
            <a:ext cx="7823619" cy="4622799"/>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491" y="4622756"/>
            <a:ext cx="2549236" cy="4328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实验设置</a:t>
            </a:r>
            <a:endParaRPr lang="zh-CN" altLang="en-US" sz="2000" dirty="0">
              <a:latin typeface="+mj-ea"/>
              <a:ea typeface="+mj-ea"/>
            </a:endParaRPr>
          </a:p>
        </p:txBody>
      </p:sp>
      <p:sp>
        <p:nvSpPr>
          <p:cNvPr id="7" name="文本框 6"/>
          <p:cNvSpPr txBox="1"/>
          <p:nvPr/>
        </p:nvSpPr>
        <p:spPr>
          <a:xfrm>
            <a:off x="350982" y="2096655"/>
            <a:ext cx="11305309" cy="2923877"/>
          </a:xfrm>
          <a:prstGeom prst="rect">
            <a:avLst/>
          </a:prstGeom>
          <a:noFill/>
        </p:spPr>
        <p:txBody>
          <a:bodyPr wrap="square">
            <a:spAutoFit/>
          </a:bodyPr>
          <a:lstStyle/>
          <a:p>
            <a:pPr algn="l"/>
            <a:r>
              <a:rPr lang="zh-CN" altLang="en-US" sz="2400" b="1" i="0" dirty="0">
                <a:solidFill>
                  <a:srgbClr val="0F1728"/>
                </a:solidFill>
                <a:effectLst/>
                <a:highlight>
                  <a:srgbClr val="FFFFFF"/>
                </a:highlight>
                <a:latin typeface="-apple-system"/>
              </a:rPr>
              <a:t>研究问题：</a:t>
            </a:r>
            <a:endParaRPr lang="en-US" altLang="zh-CN" sz="2400" b="1" i="0" dirty="0">
              <a:solidFill>
                <a:srgbClr val="0F1728"/>
              </a:solidFill>
              <a:effectLst/>
              <a:highlight>
                <a:srgbClr val="FFFFFF"/>
              </a:highlight>
              <a:latin typeface="-apple-system"/>
            </a:endParaRPr>
          </a:p>
          <a:p>
            <a:pPr algn="l"/>
            <a:endParaRPr lang="en-US" altLang="zh-CN" sz="2000" b="0" i="0" dirty="0">
              <a:solidFill>
                <a:srgbClr val="0F1728"/>
              </a:solidFill>
              <a:effectLst/>
              <a:highlight>
                <a:srgbClr val="FFFFFF"/>
              </a:highlight>
              <a:latin typeface="+mn-ea"/>
              <a:ea typeface="+mn-ea"/>
            </a:endParaRPr>
          </a:p>
          <a:p>
            <a:r>
              <a:rPr lang="en-US" altLang="zh-CN" sz="2000" b="1" dirty="0">
                <a:effectLst/>
                <a:latin typeface="+mn-ea"/>
                <a:ea typeface="+mn-ea"/>
              </a:rPr>
              <a:t>RQ1</a:t>
            </a:r>
            <a:r>
              <a:rPr lang="zh-CN" altLang="en-US" sz="2000" b="1" dirty="0">
                <a:effectLst/>
                <a:latin typeface="+mn-ea"/>
                <a:ea typeface="+mn-ea"/>
              </a:rPr>
              <a:t>：</a:t>
            </a:r>
            <a:r>
              <a:rPr lang="en-US" altLang="zh-CN" sz="2000" dirty="0">
                <a:effectLst/>
                <a:latin typeface="+mn-ea"/>
                <a:ea typeface="+mn-ea"/>
              </a:rPr>
              <a:t>SCVHUNTER</a:t>
            </a:r>
            <a:r>
              <a:rPr lang="zh-CN" altLang="en-US" sz="2000" dirty="0">
                <a:effectLst/>
                <a:latin typeface="+mn-ea"/>
                <a:ea typeface="+mn-ea"/>
              </a:rPr>
              <a:t>相较于其他基于神经网络的方法表现如何？</a:t>
            </a:r>
            <a:endParaRPr lang="en-US" altLang="zh-CN" sz="2000" dirty="0">
              <a:effectLst/>
              <a:latin typeface="+mn-ea"/>
              <a:ea typeface="+mn-ea"/>
            </a:endParaRPr>
          </a:p>
          <a:p>
            <a:endParaRPr lang="en-US" altLang="zh-CN" sz="2000" dirty="0">
              <a:effectLst/>
              <a:latin typeface="+mn-ea"/>
              <a:ea typeface="+mn-ea"/>
            </a:endParaRPr>
          </a:p>
          <a:p>
            <a:r>
              <a:rPr lang="en-US" altLang="zh-CN" sz="2000" b="1" dirty="0">
                <a:effectLst/>
                <a:latin typeface="+mn-ea"/>
                <a:ea typeface="+mn-ea"/>
              </a:rPr>
              <a:t>RQ2</a:t>
            </a:r>
            <a:r>
              <a:rPr lang="zh-CN" altLang="en-US" sz="2000" b="1" dirty="0">
                <a:effectLst/>
                <a:latin typeface="+mn-ea"/>
                <a:ea typeface="+mn-ea"/>
              </a:rPr>
              <a:t>：</a:t>
            </a:r>
            <a:r>
              <a:rPr lang="en-US" altLang="zh-CN" sz="2000" dirty="0">
                <a:effectLst/>
                <a:latin typeface="+mn-ea"/>
                <a:ea typeface="+mn-ea"/>
              </a:rPr>
              <a:t>SCVHUNTER</a:t>
            </a:r>
            <a:r>
              <a:rPr lang="zh-CN" altLang="en-US" sz="2000" dirty="0">
                <a:effectLst/>
                <a:latin typeface="+mn-ea"/>
                <a:ea typeface="+mn-ea"/>
              </a:rPr>
              <a:t>与最先进的传统智能合约漏洞检测方法相比如何？</a:t>
            </a:r>
            <a:endParaRPr lang="en-US" altLang="zh-CN" sz="2000" dirty="0">
              <a:effectLst/>
              <a:latin typeface="+mn-ea"/>
              <a:ea typeface="+mn-ea"/>
            </a:endParaRPr>
          </a:p>
          <a:p>
            <a:endParaRPr lang="en-US" altLang="zh-CN" sz="2000" dirty="0">
              <a:effectLst/>
              <a:latin typeface="+mn-ea"/>
              <a:ea typeface="+mn-ea"/>
            </a:endParaRPr>
          </a:p>
          <a:p>
            <a:r>
              <a:rPr lang="en-US" altLang="zh-CN" sz="2000" b="1" dirty="0">
                <a:effectLst/>
                <a:latin typeface="+mn-ea"/>
                <a:ea typeface="+mn-ea"/>
              </a:rPr>
              <a:t>RQ3</a:t>
            </a:r>
            <a:r>
              <a:rPr lang="zh-CN" altLang="en-US" sz="2000" b="1" dirty="0">
                <a:effectLst/>
                <a:latin typeface="+mn-ea"/>
                <a:ea typeface="+mn-ea"/>
              </a:rPr>
              <a:t>：</a:t>
            </a:r>
            <a:r>
              <a:rPr lang="en-US" altLang="zh-CN" sz="2000" dirty="0">
                <a:effectLst/>
                <a:latin typeface="+mn-ea"/>
                <a:ea typeface="+mn-ea"/>
              </a:rPr>
              <a:t>SCVHUNTER</a:t>
            </a:r>
            <a:r>
              <a:rPr lang="zh-CN" altLang="en-US" sz="2000" dirty="0">
                <a:effectLst/>
                <a:latin typeface="+mn-ea"/>
                <a:ea typeface="+mn-ea"/>
              </a:rPr>
              <a:t>进行漏洞检测任务的时间开销是多少？</a:t>
            </a:r>
            <a:endParaRPr lang="en-US" altLang="zh-CN" sz="2000" dirty="0">
              <a:effectLst/>
              <a:latin typeface="+mn-ea"/>
              <a:ea typeface="+mn-ea"/>
            </a:endParaRPr>
          </a:p>
          <a:p>
            <a:endParaRPr lang="en-US" altLang="zh-CN" sz="2000" dirty="0">
              <a:effectLst/>
              <a:latin typeface="+mn-ea"/>
              <a:ea typeface="+mn-ea"/>
            </a:endParaRPr>
          </a:p>
          <a:p>
            <a:r>
              <a:rPr lang="en-US" altLang="zh-CN" sz="2000" b="1" dirty="0">
                <a:effectLst/>
                <a:latin typeface="+mn-ea"/>
                <a:ea typeface="+mn-ea"/>
              </a:rPr>
              <a:t>RQ4</a:t>
            </a:r>
            <a:r>
              <a:rPr lang="zh-CN" altLang="en-US" sz="2000" b="1" dirty="0">
                <a:effectLst/>
                <a:latin typeface="+mn-ea"/>
                <a:ea typeface="+mn-ea"/>
              </a:rPr>
              <a:t>：</a:t>
            </a:r>
            <a:r>
              <a:rPr lang="zh-CN" altLang="en-US" sz="2000" dirty="0">
                <a:effectLst/>
                <a:latin typeface="+mn-ea"/>
                <a:ea typeface="+mn-ea"/>
              </a:rPr>
              <a:t>我们提出的核心节点规则结合异构</a:t>
            </a:r>
            <a:r>
              <a:rPr lang="en-US" altLang="zh-CN" sz="2000" dirty="0">
                <a:effectLst/>
                <a:latin typeface="+mn-ea"/>
                <a:ea typeface="+mn-ea"/>
              </a:rPr>
              <a:t>CSG</a:t>
            </a:r>
            <a:r>
              <a:rPr lang="zh-CN" altLang="en-US" sz="2000" dirty="0">
                <a:effectLst/>
                <a:latin typeface="+mn-ea"/>
                <a:ea typeface="+mn-ea"/>
              </a:rPr>
              <a:t>如何帮助合约漏洞检测？</a:t>
            </a:r>
            <a:endParaRPr lang="en-US" altLang="zh-CN" sz="2000" dirty="0">
              <a:effectLst/>
              <a:latin typeface="+mn-ea"/>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实验设置</a:t>
            </a:r>
            <a:endParaRPr lang="zh-CN" altLang="en-US" sz="2000" dirty="0">
              <a:latin typeface="+mj-ea"/>
              <a:ea typeface="+mj-ea"/>
            </a:endParaRPr>
          </a:p>
        </p:txBody>
      </p:sp>
      <p:sp>
        <p:nvSpPr>
          <p:cNvPr id="7" name="文本框 6"/>
          <p:cNvSpPr txBox="1"/>
          <p:nvPr/>
        </p:nvSpPr>
        <p:spPr>
          <a:xfrm>
            <a:off x="350982" y="2096655"/>
            <a:ext cx="11305309" cy="2308324"/>
          </a:xfrm>
          <a:prstGeom prst="rect">
            <a:avLst/>
          </a:prstGeom>
          <a:noFill/>
        </p:spPr>
        <p:txBody>
          <a:bodyPr wrap="square">
            <a:spAutoFit/>
          </a:bodyPr>
          <a:lstStyle/>
          <a:p>
            <a:pPr algn="l"/>
            <a:r>
              <a:rPr lang="zh-CN" altLang="en-US" sz="2400" b="1" dirty="0">
                <a:solidFill>
                  <a:srgbClr val="0F1728"/>
                </a:solidFill>
                <a:highlight>
                  <a:srgbClr val="FFFFFF"/>
                </a:highlight>
                <a:latin typeface="-apple-system"/>
              </a:rPr>
              <a:t>数据集：</a:t>
            </a:r>
            <a:endParaRPr lang="en-US" altLang="zh-CN" sz="2400" b="1" dirty="0">
              <a:solidFill>
                <a:srgbClr val="0F1728"/>
              </a:solidFill>
              <a:highlight>
                <a:srgbClr val="FFFFFF"/>
              </a:highlight>
              <a:latin typeface="-apple-system"/>
            </a:endParaRPr>
          </a:p>
          <a:p>
            <a:r>
              <a:rPr lang="en-US" altLang="zh-CN" dirty="0">
                <a:effectLst/>
              </a:rPr>
              <a:t>	</a:t>
            </a:r>
            <a:r>
              <a:rPr lang="zh-CN" altLang="en-US" sz="2000" dirty="0">
                <a:effectLst/>
              </a:rPr>
              <a:t>因为没有大型数据集涵盖这四个漏洞。以往的方法使用多个现有工具的交集来构建数据集，但由于每个工具中的错误，这种方法缺乏完全的准确性。为了准确评估，选择手动构建数据集。我们从以太坊开放数据集中的</a:t>
            </a:r>
            <a:r>
              <a:rPr lang="en-US" altLang="zh-CN" sz="2000" dirty="0">
                <a:effectLst/>
              </a:rPr>
              <a:t>47,587</a:t>
            </a:r>
            <a:r>
              <a:rPr lang="zh-CN" altLang="en-US" sz="2000" dirty="0">
                <a:effectLst/>
              </a:rPr>
              <a:t>个合约源代码开始，并使用四种类型的关键词进行初步筛选：</a:t>
            </a:r>
            <a:r>
              <a:rPr lang="en-US" altLang="zh-CN" sz="2000" dirty="0" err="1">
                <a:effectLst/>
              </a:rPr>
              <a:t>call.value</a:t>
            </a:r>
            <a:r>
              <a:rPr lang="zh-CN" altLang="en-US" sz="2000" dirty="0">
                <a:effectLst/>
              </a:rPr>
              <a:t>、区块信息（</a:t>
            </a:r>
            <a:r>
              <a:rPr lang="en-US" altLang="zh-CN" sz="2000" b="0" i="0" dirty="0">
                <a:solidFill>
                  <a:srgbClr val="333333"/>
                </a:solidFill>
                <a:effectLst/>
                <a:latin typeface="Georgia" panose="02040502050405020303" pitchFamily="18" charset="0"/>
              </a:rPr>
              <a:t>timestamp</a:t>
            </a:r>
            <a:r>
              <a:rPr lang="zh-CN" altLang="en-US" sz="2000" b="0" i="0" dirty="0">
                <a:solidFill>
                  <a:srgbClr val="333333"/>
                </a:solidFill>
                <a:effectLst/>
                <a:latin typeface="Georgia" panose="02040502050405020303" pitchFamily="18" charset="0"/>
              </a:rPr>
              <a:t>、</a:t>
            </a:r>
            <a:r>
              <a:rPr lang="en-US" altLang="zh-CN" sz="2000" b="0" i="0" dirty="0">
                <a:solidFill>
                  <a:srgbClr val="333333"/>
                </a:solidFill>
                <a:effectLst/>
                <a:latin typeface="Georgia" panose="02040502050405020303" pitchFamily="18" charset="0"/>
              </a:rPr>
              <a:t>hash</a:t>
            </a:r>
            <a:r>
              <a:rPr lang="zh-CN" altLang="en-US" sz="2000" b="0" i="0" dirty="0">
                <a:solidFill>
                  <a:srgbClr val="333333"/>
                </a:solidFill>
                <a:effectLst/>
                <a:latin typeface="Georgia" panose="02040502050405020303" pitchFamily="18" charset="0"/>
              </a:rPr>
              <a:t>、</a:t>
            </a:r>
            <a:r>
              <a:rPr lang="en-US" altLang="zh-CN" sz="2000" b="0" i="0" dirty="0">
                <a:solidFill>
                  <a:srgbClr val="333333"/>
                </a:solidFill>
                <a:effectLst/>
                <a:latin typeface="Georgia" panose="02040502050405020303" pitchFamily="18" charset="0"/>
              </a:rPr>
              <a:t>number</a:t>
            </a:r>
            <a:r>
              <a:rPr lang="zh-CN" altLang="en-US" sz="2000" b="0" i="0" dirty="0">
                <a:solidFill>
                  <a:srgbClr val="333333"/>
                </a:solidFill>
                <a:effectLst/>
                <a:latin typeface="Georgia" panose="02040502050405020303" pitchFamily="18" charset="0"/>
              </a:rPr>
              <a:t>、</a:t>
            </a:r>
            <a:r>
              <a:rPr lang="en-US" altLang="zh-CN" sz="2000" b="0" i="0" dirty="0" err="1">
                <a:solidFill>
                  <a:srgbClr val="333333"/>
                </a:solidFill>
                <a:effectLst/>
                <a:latin typeface="Georgia" panose="02040502050405020303" pitchFamily="18" charset="0"/>
              </a:rPr>
              <a:t>gaslimit</a:t>
            </a:r>
            <a:r>
              <a:rPr lang="zh-CN" altLang="en-US" sz="2000" dirty="0">
                <a:effectLst/>
              </a:rPr>
              <a:t>）、循环操作（</a:t>
            </a:r>
            <a:r>
              <a:rPr lang="en-US" altLang="zh-CN" sz="2000" dirty="0">
                <a:effectLst/>
              </a:rPr>
              <a:t>for</a:t>
            </a:r>
            <a:r>
              <a:rPr lang="zh-CN" altLang="en-US" sz="2000" dirty="0">
                <a:effectLst/>
              </a:rPr>
              <a:t>、</a:t>
            </a:r>
            <a:r>
              <a:rPr lang="en-US" altLang="zh-CN" sz="2000" dirty="0">
                <a:effectLst/>
              </a:rPr>
              <a:t>while</a:t>
            </a:r>
            <a:r>
              <a:rPr lang="zh-CN" altLang="en-US" sz="2000" dirty="0">
                <a:effectLst/>
              </a:rPr>
              <a:t>）以及</a:t>
            </a:r>
            <a:r>
              <a:rPr lang="en-US" altLang="zh-CN" sz="2000" dirty="0" err="1">
                <a:effectLst/>
              </a:rPr>
              <a:t>tx.origin</a:t>
            </a:r>
            <a:r>
              <a:rPr lang="zh-CN" altLang="en-US" sz="2000" dirty="0">
                <a:effectLst/>
              </a:rPr>
              <a:t>。然后由</a:t>
            </a:r>
            <a:r>
              <a:rPr lang="en-US" altLang="zh-CN" sz="2000" dirty="0">
                <a:effectLst/>
              </a:rPr>
              <a:t>3</a:t>
            </a:r>
            <a:r>
              <a:rPr lang="zh-CN" altLang="en-US" sz="2000" dirty="0">
                <a:effectLst/>
              </a:rPr>
              <a:t>名具有</a:t>
            </a:r>
            <a:r>
              <a:rPr lang="en-US" altLang="zh-CN" sz="2000" dirty="0">
                <a:effectLst/>
              </a:rPr>
              <a:t>2</a:t>
            </a:r>
            <a:r>
              <a:rPr lang="zh-CN" altLang="en-US" sz="2000" dirty="0">
                <a:effectLst/>
              </a:rPr>
              <a:t>年区块链经验的研究生手动分析筛选后的合约，每个漏洞有</a:t>
            </a:r>
            <a:r>
              <a:rPr lang="en-US" altLang="zh-CN" sz="2000" dirty="0">
                <a:effectLst/>
              </a:rPr>
              <a:t>300</a:t>
            </a:r>
            <a:r>
              <a:rPr lang="zh-CN" altLang="en-US" sz="2000" dirty="0">
                <a:effectLst/>
              </a:rPr>
              <a:t>个样本被标记。</a:t>
            </a:r>
            <a:endParaRPr lang="en-US" altLang="zh-CN" b="1" i="0" dirty="0">
              <a:solidFill>
                <a:srgbClr val="0F1728"/>
              </a:solidFill>
              <a:effectLst/>
              <a:highlight>
                <a:srgbClr val="FFFFFF"/>
              </a:highlight>
              <a:latin typeface="-apple-system"/>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527" y="4406728"/>
            <a:ext cx="8164946" cy="21228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59204" y="1943100"/>
            <a:ext cx="9985021" cy="369332"/>
          </a:xfrm>
          <a:prstGeom prst="rect">
            <a:avLst/>
          </a:prstGeom>
          <a:noFill/>
        </p:spPr>
        <p:txBody>
          <a:bodyPr wrap="square" rtlCol="0">
            <a:spAutoFit/>
          </a:bodyPr>
          <a:lstStyle/>
          <a:p>
            <a:r>
              <a:rPr lang="en-US" altLang="zh-CN" sz="1800" b="1" dirty="0">
                <a:effectLst/>
                <a:latin typeface="+mn-ea"/>
                <a:ea typeface="+mn-ea"/>
              </a:rPr>
              <a:t>RQ1</a:t>
            </a:r>
            <a:r>
              <a:rPr lang="zh-CN" altLang="en-US" sz="1800" b="1" dirty="0">
                <a:effectLst/>
                <a:latin typeface="+mn-ea"/>
                <a:ea typeface="+mn-ea"/>
              </a:rPr>
              <a:t>：</a:t>
            </a:r>
            <a:r>
              <a:rPr lang="en-US" altLang="zh-CN" sz="1800" dirty="0">
                <a:effectLst/>
                <a:latin typeface="+mn-ea"/>
                <a:ea typeface="+mn-ea"/>
              </a:rPr>
              <a:t>SCVHUNTER</a:t>
            </a:r>
            <a:r>
              <a:rPr lang="zh-CN" altLang="en-US" sz="1800" dirty="0">
                <a:effectLst/>
                <a:latin typeface="+mn-ea"/>
                <a:ea typeface="+mn-ea"/>
              </a:rPr>
              <a:t>相较于其他基于神经网络的方法表现如何？</a:t>
            </a:r>
            <a:endParaRPr lang="en-US" altLang="zh-CN" sz="1800" dirty="0">
              <a:effectLst/>
              <a:latin typeface="+mn-ea"/>
              <a:ea typeface="+mn-ea"/>
            </a:endParaRPr>
          </a:p>
        </p:txBody>
      </p:sp>
      <p:pic>
        <p:nvPicPr>
          <p:cNvPr id="5" name="图片 4"/>
          <p:cNvPicPr>
            <a:picLocks noChangeAspect="1"/>
          </p:cNvPicPr>
          <p:nvPr/>
        </p:nvPicPr>
        <p:blipFill>
          <a:blip r:embed="rId2"/>
          <a:stretch>
            <a:fillRect/>
          </a:stretch>
        </p:blipFill>
        <p:spPr>
          <a:xfrm>
            <a:off x="1088173" y="2303105"/>
            <a:ext cx="9856052" cy="2242464"/>
          </a:xfrm>
          <a:prstGeom prst="rect">
            <a:avLst/>
          </a:prstGeom>
        </p:spPr>
      </p:pic>
      <p:sp>
        <p:nvSpPr>
          <p:cNvPr id="6" name="文本框 5"/>
          <p:cNvSpPr txBox="1"/>
          <p:nvPr/>
        </p:nvSpPr>
        <p:spPr>
          <a:xfrm>
            <a:off x="1103489" y="5006430"/>
            <a:ext cx="9985021" cy="1015663"/>
          </a:xfrm>
          <a:prstGeom prst="rect">
            <a:avLst/>
          </a:prstGeom>
          <a:noFill/>
        </p:spPr>
        <p:txBody>
          <a:bodyPr wrap="square" rtlCol="0">
            <a:spAutoFit/>
          </a:bodyPr>
          <a:lstStyle/>
          <a:p>
            <a:r>
              <a:rPr lang="zh-CN" altLang="en-US" sz="2000" dirty="0">
                <a:effectLst/>
                <a:latin typeface="+mn-ea"/>
                <a:ea typeface="+mn-ea"/>
              </a:rPr>
              <a:t>基于四个图神经网络的方法比其他三种方法表现得显著更好。这表明，盲目地将智能合约当作文本序列进行漏洞检测可能不适当，因为它忽略了源级结构信息，如数据流和控制流，导致分析中遗漏了有意义的数据。</a:t>
            </a:r>
            <a:endParaRPr lang="zh-CN" altLang="en-US" sz="2000" dirty="0">
              <a:latin typeface="+mn-ea"/>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60792" y="1766563"/>
            <a:ext cx="9985021" cy="369332"/>
          </a:xfrm>
          <a:prstGeom prst="rect">
            <a:avLst/>
          </a:prstGeom>
          <a:noFill/>
        </p:spPr>
        <p:txBody>
          <a:bodyPr wrap="square" rtlCol="0">
            <a:spAutoFit/>
          </a:bodyPr>
          <a:lstStyle/>
          <a:p>
            <a:r>
              <a:rPr lang="en-US" altLang="zh-CN" sz="1800" b="1" dirty="0">
                <a:effectLst/>
                <a:latin typeface="+mn-ea"/>
                <a:ea typeface="+mn-ea"/>
              </a:rPr>
              <a:t>RQ2</a:t>
            </a:r>
            <a:r>
              <a:rPr lang="zh-CN" altLang="en-US" sz="1800" b="1" dirty="0">
                <a:effectLst/>
                <a:latin typeface="+mn-ea"/>
                <a:ea typeface="+mn-ea"/>
              </a:rPr>
              <a:t>：</a:t>
            </a:r>
            <a:r>
              <a:rPr lang="en-US" altLang="zh-CN" sz="1800" dirty="0">
                <a:effectLst/>
                <a:latin typeface="+mn-ea"/>
                <a:ea typeface="+mn-ea"/>
              </a:rPr>
              <a:t>SCVHUNTER</a:t>
            </a:r>
            <a:r>
              <a:rPr lang="zh-CN" altLang="en-US" sz="1800" dirty="0">
                <a:effectLst/>
                <a:latin typeface="+mn-ea"/>
                <a:ea typeface="+mn-ea"/>
              </a:rPr>
              <a:t>与最先进的传统智能合约漏洞检测方法相比如何？</a:t>
            </a:r>
            <a:endParaRPr lang="en-US" altLang="zh-CN" sz="1800" dirty="0">
              <a:effectLst/>
              <a:latin typeface="+mn-ea"/>
              <a:ea typeface="+mn-ea"/>
            </a:endParaRPr>
          </a:p>
        </p:txBody>
      </p:sp>
      <p:pic>
        <p:nvPicPr>
          <p:cNvPr id="4" name="图片 3"/>
          <p:cNvPicPr>
            <a:picLocks noChangeAspect="1"/>
          </p:cNvPicPr>
          <p:nvPr/>
        </p:nvPicPr>
        <p:blipFill>
          <a:blip r:embed="rId2"/>
          <a:stretch>
            <a:fillRect/>
          </a:stretch>
        </p:blipFill>
        <p:spPr>
          <a:xfrm>
            <a:off x="265936" y="2614565"/>
            <a:ext cx="11660127" cy="25129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59204" y="1943100"/>
            <a:ext cx="9985021" cy="369332"/>
          </a:xfrm>
          <a:prstGeom prst="rect">
            <a:avLst/>
          </a:prstGeom>
          <a:noFill/>
        </p:spPr>
        <p:txBody>
          <a:bodyPr wrap="square" rtlCol="0">
            <a:spAutoFit/>
          </a:bodyPr>
          <a:lstStyle/>
          <a:p>
            <a:r>
              <a:rPr lang="en-US" altLang="zh-CN" sz="1800" b="1" dirty="0">
                <a:effectLst/>
                <a:latin typeface="+mn-ea"/>
                <a:ea typeface="+mn-ea"/>
              </a:rPr>
              <a:t>RQ3</a:t>
            </a:r>
            <a:r>
              <a:rPr lang="zh-CN" altLang="en-US" sz="1800" b="1" dirty="0">
                <a:effectLst/>
                <a:latin typeface="+mn-ea"/>
                <a:ea typeface="+mn-ea"/>
              </a:rPr>
              <a:t>：</a:t>
            </a:r>
            <a:r>
              <a:rPr lang="en-US" altLang="zh-CN" sz="1800" dirty="0">
                <a:effectLst/>
                <a:latin typeface="+mn-ea"/>
                <a:ea typeface="+mn-ea"/>
              </a:rPr>
              <a:t>SCVHUNTER</a:t>
            </a:r>
            <a:r>
              <a:rPr lang="zh-CN" altLang="en-US" sz="1800" dirty="0">
                <a:effectLst/>
                <a:latin typeface="+mn-ea"/>
                <a:ea typeface="+mn-ea"/>
              </a:rPr>
              <a:t>进行漏洞检测任务的时间开销是多少？</a:t>
            </a:r>
            <a:endParaRPr lang="en-US" altLang="zh-CN" sz="1800" dirty="0">
              <a:effectLst/>
              <a:latin typeface="+mn-ea"/>
              <a:ea typeface="+mn-ea"/>
            </a:endParaRPr>
          </a:p>
        </p:txBody>
      </p:sp>
      <p:pic>
        <p:nvPicPr>
          <p:cNvPr id="5" name="图片 4"/>
          <p:cNvPicPr>
            <a:picLocks noChangeAspect="1"/>
          </p:cNvPicPr>
          <p:nvPr/>
        </p:nvPicPr>
        <p:blipFill>
          <a:blip r:embed="rId2"/>
          <a:stretch>
            <a:fillRect/>
          </a:stretch>
        </p:blipFill>
        <p:spPr>
          <a:xfrm>
            <a:off x="1511064" y="2312432"/>
            <a:ext cx="9169871" cy="42864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59205" y="1943099"/>
            <a:ext cx="5755632" cy="646331"/>
          </a:xfrm>
          <a:prstGeom prst="rect">
            <a:avLst/>
          </a:prstGeom>
          <a:noFill/>
        </p:spPr>
        <p:txBody>
          <a:bodyPr wrap="square" rtlCol="0">
            <a:spAutoFit/>
          </a:bodyPr>
          <a:lstStyle/>
          <a:p>
            <a:r>
              <a:rPr lang="en-US" altLang="zh-CN" sz="1800" b="1" dirty="0">
                <a:effectLst/>
                <a:latin typeface="+mn-ea"/>
                <a:ea typeface="+mn-ea"/>
              </a:rPr>
              <a:t>RQ4</a:t>
            </a:r>
            <a:r>
              <a:rPr lang="zh-CN" altLang="en-US" sz="1800" b="1" dirty="0">
                <a:effectLst/>
                <a:latin typeface="+mn-ea"/>
                <a:ea typeface="+mn-ea"/>
              </a:rPr>
              <a:t>：</a:t>
            </a:r>
            <a:r>
              <a:rPr lang="zh-CN" altLang="en-US" sz="1800" dirty="0">
                <a:effectLst/>
                <a:latin typeface="+mn-ea"/>
                <a:ea typeface="+mn-ea"/>
              </a:rPr>
              <a:t>我们提出的核心节点规则结合异构</a:t>
            </a:r>
            <a:r>
              <a:rPr lang="en-US" altLang="zh-CN" sz="1800" dirty="0">
                <a:effectLst/>
                <a:latin typeface="+mn-ea"/>
                <a:ea typeface="+mn-ea"/>
              </a:rPr>
              <a:t>CSG</a:t>
            </a:r>
            <a:r>
              <a:rPr lang="zh-CN" altLang="en-US" sz="1800" dirty="0">
                <a:effectLst/>
                <a:latin typeface="+mn-ea"/>
                <a:ea typeface="+mn-ea"/>
              </a:rPr>
              <a:t>如何帮助合约漏洞检测？</a:t>
            </a:r>
            <a:endParaRPr lang="en-US" altLang="zh-CN" sz="1800" dirty="0">
              <a:effectLst/>
              <a:latin typeface="+mn-ea"/>
              <a:ea typeface="+mn-ea"/>
            </a:endParaRPr>
          </a:p>
        </p:txBody>
      </p:sp>
      <p:pic>
        <p:nvPicPr>
          <p:cNvPr id="5" name="图片 4"/>
          <p:cNvPicPr>
            <a:picLocks noChangeAspect="1"/>
          </p:cNvPicPr>
          <p:nvPr/>
        </p:nvPicPr>
        <p:blipFill>
          <a:blip r:embed="rId2"/>
          <a:stretch>
            <a:fillRect/>
          </a:stretch>
        </p:blipFill>
        <p:spPr>
          <a:xfrm>
            <a:off x="1074384" y="5486400"/>
            <a:ext cx="10043231" cy="1371600"/>
          </a:xfrm>
          <a:prstGeom prst="rect">
            <a:avLst/>
          </a:prstGeom>
        </p:spPr>
      </p:pic>
      <p:pic>
        <p:nvPicPr>
          <p:cNvPr id="10" name="图片 9"/>
          <p:cNvPicPr>
            <a:picLocks noChangeAspect="1"/>
          </p:cNvPicPr>
          <p:nvPr/>
        </p:nvPicPr>
        <p:blipFill>
          <a:blip r:embed="rId3"/>
          <a:stretch>
            <a:fillRect/>
          </a:stretch>
        </p:blipFill>
        <p:spPr>
          <a:xfrm>
            <a:off x="6862618" y="914894"/>
            <a:ext cx="5157187" cy="445043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潜在威胁</a:t>
            </a:r>
            <a:endParaRPr lang="zh-CN" altLang="en-US" sz="2000" dirty="0">
              <a:latin typeface="+mj-ea"/>
              <a:ea typeface="+mj-ea"/>
            </a:endParaRPr>
          </a:p>
        </p:txBody>
      </p:sp>
      <p:sp>
        <p:nvSpPr>
          <p:cNvPr id="3" name="文本框 2"/>
          <p:cNvSpPr txBox="1"/>
          <p:nvPr/>
        </p:nvSpPr>
        <p:spPr>
          <a:xfrm>
            <a:off x="959204" y="1809199"/>
            <a:ext cx="10268585" cy="1754326"/>
          </a:xfrm>
          <a:prstGeom prst="rect">
            <a:avLst/>
          </a:prstGeom>
          <a:noFill/>
        </p:spPr>
        <p:txBody>
          <a:bodyPr wrap="square" rtlCol="0">
            <a:spAutoFit/>
          </a:bodyPr>
          <a:lstStyle/>
          <a:p>
            <a:r>
              <a:rPr lang="zh-CN" altLang="en-US" b="1" dirty="0"/>
              <a:t>外部威胁</a:t>
            </a:r>
            <a:r>
              <a:rPr lang="zh-CN" altLang="en-US" dirty="0"/>
              <a:t>:</a:t>
            </a:r>
            <a:endParaRPr lang="en-US" altLang="zh-CN" dirty="0"/>
          </a:p>
          <a:p>
            <a:r>
              <a:rPr lang="zh-CN" altLang="en-US" dirty="0">
                <a:effectLst/>
              </a:rPr>
              <a:t>数据集。</a:t>
            </a:r>
            <a:r>
              <a:rPr lang="en-US" altLang="zh-CN" dirty="0">
                <a:effectLst/>
              </a:rPr>
              <a:t>SCVHUNTER</a:t>
            </a:r>
            <a:r>
              <a:rPr lang="zh-CN" altLang="en-US" dirty="0">
                <a:effectLst/>
              </a:rPr>
              <a:t>在训练过程中需要大量数据以学习足够的特征，这一阶段可能会限制该方法发现新类别漏洞的能力，而传统方法可能在这方面表现更好。</a:t>
            </a:r>
            <a:endParaRPr lang="zh-CN" altLang="en-US" dirty="0"/>
          </a:p>
          <a:p>
            <a:endParaRPr lang="zh-CN" altLang="en-US" dirty="0">
              <a:solidFill>
                <a:srgbClr val="0F1728"/>
              </a:solidFill>
              <a:highlight>
                <a:srgbClr val="FFFFFF"/>
              </a:highlight>
              <a:latin typeface="-apple-system"/>
            </a:endParaRPr>
          </a:p>
          <a:p>
            <a:r>
              <a:rPr lang="zh-CN" altLang="en-US" b="1" dirty="0"/>
              <a:t>内部威胁</a:t>
            </a:r>
            <a:r>
              <a:rPr lang="zh-CN" altLang="en-US" dirty="0"/>
              <a:t>:</a:t>
            </a:r>
            <a:endParaRPr lang="en-US" altLang="zh-CN" dirty="0">
              <a:solidFill>
                <a:srgbClr val="0F1728"/>
              </a:solidFill>
              <a:highlight>
                <a:srgbClr val="FFFFFF"/>
              </a:highlight>
              <a:latin typeface="-apple-system"/>
            </a:endParaRPr>
          </a:p>
          <a:p>
            <a:r>
              <a:rPr lang="en-US" altLang="zh-CN" dirty="0"/>
              <a:t>  </a:t>
            </a:r>
            <a:r>
              <a:rPr lang="en-US" altLang="zh-CN" dirty="0">
                <a:effectLst/>
              </a:rPr>
              <a:t>SCVHUNTER</a:t>
            </a:r>
            <a:r>
              <a:rPr lang="zh-CN" altLang="en-US" dirty="0">
                <a:effectLst/>
              </a:rPr>
              <a:t>目前仅支持单一合同的漏洞检测。</a:t>
            </a:r>
            <a:endParaRPr lang="zh-CN" altLang="en-US" dirty="0"/>
          </a:p>
        </p:txBody>
      </p:sp>
      <p:sp>
        <p:nvSpPr>
          <p:cNvPr id="4" name="矩形 3"/>
          <p:cNvSpPr/>
          <p:nvPr/>
        </p:nvSpPr>
        <p:spPr>
          <a:xfrm>
            <a:off x="961707" y="3698463"/>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未来工作</a:t>
            </a:r>
            <a:endParaRPr lang="zh-CN" altLang="en-US" sz="2000" dirty="0">
              <a:latin typeface="+mj-ea"/>
              <a:ea typeface="+mj-ea"/>
            </a:endParaRPr>
          </a:p>
        </p:txBody>
      </p:sp>
      <p:sp>
        <p:nvSpPr>
          <p:cNvPr id="5" name="文本框 4"/>
          <p:cNvSpPr txBox="1"/>
          <p:nvPr/>
        </p:nvSpPr>
        <p:spPr>
          <a:xfrm>
            <a:off x="961707" y="4339261"/>
            <a:ext cx="10268585" cy="2031325"/>
          </a:xfrm>
          <a:prstGeom prst="rect">
            <a:avLst/>
          </a:prstGeom>
          <a:noFill/>
        </p:spPr>
        <p:txBody>
          <a:bodyPr wrap="square" rtlCol="0">
            <a:spAutoFit/>
          </a:bodyPr>
          <a:lstStyle/>
          <a:p>
            <a:r>
              <a:rPr lang="zh-CN" altLang="en-US" b="1" dirty="0"/>
              <a:t>对于外部威胁</a:t>
            </a:r>
            <a:r>
              <a:rPr lang="zh-CN" altLang="en-US" dirty="0"/>
              <a:t>:</a:t>
            </a:r>
            <a:endParaRPr lang="en-US" altLang="zh-CN" dirty="0"/>
          </a:p>
          <a:p>
            <a:r>
              <a:rPr lang="zh-CN" altLang="en-US" dirty="0">
                <a:effectLst/>
              </a:rPr>
              <a:t>当可用的训练数据较少时，我们可以通过半监督学习减少对标记数据的依赖。</a:t>
            </a:r>
            <a:endParaRPr lang="zh-CN" altLang="en-US" dirty="0"/>
          </a:p>
          <a:p>
            <a:endParaRPr lang="zh-CN" altLang="en-US" dirty="0">
              <a:solidFill>
                <a:srgbClr val="0F1728"/>
              </a:solidFill>
              <a:highlight>
                <a:srgbClr val="FFFFFF"/>
              </a:highlight>
              <a:latin typeface="-apple-system"/>
            </a:endParaRPr>
          </a:p>
          <a:p>
            <a:r>
              <a:rPr lang="zh-CN" altLang="en-US" b="1" dirty="0"/>
              <a:t>对于内部威胁</a:t>
            </a:r>
            <a:r>
              <a:rPr lang="zh-CN" altLang="en-US" dirty="0"/>
              <a:t>:</a:t>
            </a:r>
            <a:endParaRPr lang="en-US" altLang="zh-CN" dirty="0">
              <a:solidFill>
                <a:srgbClr val="0F1728"/>
              </a:solidFill>
              <a:highlight>
                <a:srgbClr val="FFFFFF"/>
              </a:highlight>
              <a:latin typeface="-apple-system"/>
            </a:endParaRPr>
          </a:p>
          <a:p>
            <a:r>
              <a:rPr lang="zh-CN" altLang="en-US" dirty="0">
                <a:effectLst/>
              </a:rPr>
              <a:t>通过使用</a:t>
            </a:r>
            <a:r>
              <a:rPr lang="en-US" altLang="zh-CN" dirty="0">
                <a:effectLst/>
              </a:rPr>
              <a:t>CGIR</a:t>
            </a:r>
            <a:r>
              <a:rPr lang="zh-CN" altLang="en-US" dirty="0">
                <a:effectLst/>
              </a:rPr>
              <a:t>中定义的外部调用函数属性来链接多个合同的</a:t>
            </a:r>
            <a:r>
              <a:rPr lang="en-US" altLang="zh-CN" dirty="0">
                <a:effectLst/>
              </a:rPr>
              <a:t>CSGs</a:t>
            </a:r>
            <a:r>
              <a:rPr lang="zh-CN" altLang="en-US" dirty="0">
                <a:effectLst/>
              </a:rPr>
              <a:t>，从而在未来扩展其进行跨合同检测。</a:t>
            </a:r>
            <a:endParaRPr lang="zh-CN" altLang="en-US" dirty="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90550" y="349251"/>
            <a:ext cx="4772025" cy="521970"/>
          </a:xfrm>
        </p:spPr>
        <p:txBody>
          <a:bodyPr/>
          <a:lstStyle/>
          <a:p>
            <a:r>
              <a:rPr lang="zh-CN" altLang="en-US" dirty="0"/>
              <a:t>本周工作</a:t>
            </a:r>
            <a:endParaRPr lang="zh-CN" altLang="en-US" dirty="0"/>
          </a:p>
        </p:txBody>
      </p:sp>
      <p:sp>
        <p:nvSpPr>
          <p:cNvPr id="3" name="文本框 2"/>
          <p:cNvSpPr txBox="1"/>
          <p:nvPr/>
        </p:nvSpPr>
        <p:spPr>
          <a:xfrm>
            <a:off x="889130" y="1551563"/>
            <a:ext cx="10139654" cy="1569660"/>
          </a:xfrm>
          <a:prstGeom prst="rect">
            <a:avLst/>
          </a:prstGeom>
          <a:noFill/>
        </p:spPr>
        <p:txBody>
          <a:bodyPr wrap="square" rtlCol="0">
            <a:spAutoFit/>
          </a:bodyPr>
          <a:lstStyle/>
          <a:p>
            <a:endParaRPr lang="zh-CN" altLang="en-US" sz="3200" dirty="0"/>
          </a:p>
          <a:p>
            <a:r>
              <a:rPr lang="en-US" altLang="zh-CN" sz="3200" dirty="0"/>
              <a:t>1.</a:t>
            </a:r>
            <a:r>
              <a:rPr lang="zh-CN" altLang="en-US" sz="3200" dirty="0"/>
              <a:t> 阅读汇报论文并制作分享</a:t>
            </a:r>
            <a:r>
              <a:rPr lang="en-US" altLang="zh-CN" sz="3200" dirty="0"/>
              <a:t>PPT</a:t>
            </a:r>
            <a:endParaRPr lang="en-US" altLang="zh-CN" sz="3200" dirty="0"/>
          </a:p>
          <a:p>
            <a:endParaRPr lang="en-US" altLang="zh-CN" sz="3200" dirty="0"/>
          </a:p>
        </p:txBody>
      </p:sp>
    </p:spTree>
  </p:cSld>
  <p:clrMapOvr>
    <a:masterClrMapping/>
  </p:clrMapOvr>
</p:sld>
</file>

<file path=ppt/tags/tag1.xml><?xml version="1.0" encoding="utf-8"?>
<p:tagLst xmlns:p="http://schemas.openxmlformats.org/presentationml/2006/main">
  <p:tag name="KSO_WPP_MARK_KEY" val="288b28c3-2d40-4800-8a34-438d5a85827e"/>
  <p:tag name="COMMONDATA" val="eyJoZGlkIjoiOWUwOWY1OThjOTBmY2I1M2U5OGEyOWE4OWU3MTI0MDIifQ=="/>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邹龙强_232050357_组会论文1ppt</Template>
  <TotalTime>0</TotalTime>
  <Words>4060</Words>
  <Application>WPS 演示</Application>
  <PresentationFormat>宽屏</PresentationFormat>
  <Paragraphs>184</Paragraphs>
  <Slides>22</Slides>
  <Notes>22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22</vt:i4>
      </vt:variant>
    </vt:vector>
  </HeadingPairs>
  <TitlesOfParts>
    <vt:vector size="37" baseType="lpstr">
      <vt:lpstr>Arial</vt:lpstr>
      <vt:lpstr>宋体</vt:lpstr>
      <vt:lpstr>Wingdings</vt:lpstr>
      <vt:lpstr>微软雅黑</vt:lpstr>
      <vt:lpstr>Arial</vt:lpstr>
      <vt:lpstr>Calibri</vt:lpstr>
      <vt:lpstr>-apple-system</vt:lpstr>
      <vt:lpstr>Segoe Print</vt:lpstr>
      <vt:lpstr>Georgia</vt:lpstr>
      <vt:lpstr>Arial Unicode MS</vt:lpstr>
      <vt:lpstr>等线</vt:lpstr>
      <vt:lpstr>DeepSeek-CJK-patch</vt:lpstr>
      <vt:lpstr>KaTeX_Main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龙强 邹</dc:creator>
  <cp:lastModifiedBy>潘显聪</cp:lastModifiedBy>
  <cp:revision>10</cp:revision>
  <dcterms:created xsi:type="dcterms:W3CDTF">2025-04-01T11:41:00Z</dcterms:created>
  <dcterms:modified xsi:type="dcterms:W3CDTF">2025-12-09T07:44:00Z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28CEA1EE8C1B4741AC61C11237075F36_12</vt:lpwstr>
  </property>
</Properties>
</file>